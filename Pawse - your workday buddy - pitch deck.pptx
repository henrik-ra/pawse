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68"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9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Begruessung. Pawse ist dein Workday-Energy-Companion. Eine Idee in einem Satz: arbeite mit deiner Energie, nicht gegen sie. Kurz Team und Hackathon nennen, dann direkt in den Tag eintauchen.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Jeder kennt diesen Tag. Sieben Calls hintereinander, keine Pause, am Nachmittag laeuft nichts mehr. Der Koerper sendet Signale, der Kalender sendet Signale, aber niemand verbindet sie. Genau da setzt Pawse 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gibt zwei Welten. Wearables kennen deinen Koerper, sind aber blind fuer deine Arbeit. Kalender-Tools kennen deine Arbeit, sind blind fuer deinen Koerper. Der Schaden passiert genau in der Schnittmenge, die heute leer 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Energie ist die knappste Ressource bei der Arbeit. Zeitmanagement ist im Grunde geloest, Energie-Management nicht. Und Burnout ist kein Wellness-Thema, sondern ein Produktivitaets-Kollaps: Ausfall, Fehler, Fluktuation sind das genaue Gegenteil von produktiv.</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Pawse ist die fehlende Schicht zwischen Koerper und Arbeit. Der Mehrwert in einem Satz: Echtzeit-Koerperzustand wird zu einer konkreten Arbeits- oder Kalender-Aktion, im Moment und persoenlich. Der Score ist nur der Sensor, die Aktionen sind das Produkt. Diesen Loop schliesst sonst niemand end to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Pawse arbeitet in einem Loop. Sense: Koerper plus Kalender. Understand: ein erklaerbarer Score mit dem Warum. Act: eine konkrete Aktion. Learn: die persoenliche Baseline wird mit jedem Tag besser. Gespeist aus drei Quellen, davon die sensible on-device und optional.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Pawse braucht keine neue Hardware. Ueber Google Health Connect verbindet sich Pawse mit ueber hundert Wearables und Health-Apps - von Fitbit ueber Garmin, WHOOP, Oura bis Samsung oder Withings. Du nutzt einfach, was du schon traegst. Apple Health und Oura stehen zusaetzlich auf der Roadmap.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Pawse Score ist der erklaerbare Sensor: null bis hundert Workday Energy. Gewichtung im Prototyp, nicht medizinisch validiert: Recovery vierzig Prozent, Workday-Last fuenfundzwanzig, Bewegung fuenfzehn, aktuelles Strain-Signal zehn, Baseline-Konfidenz zehn. Immer mit drei bis vier Erklaer-Chips und genau einer Empfehlung.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wird aus dem Sensor ein Produkt. Sicherheits-Logik: betrifft es nur dich, handelt Pawse automatisch. Betrifft es andere, gibt es einen Vorschlag plus Ein-Klick-Bestaetigung. Tier eins ueber Outlook-Deeplink ohne Schreibrechte, Tier zwei automatisch via Graph. Score gleich Sensor, Aktionen gleich Produkt.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Coach laeuft auf Azure OpenAI, gpt-4o-mini, keyless via Managed Identity. Er redet ueber alle Daten inklusive Langzeit-Verlauf: Score-Trends, Meeting-Last-Muster, schlechtester Tag plus Ursache. Nie eine Diagnose. Der Teams-Bot bringt Pawse mit proaktiven Nudges in den Arbeits-Flow. Faellt das Modell aus, antwortet ein regelbasierter Fallback.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Ganz ohne Technik-Sprech: Pawse hoert auf drei Dinge. Erstens deine Stimme in Calls - optional und nur auf deinem Geraet. Zweitens deinen Koerper ueber Wearables und Smart-Tracker: Schlaf, Herzfrequenz, Erholung. Drittens deine Arbeitslast aus dem Outlook-Kalender: Meetings und Aufgaben. Diese Signale laufen in Pawse zusammen und kommen als vier einfache Dinge bei dir an: dein Energie-Score, die Gruende dahinter, eine konkrete Empfehlung und dein Wochen-Trend. Signale rein, Klarheit raus.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bewusst eine Staerke, kein Kleingedrucktes. Sensible Analyse on-device und opt-in, keyless, die Daten gehoeren dem Nutzer, kein Manager-Monitoring. Wissenschaftliche Ehrlichkeit: Barrett et al. 2019 zeigt, dass Mimik kein verlaesslicher Emotions-Indikator ist, Stimm-Stress nur schwache Gruppen-Korrelate, Burnout aus kurzen Clips nicht vorhersagbar. Deshalb diagnostiziert Pawse bewusst nicht und nutzt Ein-Tap-Selbstreport als Ground Truth.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Vergleichstabelle macht den Wedge sichtbar. Wearables koennen den Koerper, nicht den Kalender. Clockwise und Reclaim koennen den Kalender, nicht den Koerper. Viva kann Kalender plus Wellbeing, aber nicht echtzeit-biometrisch und nicht als persoenlicher In-the-moment-Companion. Headspace und Calm haben keinen Arbeitskontext. Pawse besitzt den Schnittpunkt: Koerper mal Kalender mal Handlung, im Moment, persoenlich.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Warum jetzt und warum wir. Der Microsoft-Stack ist bereit: Graph, Teams, Azure OpenAI, Managed Identity. Die Leitidee Manage energy not time trifft den Nerv. Und der Satz das gehoert eigentlich in Viva oder Teams ist kein Bug, sondern zeigt die offene Luecke im Microsoft-Portfolio, die wir besetzen.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Demo-Story ist die Kollision. Koerper okay, aber ein brutaler Kalender. Pawse verbindet beides. Es kommt ein Nudge vor dem Crunch, nicht danach. Ein Klick loest die Aktion aus. Das Dashboard erklaert das Warum. Und der bidirektionale Abschluss: wenn die Energie auf dem Peak ist, sagt Pawse jetzt Deep Work. Es geht um Empowerment, nicht um Bremsen.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Roadmap. Now: der Ein-Tap-Ground-Truth-Feedback-Loop, der die Wissenschafts-Schwaeche heilt und personalisiert, plus Set-and-forget Auto-Protect-Regeln im Hintergrund. Next: Energie-Forecast und Meeting-Pre-Mortem. Later: Copilot-Agent, Teams-native, und weitere Integrationen wie To Do, Planner, Presence, Apple Health und Oura.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bleiben ehrlich. Links wohin es geht: Tier-zwei-Automatisierung direkt in Outlook nach deinen Regeln, ein Copilot-Agent Teams-native, und mehr Integrationen wie To Do, Planner, Presence, Apple Health und Oura. Rechts wozu wir bewusst stehen: das Scoring ist erklaerbar, aber nicht medizinisch validiert. Stimme und Gesicht bleiben experimentell, optional und on-device, nie eine Diagnose. Die Baseline braucht ein paar Wochen. Und alles, was fremde Kalender betrifft, passiert nur mit deiner Bestaetigung.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Pawse macht aus den Recovery-Signalen deines Koerpers die richtige Arbeits-Aktion, im Moment und persoenlich. Manage energy, not time. Der Ask: nennt hier konkret, was ihr von der Jury oder den Investoren wollt. Danke.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8248650" y="2246807"/>
            <a:ext cx="1790700" cy="1790700"/>
          </a:xfrm>
          <a:prstGeom prst="ellipse">
            <a:avLst/>
          </a:prstGeom>
          <a:solidFill>
            <a:srgbClr val="E7F0EC"/>
          </a:solidFill>
          <a:ln/>
          <a:effectLst>
            <a:outerShdw blurRad="419100" dist="133350" dir="5400000" algn="bl" rotWithShape="0">
              <a:srgbClr val="2B2A26">
                <a:alpha val="12000"/>
              </a:srgbClr>
            </a:outerShdw>
          </a:effectLst>
        </p:spPr>
        <p:txBody>
          <a:bodyPr/>
          <a:lstStyle/>
          <a:p>
            <a:endParaRPr lang="de-DE"/>
          </a:p>
        </p:txBody>
      </p:sp>
      <p:sp>
        <p:nvSpPr>
          <p:cNvPr id="3" name="Text 1"/>
          <p:cNvSpPr/>
          <p:nvPr/>
        </p:nvSpPr>
        <p:spPr>
          <a:xfrm>
            <a:off x="8210550" y="2246807"/>
            <a:ext cx="1866900" cy="1828800"/>
          </a:xfrm>
          <a:prstGeom prst="rect">
            <a:avLst/>
          </a:prstGeom>
          <a:noFill/>
          <a:ln/>
        </p:spPr>
        <p:txBody>
          <a:bodyPr wrap="square" lIns="25400" tIns="25400" rIns="25400" bIns="25400" rtlCol="0" anchor="ctr">
            <a:normAutofit/>
          </a:bodyPr>
          <a:lstStyle/>
          <a:p>
            <a:pPr marL="0" indent="0" algn="ctr">
              <a:buNone/>
            </a:pPr>
            <a:r>
              <a:rPr lang="en-US" sz="8100" dirty="0">
                <a:solidFill>
                  <a:srgbClr val="2B2A26"/>
                </a:solidFill>
                <a:latin typeface="Arial" pitchFamily="34" charset="0"/>
                <a:ea typeface="Arial" pitchFamily="34" charset="-122"/>
                <a:cs typeface="Arial" pitchFamily="34" charset="-120"/>
              </a:rPr>
              <a:t>🐼</a:t>
            </a:r>
            <a:endParaRPr lang="en-US" sz="8100" dirty="0"/>
          </a:p>
        </p:txBody>
      </p:sp>
      <p:sp>
        <p:nvSpPr>
          <p:cNvPr id="4" name="Text 2"/>
          <p:cNvSpPr/>
          <p:nvPr/>
        </p:nvSpPr>
        <p:spPr>
          <a:xfrm>
            <a:off x="7524353" y="4492625"/>
            <a:ext cx="3239294" cy="1066800"/>
          </a:xfrm>
          <a:prstGeom prst="rect">
            <a:avLst/>
          </a:prstGeom>
          <a:noFill/>
          <a:ln/>
        </p:spPr>
        <p:txBody>
          <a:bodyPr wrap="square" lIns="25400" tIns="25400" rIns="25400" bIns="25400" rtlCol="0" anchor="t">
            <a:normAutofit/>
          </a:bodyPr>
          <a:lstStyle/>
          <a:p>
            <a:pPr marL="0" indent="0" algn="ctr">
              <a:lnSpc>
                <a:spcPct val="100000"/>
              </a:lnSpc>
              <a:buNone/>
            </a:pPr>
            <a:r>
              <a:rPr lang="en-US" sz="8100" b="1" kern="0" spc="-225" dirty="0">
                <a:solidFill>
                  <a:srgbClr val="2B2A26"/>
                </a:solidFill>
                <a:latin typeface="Arial" pitchFamily="34" charset="0"/>
                <a:ea typeface="Arial" pitchFamily="34" charset="-122"/>
                <a:cs typeface="Arial" pitchFamily="34" charset="-120"/>
              </a:rPr>
              <a:t>Pawse</a:t>
            </a:r>
            <a:endParaRPr lang="en-US" sz="8100" dirty="0"/>
          </a:p>
        </p:txBody>
      </p:sp>
      <p:sp>
        <p:nvSpPr>
          <p:cNvPr id="5" name="Text 3"/>
          <p:cNvSpPr/>
          <p:nvPr/>
        </p:nvSpPr>
        <p:spPr>
          <a:xfrm>
            <a:off x="5544438" y="5711825"/>
            <a:ext cx="7199025" cy="495300"/>
          </a:xfrm>
          <a:prstGeom prst="rect">
            <a:avLst/>
          </a:prstGeom>
          <a:noFill/>
          <a:ln/>
        </p:spPr>
        <p:txBody>
          <a:bodyPr wrap="square" lIns="25400" tIns="25400" rIns="25400" bIns="25400" rtlCol="0" anchor="t">
            <a:normAutofit/>
          </a:bodyPr>
          <a:lstStyle/>
          <a:p>
            <a:pPr marL="0" indent="0" algn="ctr">
              <a:buNone/>
            </a:pPr>
            <a:r>
              <a:rPr lang="en-US" sz="3150" b="1" dirty="0">
                <a:solidFill>
                  <a:srgbClr val="246B5F"/>
                </a:solidFill>
                <a:latin typeface="Arial" pitchFamily="34" charset="0"/>
                <a:ea typeface="Arial" pitchFamily="34" charset="-122"/>
                <a:cs typeface="Arial" pitchFamily="34" charset="-120"/>
              </a:rPr>
              <a:t>Work with your energy, not against it.</a:t>
            </a:r>
            <a:endParaRPr lang="en-US" sz="3150" dirty="0"/>
          </a:p>
        </p:txBody>
      </p:sp>
      <p:sp>
        <p:nvSpPr>
          <p:cNvPr id="6" name="Text 4"/>
          <p:cNvSpPr/>
          <p:nvPr/>
        </p:nvSpPr>
        <p:spPr>
          <a:xfrm>
            <a:off x="4729163" y="6397625"/>
            <a:ext cx="8829675" cy="736600"/>
          </a:xfrm>
          <a:prstGeom prst="rect">
            <a:avLst/>
          </a:prstGeom>
          <a:noFill/>
          <a:ln/>
        </p:spPr>
        <p:txBody>
          <a:bodyPr wrap="square" lIns="25400" tIns="25400" rIns="25400" bIns="25400" rtlCol="0" anchor="t">
            <a:normAutofit/>
          </a:bodyPr>
          <a:lstStyle/>
          <a:p>
            <a:pPr marL="0" indent="0" algn="ctr">
              <a:buNone/>
            </a:pPr>
            <a:r>
              <a:rPr lang="en-US" sz="2250" dirty="0">
                <a:solidFill>
                  <a:srgbClr val="2B2A26">
                    <a:alpha val="55000"/>
                  </a:srgbClr>
                </a:solidFill>
                <a:latin typeface="Arial" pitchFamily="34" charset="0"/>
                <a:ea typeface="Arial" pitchFamily="34" charset="-122"/>
                <a:cs typeface="Arial" pitchFamily="34" charset="-120"/>
              </a:rPr>
              <a:t>Your workday energy companion — it connects your body's recovery to your calendar, and acts at the right moment.</a:t>
            </a:r>
            <a:endParaRPr lang="en-US" sz="2250" dirty="0"/>
          </a:p>
        </p:txBody>
      </p:sp>
      <p:sp>
        <p:nvSpPr>
          <p:cNvPr id="7" name="Text 5"/>
          <p:cNvSpPr/>
          <p:nvPr/>
        </p:nvSpPr>
        <p:spPr>
          <a:xfrm>
            <a:off x="7053193" y="7705725"/>
            <a:ext cx="4181614" cy="336550"/>
          </a:xfrm>
          <a:prstGeom prst="rect">
            <a:avLst/>
          </a:prstGeom>
          <a:noFill/>
          <a:ln/>
        </p:spPr>
        <p:txBody>
          <a:bodyPr wrap="square" lIns="25400" tIns="25400" rIns="25400" bIns="25400" rtlCol="0" anchor="t">
            <a:normAutofit/>
          </a:bodyPr>
          <a:lstStyle/>
          <a:p>
            <a:pPr marL="0" indent="0" algn="ctr">
              <a:buNone/>
            </a:pPr>
            <a:r>
              <a:rPr lang="en-US" sz="1950" kern="0" spc="38" dirty="0">
                <a:solidFill>
                  <a:srgbClr val="2B2A26">
                    <a:alpha val="40000"/>
                  </a:srgbClr>
                </a:solidFill>
                <a:latin typeface="Arial" pitchFamily="34" charset="0"/>
                <a:ea typeface="Arial" pitchFamily="34" charset="-122"/>
                <a:cs typeface="Arial" pitchFamily="34" charset="-120"/>
              </a:rPr>
              <a:t>Team Pawse · Hackathon 2026</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DE2"/>
        </a:solidFill>
        <a:effectLst/>
      </p:bgPr>
    </p:bg>
    <p:spTree>
      <p:nvGrpSpPr>
        <p:cNvPr id="1" name=""/>
        <p:cNvGrpSpPr/>
        <p:nvPr/>
      </p:nvGrpSpPr>
      <p:grpSpPr>
        <a:xfrm>
          <a:off x="0" y="0"/>
          <a:ext cx="0" cy="0"/>
          <a:chOff x="0" y="0"/>
          <a:chExt cx="0" cy="0"/>
        </a:xfrm>
      </p:grpSpPr>
      <p:sp>
        <p:nvSpPr>
          <p:cNvPr id="2" name="Text 0"/>
          <p:cNvSpPr/>
          <p:nvPr/>
        </p:nvSpPr>
        <p:spPr>
          <a:xfrm>
            <a:off x="914400" y="2495550"/>
            <a:ext cx="440055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alpha val="40000"/>
                  </a:srgbClr>
                </a:solidFill>
                <a:latin typeface="Arial" pitchFamily="34" charset="0"/>
                <a:ea typeface="Arial" pitchFamily="34" charset="-122"/>
                <a:cs typeface="Arial" pitchFamily="34" charset="-120"/>
              </a:rPr>
              <a:t>A typical Tuesday</a:t>
            </a:r>
            <a:endParaRPr lang="en-US" sz="1950" dirty="0"/>
          </a:p>
        </p:txBody>
      </p:sp>
      <p:sp>
        <p:nvSpPr>
          <p:cNvPr id="3" name="Shape 1"/>
          <p:cNvSpPr/>
          <p:nvPr/>
        </p:nvSpPr>
        <p:spPr>
          <a:xfrm>
            <a:off x="914400" y="2946400"/>
            <a:ext cx="4000500" cy="635000"/>
          </a:xfrm>
          <a:prstGeom prst="roundRect">
            <a:avLst>
              <a:gd name="adj" fmla="val 21000"/>
            </a:avLst>
          </a:prstGeom>
          <a:solidFill>
            <a:srgbClr val="E45545">
              <a:alpha val="6000"/>
            </a:srgbClr>
          </a:solidFill>
          <a:ln w="6350">
            <a:solidFill>
              <a:srgbClr val="E45545">
                <a:alpha val="20000"/>
              </a:srgbClr>
            </a:solidFill>
            <a:prstDash val="solid"/>
          </a:ln>
        </p:spPr>
        <p:txBody>
          <a:bodyPr/>
          <a:lstStyle/>
          <a:p>
            <a:endParaRPr lang="de-DE"/>
          </a:p>
        </p:txBody>
      </p:sp>
      <p:sp>
        <p:nvSpPr>
          <p:cNvPr id="4" name="Text 2"/>
          <p:cNvSpPr/>
          <p:nvPr/>
        </p:nvSpPr>
        <p:spPr>
          <a:xfrm>
            <a:off x="1130300" y="3124200"/>
            <a:ext cx="3688715"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B23A2E"/>
                </a:solidFill>
                <a:latin typeface="Arial" pitchFamily="34" charset="0"/>
                <a:ea typeface="Arial" pitchFamily="34" charset="-122"/>
                <a:cs typeface="Arial" pitchFamily="34" charset="-120"/>
              </a:rPr>
              <a:t>09:00 — Standup</a:t>
            </a:r>
            <a:endParaRPr lang="en-US" sz="1950" dirty="0"/>
          </a:p>
        </p:txBody>
      </p:sp>
      <p:sp>
        <p:nvSpPr>
          <p:cNvPr id="5" name="Shape 3"/>
          <p:cNvSpPr/>
          <p:nvPr/>
        </p:nvSpPr>
        <p:spPr>
          <a:xfrm>
            <a:off x="914400" y="3676650"/>
            <a:ext cx="4000500" cy="635000"/>
          </a:xfrm>
          <a:prstGeom prst="roundRect">
            <a:avLst>
              <a:gd name="adj" fmla="val 21000"/>
            </a:avLst>
          </a:prstGeom>
          <a:solidFill>
            <a:srgbClr val="E45545">
              <a:alpha val="6000"/>
            </a:srgbClr>
          </a:solidFill>
          <a:ln w="6350">
            <a:solidFill>
              <a:srgbClr val="E45545">
                <a:alpha val="20000"/>
              </a:srgbClr>
            </a:solidFill>
            <a:prstDash val="solid"/>
          </a:ln>
        </p:spPr>
        <p:txBody>
          <a:bodyPr/>
          <a:lstStyle/>
          <a:p>
            <a:endParaRPr lang="de-DE"/>
          </a:p>
        </p:txBody>
      </p:sp>
      <p:sp>
        <p:nvSpPr>
          <p:cNvPr id="6" name="Text 4"/>
          <p:cNvSpPr/>
          <p:nvPr/>
        </p:nvSpPr>
        <p:spPr>
          <a:xfrm>
            <a:off x="1130300" y="3854450"/>
            <a:ext cx="3688715"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B23A2E"/>
                </a:solidFill>
                <a:latin typeface="Arial" pitchFamily="34" charset="0"/>
                <a:ea typeface="Arial" pitchFamily="34" charset="-122"/>
                <a:cs typeface="Arial" pitchFamily="34" charset="-120"/>
              </a:rPr>
              <a:t>09:30 — Sprint review</a:t>
            </a:r>
            <a:endParaRPr lang="en-US" sz="1950" dirty="0"/>
          </a:p>
        </p:txBody>
      </p:sp>
      <p:sp>
        <p:nvSpPr>
          <p:cNvPr id="7" name="Shape 5"/>
          <p:cNvSpPr/>
          <p:nvPr/>
        </p:nvSpPr>
        <p:spPr>
          <a:xfrm>
            <a:off x="914400" y="4406900"/>
            <a:ext cx="4000500" cy="635000"/>
          </a:xfrm>
          <a:prstGeom prst="roundRect">
            <a:avLst>
              <a:gd name="adj" fmla="val 21000"/>
            </a:avLst>
          </a:prstGeom>
          <a:solidFill>
            <a:srgbClr val="E45545">
              <a:alpha val="6000"/>
            </a:srgbClr>
          </a:solidFill>
          <a:ln w="6350">
            <a:solidFill>
              <a:srgbClr val="E45545">
                <a:alpha val="20000"/>
              </a:srgbClr>
            </a:solidFill>
            <a:prstDash val="solid"/>
          </a:ln>
        </p:spPr>
        <p:txBody>
          <a:bodyPr/>
          <a:lstStyle/>
          <a:p>
            <a:endParaRPr lang="de-DE"/>
          </a:p>
        </p:txBody>
      </p:sp>
      <p:sp>
        <p:nvSpPr>
          <p:cNvPr id="8" name="Text 6"/>
          <p:cNvSpPr/>
          <p:nvPr/>
        </p:nvSpPr>
        <p:spPr>
          <a:xfrm>
            <a:off x="1130300" y="4584700"/>
            <a:ext cx="3688715"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B23A2E"/>
                </a:solidFill>
                <a:latin typeface="Arial" pitchFamily="34" charset="0"/>
                <a:ea typeface="Arial" pitchFamily="34" charset="-122"/>
                <a:cs typeface="Arial" pitchFamily="34" charset="-120"/>
              </a:rPr>
              <a:t>10:30 — 1:1 · 11:00 — Planning</a:t>
            </a:r>
            <a:endParaRPr lang="en-US" sz="1950" dirty="0"/>
          </a:p>
        </p:txBody>
      </p:sp>
      <p:sp>
        <p:nvSpPr>
          <p:cNvPr id="9" name="Shape 7"/>
          <p:cNvSpPr/>
          <p:nvPr/>
        </p:nvSpPr>
        <p:spPr>
          <a:xfrm>
            <a:off x="914400" y="5137150"/>
            <a:ext cx="4000500" cy="635000"/>
          </a:xfrm>
          <a:prstGeom prst="roundRect">
            <a:avLst>
              <a:gd name="adj" fmla="val 21000"/>
            </a:avLst>
          </a:prstGeom>
          <a:solidFill>
            <a:srgbClr val="E45545">
              <a:alpha val="6000"/>
            </a:srgbClr>
          </a:solidFill>
          <a:ln w="6350">
            <a:solidFill>
              <a:srgbClr val="E45545">
                <a:alpha val="20000"/>
              </a:srgbClr>
            </a:solidFill>
            <a:prstDash val="solid"/>
          </a:ln>
        </p:spPr>
        <p:txBody>
          <a:bodyPr/>
          <a:lstStyle/>
          <a:p>
            <a:endParaRPr lang="de-DE"/>
          </a:p>
        </p:txBody>
      </p:sp>
      <p:sp>
        <p:nvSpPr>
          <p:cNvPr id="10" name="Text 8"/>
          <p:cNvSpPr/>
          <p:nvPr/>
        </p:nvSpPr>
        <p:spPr>
          <a:xfrm>
            <a:off x="1130300" y="5314950"/>
            <a:ext cx="3688715"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B23A2E"/>
                </a:solidFill>
                <a:latin typeface="Arial" pitchFamily="34" charset="0"/>
                <a:ea typeface="Arial" pitchFamily="34" charset="-122"/>
                <a:cs typeface="Arial" pitchFamily="34" charset="-120"/>
              </a:rPr>
              <a:t>12:00 — Customer call</a:t>
            </a:r>
            <a:endParaRPr lang="en-US" sz="1950" dirty="0"/>
          </a:p>
        </p:txBody>
      </p:sp>
      <p:sp>
        <p:nvSpPr>
          <p:cNvPr id="11" name="Shape 9"/>
          <p:cNvSpPr/>
          <p:nvPr/>
        </p:nvSpPr>
        <p:spPr>
          <a:xfrm>
            <a:off x="914400" y="5867400"/>
            <a:ext cx="4000500" cy="914400"/>
          </a:xfrm>
          <a:prstGeom prst="roundRect">
            <a:avLst>
              <a:gd name="adj" fmla="val 14583"/>
            </a:avLst>
          </a:prstGeom>
          <a:solidFill>
            <a:srgbClr val="E45545">
              <a:alpha val="6000"/>
            </a:srgbClr>
          </a:solidFill>
          <a:ln w="6350">
            <a:solidFill>
              <a:srgbClr val="E45545">
                <a:alpha val="20000"/>
              </a:srgbClr>
            </a:solidFill>
            <a:prstDash val="solid"/>
          </a:ln>
        </p:spPr>
        <p:txBody>
          <a:bodyPr/>
          <a:lstStyle/>
          <a:p>
            <a:endParaRPr lang="de-DE"/>
          </a:p>
        </p:txBody>
      </p:sp>
      <p:sp>
        <p:nvSpPr>
          <p:cNvPr id="12" name="Text 10"/>
          <p:cNvSpPr/>
          <p:nvPr/>
        </p:nvSpPr>
        <p:spPr>
          <a:xfrm>
            <a:off x="1130300" y="6045200"/>
            <a:ext cx="3688715" cy="596900"/>
          </a:xfrm>
          <a:prstGeom prst="rect">
            <a:avLst/>
          </a:prstGeom>
          <a:noFill/>
          <a:ln/>
        </p:spPr>
        <p:txBody>
          <a:bodyPr wrap="square" lIns="25400" tIns="25400" rIns="25400" bIns="25400" rtlCol="0" anchor="t">
            <a:normAutofit/>
          </a:bodyPr>
          <a:lstStyle/>
          <a:p>
            <a:pPr marL="0" indent="0" algn="l">
              <a:buNone/>
            </a:pPr>
            <a:r>
              <a:rPr lang="en-US" sz="1950" b="1" dirty="0">
                <a:solidFill>
                  <a:srgbClr val="B23A2E"/>
                </a:solidFill>
                <a:latin typeface="Arial" pitchFamily="34" charset="0"/>
                <a:ea typeface="Arial" pitchFamily="34" charset="-122"/>
                <a:cs typeface="Arial" pitchFamily="34" charset="-120"/>
              </a:rPr>
              <a:t>13:00 — Review · 14:00 — Sync</a:t>
            </a:r>
            <a:endParaRPr lang="en-US" sz="1950" dirty="0"/>
          </a:p>
        </p:txBody>
      </p:sp>
      <p:sp>
        <p:nvSpPr>
          <p:cNvPr id="13" name="Shape 11"/>
          <p:cNvSpPr/>
          <p:nvPr/>
        </p:nvSpPr>
        <p:spPr>
          <a:xfrm>
            <a:off x="914400" y="6877050"/>
            <a:ext cx="4000500" cy="914400"/>
          </a:xfrm>
          <a:prstGeom prst="roundRect">
            <a:avLst>
              <a:gd name="adj" fmla="val 14583"/>
            </a:avLst>
          </a:prstGeom>
          <a:solidFill>
            <a:srgbClr val="E45545">
              <a:alpha val="6000"/>
            </a:srgbClr>
          </a:solidFill>
          <a:ln w="6350">
            <a:solidFill>
              <a:srgbClr val="E45545">
                <a:alpha val="20000"/>
              </a:srgbClr>
            </a:solidFill>
            <a:prstDash val="solid"/>
          </a:ln>
        </p:spPr>
        <p:txBody>
          <a:bodyPr/>
          <a:lstStyle/>
          <a:p>
            <a:endParaRPr lang="de-DE"/>
          </a:p>
        </p:txBody>
      </p:sp>
      <p:sp>
        <p:nvSpPr>
          <p:cNvPr id="14" name="Text 12"/>
          <p:cNvSpPr/>
          <p:nvPr/>
        </p:nvSpPr>
        <p:spPr>
          <a:xfrm>
            <a:off x="1130300" y="7054850"/>
            <a:ext cx="3688715" cy="596900"/>
          </a:xfrm>
          <a:prstGeom prst="rect">
            <a:avLst/>
          </a:prstGeom>
          <a:noFill/>
          <a:ln/>
        </p:spPr>
        <p:txBody>
          <a:bodyPr wrap="square" lIns="25400" tIns="25400" rIns="25400" bIns="25400" rtlCol="0" anchor="t">
            <a:normAutofit/>
          </a:bodyPr>
          <a:lstStyle/>
          <a:p>
            <a:pPr marL="0" indent="0" algn="l">
              <a:buNone/>
            </a:pPr>
            <a:r>
              <a:rPr lang="en-US" sz="1950" b="1" dirty="0">
                <a:solidFill>
                  <a:srgbClr val="B23A2E"/>
                </a:solidFill>
                <a:latin typeface="Arial" pitchFamily="34" charset="0"/>
                <a:ea typeface="Arial" pitchFamily="34" charset="-122"/>
                <a:cs typeface="Arial" pitchFamily="34" charset="-120"/>
              </a:rPr>
              <a:t>15:00 — The meeting that matters</a:t>
            </a:r>
            <a:endParaRPr lang="en-US" sz="1950" dirty="0"/>
          </a:p>
        </p:txBody>
      </p:sp>
      <p:sp>
        <p:nvSpPr>
          <p:cNvPr id="15" name="Text 13"/>
          <p:cNvSpPr/>
          <p:nvPr/>
        </p:nvSpPr>
        <p:spPr>
          <a:xfrm>
            <a:off x="5715000" y="3605113"/>
            <a:ext cx="1282446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THE HOOK</a:t>
            </a:r>
            <a:endParaRPr lang="en-US" sz="1800" dirty="0"/>
          </a:p>
        </p:txBody>
      </p:sp>
      <p:sp>
        <p:nvSpPr>
          <p:cNvPr id="16" name="Text 14"/>
          <p:cNvSpPr/>
          <p:nvPr/>
        </p:nvSpPr>
        <p:spPr>
          <a:xfrm>
            <a:off x="5715000" y="4100413"/>
            <a:ext cx="12008358" cy="1354733"/>
          </a:xfrm>
          <a:prstGeom prst="rect">
            <a:avLst/>
          </a:prstGeom>
          <a:noFill/>
          <a:ln/>
        </p:spPr>
        <p:txBody>
          <a:bodyPr wrap="square" lIns="25400" tIns="25400" rIns="25400" bIns="25400" rtlCol="0" anchor="t">
            <a:normAutofit/>
          </a:bodyPr>
          <a:lstStyle/>
          <a:p>
            <a:pPr marL="0" indent="0" algn="l">
              <a:lnSpc>
                <a:spcPct val="108000"/>
              </a:lnSpc>
              <a:buNone/>
            </a:pPr>
            <a:r>
              <a:rPr lang="en-US" sz="4800" b="1" kern="0" spc="-75" dirty="0">
                <a:solidFill>
                  <a:srgbClr val="2B2A26"/>
                </a:solidFill>
                <a:latin typeface="Arial" pitchFamily="34" charset="0"/>
                <a:ea typeface="Arial" pitchFamily="34" charset="-122"/>
                <a:cs typeface="Arial" pitchFamily="34" charset="-120"/>
              </a:rPr>
              <a:t>Workdays are full of signals — but nothing connects them.</a:t>
            </a:r>
            <a:endParaRPr lang="en-US" sz="4800" dirty="0"/>
          </a:p>
        </p:txBody>
      </p:sp>
      <p:sp>
        <p:nvSpPr>
          <p:cNvPr id="17" name="Text 15"/>
          <p:cNvSpPr/>
          <p:nvPr/>
        </p:nvSpPr>
        <p:spPr>
          <a:xfrm>
            <a:off x="5715000" y="5721846"/>
            <a:ext cx="12008358" cy="998141"/>
          </a:xfrm>
          <a:prstGeom prst="rect">
            <a:avLst/>
          </a:prstGeom>
          <a:noFill/>
          <a:ln/>
        </p:spPr>
        <p:txBody>
          <a:bodyPr wrap="square" lIns="25400" tIns="25400" rIns="25400" bIns="25400" rtlCol="0" anchor="t">
            <a:normAutofit/>
          </a:bodyPr>
          <a:lstStyle/>
          <a:p>
            <a:pPr marL="0" indent="0" algn="l">
              <a:lnSpc>
                <a:spcPct val="140000"/>
              </a:lnSpc>
              <a:buNone/>
            </a:pPr>
            <a:r>
              <a:rPr lang="en-US" sz="2700" dirty="0">
                <a:solidFill>
                  <a:srgbClr val="2B2A26">
                    <a:alpha val="55000"/>
                  </a:srgbClr>
                </a:solidFill>
                <a:latin typeface="Arial" pitchFamily="34" charset="0"/>
                <a:ea typeface="Arial" pitchFamily="34" charset="-122"/>
                <a:cs typeface="Arial" pitchFamily="34" charset="-120"/>
              </a:rPr>
              <a:t>Seven calls. No break. By the time the meeting that matters arrives, you're running on empty — and you walked in anyway.</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914400" y="76200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THE GAP</a:t>
            </a:r>
            <a:endParaRPr lang="en-US" sz="1800" dirty="0"/>
          </a:p>
        </p:txBody>
      </p:sp>
      <p:sp>
        <p:nvSpPr>
          <p:cNvPr id="3" name="Text 1"/>
          <p:cNvSpPr/>
          <p:nvPr/>
        </p:nvSpPr>
        <p:spPr>
          <a:xfrm>
            <a:off x="914400" y="116205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Two worlds that never talk.</a:t>
            </a:r>
            <a:endParaRPr lang="en-US" sz="4800" dirty="0"/>
          </a:p>
        </p:txBody>
      </p:sp>
      <p:sp>
        <p:nvSpPr>
          <p:cNvPr id="4" name="Shape 2"/>
          <p:cNvSpPr/>
          <p:nvPr/>
        </p:nvSpPr>
        <p:spPr>
          <a:xfrm>
            <a:off x="5524500" y="3267075"/>
            <a:ext cx="4476750" cy="4476750"/>
          </a:xfrm>
          <a:prstGeom prst="ellipse">
            <a:avLst/>
          </a:prstGeom>
          <a:solidFill>
            <a:srgbClr val="5E86A8">
              <a:alpha val="16000"/>
            </a:srgbClr>
          </a:solidFill>
          <a:ln w="19050">
            <a:solidFill>
              <a:srgbClr val="5E86A8"/>
            </a:solidFill>
            <a:prstDash val="solid"/>
          </a:ln>
        </p:spPr>
        <p:txBody>
          <a:bodyPr/>
          <a:lstStyle/>
          <a:p>
            <a:endParaRPr lang="de-DE"/>
          </a:p>
        </p:txBody>
      </p:sp>
      <p:sp>
        <p:nvSpPr>
          <p:cNvPr id="5" name="Shape 3"/>
          <p:cNvSpPr/>
          <p:nvPr/>
        </p:nvSpPr>
        <p:spPr>
          <a:xfrm>
            <a:off x="8286750" y="3267075"/>
            <a:ext cx="4476750" cy="4476750"/>
          </a:xfrm>
          <a:prstGeom prst="ellipse">
            <a:avLst/>
          </a:prstGeom>
          <a:solidFill>
            <a:srgbClr val="2F8F7F">
              <a:alpha val="16000"/>
            </a:srgbClr>
          </a:solidFill>
          <a:ln w="19050">
            <a:solidFill>
              <a:srgbClr val="2F8F7F"/>
            </a:solidFill>
            <a:prstDash val="solid"/>
          </a:ln>
        </p:spPr>
        <p:txBody>
          <a:bodyPr/>
          <a:lstStyle/>
          <a:p>
            <a:endParaRPr lang="de-DE"/>
          </a:p>
        </p:txBody>
      </p:sp>
      <p:sp>
        <p:nvSpPr>
          <p:cNvPr id="6" name="Text 4"/>
          <p:cNvSpPr/>
          <p:nvPr/>
        </p:nvSpPr>
        <p:spPr>
          <a:xfrm>
            <a:off x="5510212" y="4772025"/>
            <a:ext cx="2409825" cy="495300"/>
          </a:xfrm>
          <a:prstGeom prst="rect">
            <a:avLst/>
          </a:prstGeom>
          <a:noFill/>
          <a:ln/>
        </p:spPr>
        <p:txBody>
          <a:bodyPr wrap="square" lIns="25400" tIns="25400" rIns="25400" bIns="25400" rtlCol="0" anchor="t">
            <a:normAutofit/>
          </a:bodyPr>
          <a:lstStyle/>
          <a:p>
            <a:pPr marL="0" indent="0" algn="ctr">
              <a:buNone/>
            </a:pPr>
            <a:r>
              <a:rPr lang="en-US" sz="3150" b="1" dirty="0">
                <a:solidFill>
                  <a:srgbClr val="41637E"/>
                </a:solidFill>
                <a:latin typeface="Arial" pitchFamily="34" charset="0"/>
                <a:ea typeface="Arial" pitchFamily="34" charset="-122"/>
                <a:cs typeface="Arial" pitchFamily="34" charset="-120"/>
              </a:rPr>
              <a:t>Body-aware</a:t>
            </a:r>
            <a:endParaRPr lang="en-US" sz="3150" dirty="0"/>
          </a:p>
        </p:txBody>
      </p:sp>
      <p:sp>
        <p:nvSpPr>
          <p:cNvPr id="7" name="Text 5"/>
          <p:cNvSpPr/>
          <p:nvPr/>
        </p:nvSpPr>
        <p:spPr>
          <a:xfrm>
            <a:off x="5581650" y="5324475"/>
            <a:ext cx="2266950" cy="678061"/>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WHOOP · Oura Garmin · Fitbit</a:t>
            </a:r>
            <a:endParaRPr lang="en-US" sz="1800" dirty="0"/>
          </a:p>
        </p:txBody>
      </p:sp>
      <p:sp>
        <p:nvSpPr>
          <p:cNvPr id="8" name="Text 6"/>
          <p:cNvSpPr/>
          <p:nvPr/>
        </p:nvSpPr>
        <p:spPr>
          <a:xfrm>
            <a:off x="10367963" y="4772025"/>
            <a:ext cx="2409825" cy="495300"/>
          </a:xfrm>
          <a:prstGeom prst="rect">
            <a:avLst/>
          </a:prstGeom>
          <a:noFill/>
          <a:ln/>
        </p:spPr>
        <p:txBody>
          <a:bodyPr wrap="square" lIns="25400" tIns="25400" rIns="25400" bIns="25400" rtlCol="0" anchor="t">
            <a:normAutofit/>
          </a:bodyPr>
          <a:lstStyle/>
          <a:p>
            <a:pPr marL="0" indent="0" algn="ctr">
              <a:buNone/>
            </a:pPr>
            <a:r>
              <a:rPr lang="en-US" sz="3150" b="1" dirty="0">
                <a:solidFill>
                  <a:srgbClr val="246B5F"/>
                </a:solidFill>
                <a:latin typeface="Arial" pitchFamily="34" charset="0"/>
                <a:ea typeface="Arial" pitchFamily="34" charset="-122"/>
                <a:cs typeface="Arial" pitchFamily="34" charset="-120"/>
              </a:rPr>
              <a:t>Work-aware</a:t>
            </a:r>
            <a:endParaRPr lang="en-US" sz="3150" dirty="0"/>
          </a:p>
        </p:txBody>
      </p:sp>
      <p:sp>
        <p:nvSpPr>
          <p:cNvPr id="9" name="Text 7"/>
          <p:cNvSpPr/>
          <p:nvPr/>
        </p:nvSpPr>
        <p:spPr>
          <a:xfrm>
            <a:off x="10439400" y="5324475"/>
            <a:ext cx="2266950" cy="678061"/>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Clockwise · Reclaim Viva</a:t>
            </a:r>
            <a:endParaRPr lang="en-US" sz="1800" dirty="0"/>
          </a:p>
        </p:txBody>
      </p:sp>
      <p:sp>
        <p:nvSpPr>
          <p:cNvPr id="10" name="Shape 8"/>
          <p:cNvSpPr/>
          <p:nvPr/>
        </p:nvSpPr>
        <p:spPr>
          <a:xfrm>
            <a:off x="8324850" y="4953000"/>
            <a:ext cx="1638300" cy="1104900"/>
          </a:xfrm>
          <a:prstGeom prst="roundRect">
            <a:avLst>
              <a:gd name="adj" fmla="val 12069"/>
            </a:avLst>
          </a:prstGeom>
          <a:solidFill>
            <a:srgbClr val="FFFFFF"/>
          </a:solidFill>
          <a:ln/>
          <a:effectLst>
            <a:outerShdw blurRad="285750" dist="57150" dir="5400000" algn="bl" rotWithShape="0">
              <a:srgbClr val="2B2A26">
                <a:alpha val="7000"/>
              </a:srgbClr>
            </a:outerShdw>
          </a:effectLst>
        </p:spPr>
        <p:txBody>
          <a:bodyPr/>
          <a:lstStyle/>
          <a:p>
            <a:endParaRPr lang="de-DE"/>
          </a:p>
        </p:txBody>
      </p:sp>
      <p:sp>
        <p:nvSpPr>
          <p:cNvPr id="11" name="Text 9"/>
          <p:cNvSpPr/>
          <p:nvPr/>
        </p:nvSpPr>
        <p:spPr>
          <a:xfrm>
            <a:off x="8796735" y="5086350"/>
            <a:ext cx="770632" cy="298450"/>
          </a:xfrm>
          <a:prstGeom prst="rect">
            <a:avLst/>
          </a:prstGeom>
          <a:noFill/>
          <a:ln/>
        </p:spPr>
        <p:txBody>
          <a:bodyPr wrap="square" lIns="0" tIns="0" rIns="0" bIns="0" rtlCol="0" anchor="t">
            <a:normAutofit/>
          </a:bodyPr>
          <a:lstStyle/>
          <a:p>
            <a:pPr marL="0" indent="0" algn="ctr">
              <a:buNone/>
            </a:pPr>
            <a:r>
              <a:rPr lang="en-US" sz="1800" b="1" dirty="0">
                <a:solidFill>
                  <a:srgbClr val="2B2A26"/>
                </a:solidFill>
                <a:latin typeface="Arial" pitchFamily="34" charset="0"/>
                <a:ea typeface="Arial" pitchFamily="34" charset="-122"/>
                <a:cs typeface="Arial" pitchFamily="34" charset="-120"/>
              </a:rPr>
              <a:t>Empty.</a:t>
            </a:r>
            <a:endParaRPr lang="en-US" sz="1800" dirty="0"/>
          </a:p>
        </p:txBody>
      </p:sp>
      <p:sp>
        <p:nvSpPr>
          <p:cNvPr id="12" name="Text 10"/>
          <p:cNvSpPr/>
          <p:nvPr/>
        </p:nvSpPr>
        <p:spPr>
          <a:xfrm>
            <a:off x="8382000" y="5391150"/>
            <a:ext cx="1524000" cy="571500"/>
          </a:xfrm>
          <a:prstGeom prst="rect">
            <a:avLst/>
          </a:prstGeom>
          <a:noFill/>
          <a:ln/>
        </p:spPr>
        <p:txBody>
          <a:bodyPr wrap="square" lIns="25400" tIns="25400" rIns="25400" bIns="25400" rtlCol="0" anchor="t">
            <a:normAutofit/>
          </a:bodyPr>
          <a:lstStyle/>
          <a:p>
            <a:pPr marL="0" indent="0" algn="ctr">
              <a:buNone/>
            </a:pPr>
            <a:r>
              <a:rPr lang="en-US" sz="1800" b="1" dirty="0">
                <a:solidFill>
                  <a:srgbClr val="2B2A26">
                    <a:alpha val="55000"/>
                  </a:srgbClr>
                </a:solidFill>
                <a:latin typeface="Arial" pitchFamily="34" charset="0"/>
                <a:ea typeface="Arial" pitchFamily="34" charset="-122"/>
                <a:cs typeface="Arial" pitchFamily="34" charset="-120"/>
              </a:rPr>
              <a:t>nobody lives here</a:t>
            </a:r>
            <a:endParaRPr lang="en-US" sz="1800" dirty="0"/>
          </a:p>
        </p:txBody>
      </p:sp>
      <p:sp>
        <p:nvSpPr>
          <p:cNvPr id="13" name="Text 11"/>
          <p:cNvSpPr/>
          <p:nvPr/>
        </p:nvSpPr>
        <p:spPr>
          <a:xfrm>
            <a:off x="91440" y="9131300"/>
            <a:ext cx="18105120" cy="431800"/>
          </a:xfrm>
          <a:prstGeom prst="rect">
            <a:avLst/>
          </a:prstGeom>
          <a:noFill/>
          <a:ln/>
        </p:spPr>
        <p:txBody>
          <a:bodyPr wrap="square" lIns="25400" tIns="25400" rIns="25400" bIns="25400" rtlCol="0" anchor="t">
            <a:normAutofit/>
          </a:bodyPr>
          <a:lstStyle/>
          <a:p>
            <a:pPr marL="0" indent="0" algn="ctr">
              <a:buNone/>
            </a:pPr>
            <a:r>
              <a:rPr lang="en-US" sz="2700" b="1" dirty="0">
                <a:solidFill>
                  <a:srgbClr val="2B2A26"/>
                </a:solidFill>
                <a:latin typeface="Arial" pitchFamily="34" charset="0"/>
                <a:ea typeface="Arial" pitchFamily="34" charset="-122"/>
                <a:cs typeface="Arial" pitchFamily="34" charset="-120"/>
              </a:rPr>
              <a:t>A full day meets an exhausted body — </a:t>
            </a:r>
            <a:r>
              <a:rPr lang="en-US" sz="2700" b="1" dirty="0">
                <a:solidFill>
                  <a:srgbClr val="246B5F"/>
                </a:solidFill>
                <a:latin typeface="Arial" pitchFamily="34" charset="0"/>
                <a:ea typeface="Arial" pitchFamily="34" charset="-122"/>
                <a:cs typeface="Arial" pitchFamily="34" charset="-120"/>
              </a:rPr>
              <a:t>this is where the damage happens.</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6B5F"/>
        </a:solidFill>
        <a:effectLst/>
      </p:bgPr>
    </p:bg>
    <p:spTree>
      <p:nvGrpSpPr>
        <p:cNvPr id="1" name=""/>
        <p:cNvGrpSpPr/>
        <p:nvPr/>
      </p:nvGrpSpPr>
      <p:grpSpPr>
        <a:xfrm>
          <a:off x="0" y="0"/>
          <a:ext cx="0" cy="0"/>
          <a:chOff x="0" y="0"/>
          <a:chExt cx="0" cy="0"/>
        </a:xfrm>
      </p:grpSpPr>
      <p:sp>
        <p:nvSpPr>
          <p:cNvPr id="2" name="Text 0"/>
          <p:cNvSpPr/>
          <p:nvPr/>
        </p:nvSpPr>
        <p:spPr>
          <a:xfrm>
            <a:off x="1047750" y="2542679"/>
            <a:ext cx="1781175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FFFFF">
                    <a:alpha val="65000"/>
                  </a:srgbClr>
                </a:solidFill>
                <a:latin typeface="Arial" pitchFamily="34" charset="0"/>
                <a:ea typeface="Arial" pitchFamily="34" charset="-122"/>
                <a:cs typeface="Arial" pitchFamily="34" charset="-120"/>
              </a:rPr>
              <a:t>THE COST</a:t>
            </a:r>
            <a:endParaRPr lang="en-US" sz="1800" dirty="0"/>
          </a:p>
        </p:txBody>
      </p:sp>
      <p:sp>
        <p:nvSpPr>
          <p:cNvPr id="3" name="Text 1"/>
          <p:cNvSpPr/>
          <p:nvPr/>
        </p:nvSpPr>
        <p:spPr>
          <a:xfrm>
            <a:off x="1047750" y="2999879"/>
            <a:ext cx="13735050" cy="1939925"/>
          </a:xfrm>
          <a:prstGeom prst="rect">
            <a:avLst/>
          </a:prstGeom>
          <a:noFill/>
          <a:ln/>
        </p:spPr>
        <p:txBody>
          <a:bodyPr wrap="square" lIns="25400" tIns="25400" rIns="25400" bIns="25400" rtlCol="0" anchor="t">
            <a:normAutofit/>
          </a:bodyPr>
          <a:lstStyle/>
          <a:p>
            <a:pPr marL="0" indent="0" algn="l">
              <a:lnSpc>
                <a:spcPct val="104000"/>
              </a:lnSpc>
              <a:buNone/>
            </a:pPr>
            <a:r>
              <a:rPr lang="en-US" sz="7200" b="1" kern="0" spc="-150" dirty="0">
                <a:solidFill>
                  <a:srgbClr val="FAF7F0"/>
                </a:solidFill>
                <a:latin typeface="Arial" pitchFamily="34" charset="0"/>
                <a:ea typeface="Arial" pitchFamily="34" charset="-122"/>
                <a:cs typeface="Arial" pitchFamily="34" charset="-120"/>
              </a:rPr>
              <a:t>Manage energy, not time.</a:t>
            </a:r>
            <a:endParaRPr lang="en-US" sz="7200" dirty="0"/>
          </a:p>
        </p:txBody>
      </p:sp>
      <p:sp>
        <p:nvSpPr>
          <p:cNvPr id="4" name="Shape 2"/>
          <p:cNvSpPr/>
          <p:nvPr/>
        </p:nvSpPr>
        <p:spPr>
          <a:xfrm>
            <a:off x="1047750" y="5511304"/>
            <a:ext cx="7962900" cy="2232918"/>
          </a:xfrm>
          <a:prstGeom prst="roundRect">
            <a:avLst>
              <a:gd name="adj" fmla="val 11091"/>
            </a:avLst>
          </a:prstGeom>
          <a:solidFill>
            <a:srgbClr val="FFFFFF">
              <a:alpha val="8000"/>
            </a:srgbClr>
          </a:solidFill>
          <a:ln/>
        </p:spPr>
        <p:txBody>
          <a:bodyPr/>
          <a:lstStyle/>
          <a:p>
            <a:endParaRPr lang="de-DE"/>
          </a:p>
        </p:txBody>
      </p:sp>
      <p:sp>
        <p:nvSpPr>
          <p:cNvPr id="5" name="Text 3"/>
          <p:cNvSpPr/>
          <p:nvPr/>
        </p:nvSpPr>
        <p:spPr>
          <a:xfrm>
            <a:off x="1352550" y="5835154"/>
            <a:ext cx="808863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FAF7F0"/>
                </a:solidFill>
                <a:latin typeface="Arial" pitchFamily="34" charset="0"/>
                <a:ea typeface="Arial" pitchFamily="34" charset="-122"/>
                <a:cs typeface="Arial" pitchFamily="34" charset="-120"/>
              </a:rPr>
              <a:t>Energy is the scarce resource</a:t>
            </a:r>
            <a:endParaRPr lang="en-US" sz="2700" dirty="0"/>
          </a:p>
        </p:txBody>
      </p:sp>
      <p:sp>
        <p:nvSpPr>
          <p:cNvPr id="6" name="Text 4"/>
          <p:cNvSpPr/>
          <p:nvPr/>
        </p:nvSpPr>
        <p:spPr>
          <a:xfrm>
            <a:off x="1352550" y="6343154"/>
            <a:ext cx="7573899"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FFFFFF">
                    <a:alpha val="72000"/>
                  </a:srgbClr>
                </a:solidFill>
                <a:latin typeface="Arial" pitchFamily="34" charset="0"/>
                <a:ea typeface="Arial" pitchFamily="34" charset="-122"/>
                <a:cs typeface="Arial" pitchFamily="34" charset="-120"/>
              </a:rPr>
              <a:t>Time management is solved. Energy management isn't — and it's what actually limits good work.</a:t>
            </a:r>
            <a:endParaRPr lang="en-US" sz="1950" dirty="0"/>
          </a:p>
        </p:txBody>
      </p:sp>
      <p:sp>
        <p:nvSpPr>
          <p:cNvPr id="7" name="Shape 5"/>
          <p:cNvSpPr/>
          <p:nvPr/>
        </p:nvSpPr>
        <p:spPr>
          <a:xfrm>
            <a:off x="9277350" y="5511304"/>
            <a:ext cx="7962900" cy="2232918"/>
          </a:xfrm>
          <a:prstGeom prst="roundRect">
            <a:avLst>
              <a:gd name="adj" fmla="val 11091"/>
            </a:avLst>
          </a:prstGeom>
          <a:solidFill>
            <a:srgbClr val="FFFFFF">
              <a:alpha val="8000"/>
            </a:srgbClr>
          </a:solidFill>
          <a:ln/>
        </p:spPr>
        <p:txBody>
          <a:bodyPr/>
          <a:lstStyle/>
          <a:p>
            <a:endParaRPr lang="de-DE"/>
          </a:p>
        </p:txBody>
      </p:sp>
      <p:sp>
        <p:nvSpPr>
          <p:cNvPr id="8" name="Text 6"/>
          <p:cNvSpPr/>
          <p:nvPr/>
        </p:nvSpPr>
        <p:spPr>
          <a:xfrm>
            <a:off x="9582150" y="5835154"/>
            <a:ext cx="808863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FAF7F0"/>
                </a:solidFill>
                <a:latin typeface="Arial" pitchFamily="34" charset="0"/>
                <a:ea typeface="Arial" pitchFamily="34" charset="-122"/>
                <a:cs typeface="Arial" pitchFamily="34" charset="-120"/>
              </a:rPr>
              <a:t>Burnout = productivity collapse</a:t>
            </a:r>
            <a:endParaRPr lang="en-US" sz="2700" dirty="0"/>
          </a:p>
        </p:txBody>
      </p:sp>
      <p:sp>
        <p:nvSpPr>
          <p:cNvPr id="9" name="Text 7"/>
          <p:cNvSpPr/>
          <p:nvPr/>
        </p:nvSpPr>
        <p:spPr>
          <a:xfrm>
            <a:off x="9582150" y="6343154"/>
            <a:ext cx="7573899" cy="1115318"/>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FFFFFF">
                    <a:alpha val="72000"/>
                  </a:srgbClr>
                </a:solidFill>
                <a:latin typeface="Arial" pitchFamily="34" charset="0"/>
                <a:ea typeface="Arial" pitchFamily="34" charset="-122"/>
                <a:cs typeface="Arial" pitchFamily="34" charset="-120"/>
              </a:rPr>
              <a:t>Sick days, mistakes and turnover are the opposite of productive. Preventing them is the biggest performance lever there is.</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1047750" y="3029645"/>
            <a:ext cx="1781175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THE SOLUTION</a:t>
            </a:r>
            <a:endParaRPr lang="en-US" sz="1800" dirty="0"/>
          </a:p>
        </p:txBody>
      </p:sp>
      <p:sp>
        <p:nvSpPr>
          <p:cNvPr id="3" name="Text 1"/>
          <p:cNvSpPr/>
          <p:nvPr/>
        </p:nvSpPr>
        <p:spPr>
          <a:xfrm>
            <a:off x="1047750" y="3429695"/>
            <a:ext cx="1781175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Pawse is the missing layer.</a:t>
            </a:r>
            <a:endParaRPr lang="en-US" sz="4800" dirty="0"/>
          </a:p>
        </p:txBody>
      </p:sp>
      <p:sp>
        <p:nvSpPr>
          <p:cNvPr id="4" name="Shape 2"/>
          <p:cNvSpPr/>
          <p:nvPr/>
        </p:nvSpPr>
        <p:spPr>
          <a:xfrm>
            <a:off x="1047750" y="4585395"/>
            <a:ext cx="4335264" cy="1289050"/>
          </a:xfrm>
          <a:prstGeom prst="roundRect">
            <a:avLst>
              <a:gd name="adj" fmla="val 19212"/>
            </a:avLst>
          </a:prstGeom>
          <a:solidFill>
            <a:srgbClr val="5E86A8">
              <a:alpha val="12000"/>
            </a:srgbClr>
          </a:solidFill>
          <a:ln w="6350">
            <a:solidFill>
              <a:srgbClr val="5E86A8">
                <a:alpha val="30000"/>
              </a:srgbClr>
            </a:solidFill>
            <a:prstDash val="solid"/>
          </a:ln>
        </p:spPr>
        <p:txBody>
          <a:bodyPr/>
          <a:lstStyle/>
          <a:p>
            <a:endParaRPr lang="de-DE"/>
          </a:p>
        </p:txBody>
      </p:sp>
      <p:sp>
        <p:nvSpPr>
          <p:cNvPr id="5" name="Text 3"/>
          <p:cNvSpPr/>
          <p:nvPr/>
        </p:nvSpPr>
        <p:spPr>
          <a:xfrm>
            <a:off x="1152297" y="4877495"/>
            <a:ext cx="4126170" cy="368300"/>
          </a:xfrm>
          <a:prstGeom prst="rect">
            <a:avLst/>
          </a:prstGeom>
          <a:noFill/>
          <a:ln/>
        </p:spPr>
        <p:txBody>
          <a:bodyPr wrap="square" lIns="25400" tIns="25400" rIns="25400" bIns="25400" rtlCol="0" anchor="t">
            <a:normAutofit/>
          </a:bodyPr>
          <a:lstStyle/>
          <a:p>
            <a:pPr marL="0" indent="0" algn="ctr">
              <a:buNone/>
            </a:pPr>
            <a:r>
              <a:rPr lang="en-US" sz="2250" b="1" dirty="0">
                <a:solidFill>
                  <a:srgbClr val="41637E"/>
                </a:solidFill>
                <a:latin typeface="Arial" pitchFamily="34" charset="0"/>
                <a:ea typeface="Arial" pitchFamily="34" charset="-122"/>
                <a:cs typeface="Arial" pitchFamily="34" charset="-120"/>
              </a:rPr>
              <a:t>Your body</a:t>
            </a:r>
            <a:endParaRPr lang="en-US" sz="2250" dirty="0"/>
          </a:p>
        </p:txBody>
      </p:sp>
      <p:sp>
        <p:nvSpPr>
          <p:cNvPr id="6" name="Text 4"/>
          <p:cNvSpPr/>
          <p:nvPr/>
        </p:nvSpPr>
        <p:spPr>
          <a:xfrm>
            <a:off x="1152297" y="5283895"/>
            <a:ext cx="4126170" cy="336550"/>
          </a:xfrm>
          <a:prstGeom prst="rect">
            <a:avLst/>
          </a:prstGeom>
          <a:noFill/>
          <a:ln/>
        </p:spPr>
        <p:txBody>
          <a:bodyPr wrap="square" lIns="25400" tIns="25400" rIns="25400" bIns="25400" rtlCol="0" anchor="t">
            <a:normAutofit/>
          </a:bodyPr>
          <a:lstStyle/>
          <a:p>
            <a:pPr marL="0" indent="0" algn="ctr">
              <a:buNone/>
            </a:pPr>
            <a:r>
              <a:rPr lang="en-US" sz="1950" dirty="0">
                <a:solidFill>
                  <a:srgbClr val="2B2A26">
                    <a:alpha val="55000"/>
                  </a:srgbClr>
                </a:solidFill>
                <a:latin typeface="Arial" pitchFamily="34" charset="0"/>
                <a:ea typeface="Arial" pitchFamily="34" charset="-122"/>
                <a:cs typeface="Arial" pitchFamily="34" charset="-120"/>
              </a:rPr>
              <a:t>recovery signals</a:t>
            </a:r>
            <a:endParaRPr lang="en-US" sz="1950" dirty="0"/>
          </a:p>
        </p:txBody>
      </p:sp>
      <p:sp>
        <p:nvSpPr>
          <p:cNvPr id="7" name="Text 5"/>
          <p:cNvSpPr/>
          <p:nvPr/>
        </p:nvSpPr>
        <p:spPr>
          <a:xfrm>
            <a:off x="5611614" y="4585395"/>
            <a:ext cx="365522" cy="1327150"/>
          </a:xfrm>
          <a:prstGeom prst="rect">
            <a:avLst/>
          </a:prstGeom>
          <a:noFill/>
          <a:ln/>
        </p:spPr>
        <p:txBody>
          <a:bodyPr wrap="square" lIns="25400" tIns="25400" rIns="25400" bIns="25400" rtlCol="0" anchor="ctr">
            <a:normAutofit/>
          </a:bodyPr>
          <a:lstStyle/>
          <a:p>
            <a:pPr marL="0" indent="0" algn="l">
              <a:buNone/>
            </a:pPr>
            <a:r>
              <a:rPr lang="en-US" sz="3900" dirty="0">
                <a:solidFill>
                  <a:srgbClr val="2B2A26">
                    <a:alpha val="40000"/>
                  </a:srgbClr>
                </a:solidFill>
                <a:latin typeface="Arial" pitchFamily="34" charset="0"/>
                <a:ea typeface="Arial" pitchFamily="34" charset="-122"/>
                <a:cs typeface="Arial" pitchFamily="34" charset="-120"/>
              </a:rPr>
              <a:t>+</a:t>
            </a:r>
            <a:endParaRPr lang="en-US" sz="3900" dirty="0"/>
          </a:p>
        </p:txBody>
      </p:sp>
      <p:sp>
        <p:nvSpPr>
          <p:cNvPr id="8" name="Shape 6"/>
          <p:cNvSpPr/>
          <p:nvPr/>
        </p:nvSpPr>
        <p:spPr>
          <a:xfrm>
            <a:off x="6129536" y="4585395"/>
            <a:ext cx="4335264" cy="1289050"/>
          </a:xfrm>
          <a:prstGeom prst="roundRect">
            <a:avLst>
              <a:gd name="adj" fmla="val 19212"/>
            </a:avLst>
          </a:prstGeom>
          <a:solidFill>
            <a:srgbClr val="2F8F7F">
              <a:alpha val="12000"/>
            </a:srgbClr>
          </a:solidFill>
          <a:ln w="6350">
            <a:solidFill>
              <a:srgbClr val="2F8F7F">
                <a:alpha val="30000"/>
              </a:srgbClr>
            </a:solidFill>
            <a:prstDash val="solid"/>
          </a:ln>
        </p:spPr>
        <p:txBody>
          <a:bodyPr/>
          <a:lstStyle/>
          <a:p>
            <a:endParaRPr lang="de-DE"/>
          </a:p>
        </p:txBody>
      </p:sp>
      <p:sp>
        <p:nvSpPr>
          <p:cNvPr id="9" name="Text 7"/>
          <p:cNvSpPr/>
          <p:nvPr/>
        </p:nvSpPr>
        <p:spPr>
          <a:xfrm>
            <a:off x="6234083" y="4877495"/>
            <a:ext cx="4126170" cy="368300"/>
          </a:xfrm>
          <a:prstGeom prst="rect">
            <a:avLst/>
          </a:prstGeom>
          <a:noFill/>
          <a:ln/>
        </p:spPr>
        <p:txBody>
          <a:bodyPr wrap="square" lIns="25400" tIns="25400" rIns="25400" bIns="25400" rtlCol="0" anchor="t">
            <a:normAutofit/>
          </a:bodyPr>
          <a:lstStyle/>
          <a:p>
            <a:pPr marL="0" indent="0" algn="ctr">
              <a:buNone/>
            </a:pPr>
            <a:r>
              <a:rPr lang="en-US" sz="2250" b="1" dirty="0">
                <a:solidFill>
                  <a:srgbClr val="246B5F"/>
                </a:solidFill>
                <a:latin typeface="Arial" pitchFamily="34" charset="0"/>
                <a:ea typeface="Arial" pitchFamily="34" charset="-122"/>
                <a:cs typeface="Arial" pitchFamily="34" charset="-120"/>
              </a:rPr>
              <a:t>Your calendar</a:t>
            </a:r>
            <a:endParaRPr lang="en-US" sz="2250" dirty="0"/>
          </a:p>
        </p:txBody>
      </p:sp>
      <p:sp>
        <p:nvSpPr>
          <p:cNvPr id="10" name="Text 8"/>
          <p:cNvSpPr/>
          <p:nvPr/>
        </p:nvSpPr>
        <p:spPr>
          <a:xfrm>
            <a:off x="6234083" y="5283895"/>
            <a:ext cx="4126170" cy="336550"/>
          </a:xfrm>
          <a:prstGeom prst="rect">
            <a:avLst/>
          </a:prstGeom>
          <a:noFill/>
          <a:ln/>
        </p:spPr>
        <p:txBody>
          <a:bodyPr wrap="square" lIns="25400" tIns="25400" rIns="25400" bIns="25400" rtlCol="0" anchor="t">
            <a:normAutofit/>
          </a:bodyPr>
          <a:lstStyle/>
          <a:p>
            <a:pPr marL="0" indent="0" algn="ctr">
              <a:buNone/>
            </a:pPr>
            <a:r>
              <a:rPr lang="en-US" sz="1950" dirty="0">
                <a:solidFill>
                  <a:srgbClr val="2B2A26">
                    <a:alpha val="55000"/>
                  </a:srgbClr>
                </a:solidFill>
                <a:latin typeface="Arial" pitchFamily="34" charset="0"/>
                <a:ea typeface="Arial" pitchFamily="34" charset="-122"/>
                <a:cs typeface="Arial" pitchFamily="34" charset="-120"/>
              </a:rPr>
              <a:t>workday context</a:t>
            </a:r>
            <a:endParaRPr lang="en-US" sz="1950" dirty="0"/>
          </a:p>
        </p:txBody>
      </p:sp>
      <p:sp>
        <p:nvSpPr>
          <p:cNvPr id="11" name="Text 9"/>
          <p:cNvSpPr/>
          <p:nvPr/>
        </p:nvSpPr>
        <p:spPr>
          <a:xfrm>
            <a:off x="10693401" y="4585395"/>
            <a:ext cx="571500" cy="1327150"/>
          </a:xfrm>
          <a:prstGeom prst="rect">
            <a:avLst/>
          </a:prstGeom>
          <a:noFill/>
          <a:ln/>
        </p:spPr>
        <p:txBody>
          <a:bodyPr wrap="square" lIns="25400" tIns="25400" rIns="25400" bIns="25400" rtlCol="0" anchor="ctr">
            <a:normAutofit/>
          </a:bodyPr>
          <a:lstStyle/>
          <a:p>
            <a:pPr marL="0" indent="0" algn="l">
              <a:buNone/>
            </a:pPr>
            <a:r>
              <a:rPr lang="en-US" sz="3900" dirty="0">
                <a:solidFill>
                  <a:srgbClr val="2F8F7F"/>
                </a:solidFill>
                <a:latin typeface="Arial" pitchFamily="34" charset="0"/>
                <a:ea typeface="Arial" pitchFamily="34" charset="-122"/>
                <a:cs typeface="Arial" pitchFamily="34" charset="-120"/>
              </a:rPr>
              <a:t>→</a:t>
            </a:r>
            <a:endParaRPr lang="en-US" sz="3900" dirty="0"/>
          </a:p>
        </p:txBody>
      </p:sp>
      <p:sp>
        <p:nvSpPr>
          <p:cNvPr id="12" name="Shape 10"/>
          <p:cNvSpPr/>
          <p:nvPr/>
        </p:nvSpPr>
        <p:spPr>
          <a:xfrm>
            <a:off x="11417301" y="4585395"/>
            <a:ext cx="5822950" cy="1289050"/>
          </a:xfrm>
          <a:prstGeom prst="roundRect">
            <a:avLst>
              <a:gd name="adj" fmla="val 19212"/>
            </a:avLst>
          </a:prstGeom>
          <a:solidFill>
            <a:srgbClr val="246B5F"/>
          </a:solidFill>
          <a:ln/>
          <a:effectLst>
            <a:outerShdw blurRad="419100" dist="133350" dir="5400000" algn="bl" rotWithShape="0">
              <a:srgbClr val="2B2A26">
                <a:alpha val="12000"/>
              </a:srgbClr>
            </a:outerShdw>
          </a:effectLst>
        </p:spPr>
        <p:txBody>
          <a:bodyPr/>
          <a:lstStyle/>
          <a:p>
            <a:endParaRPr lang="de-DE"/>
          </a:p>
        </p:txBody>
      </p:sp>
      <p:sp>
        <p:nvSpPr>
          <p:cNvPr id="13" name="Text 11"/>
          <p:cNvSpPr/>
          <p:nvPr/>
        </p:nvSpPr>
        <p:spPr>
          <a:xfrm>
            <a:off x="11440478" y="4871145"/>
            <a:ext cx="5776595" cy="368300"/>
          </a:xfrm>
          <a:prstGeom prst="rect">
            <a:avLst/>
          </a:prstGeom>
          <a:noFill/>
          <a:ln/>
        </p:spPr>
        <p:txBody>
          <a:bodyPr wrap="square" lIns="25400" tIns="25400" rIns="25400" bIns="25400" rtlCol="0" anchor="t">
            <a:normAutofit/>
          </a:bodyPr>
          <a:lstStyle/>
          <a:p>
            <a:pPr marL="0" indent="0" algn="ctr">
              <a:buNone/>
            </a:pPr>
            <a:r>
              <a:rPr lang="en-US" sz="2250" b="1" dirty="0">
                <a:solidFill>
                  <a:srgbClr val="FAF7F0"/>
                </a:solidFill>
                <a:latin typeface="Arial" pitchFamily="34" charset="0"/>
                <a:ea typeface="Arial" pitchFamily="34" charset="-122"/>
                <a:cs typeface="Arial" pitchFamily="34" charset="-120"/>
              </a:rPr>
              <a:t>A concrete action</a:t>
            </a:r>
            <a:endParaRPr lang="en-US" sz="2250" dirty="0"/>
          </a:p>
        </p:txBody>
      </p:sp>
      <p:sp>
        <p:nvSpPr>
          <p:cNvPr id="14" name="Text 12"/>
          <p:cNvSpPr/>
          <p:nvPr/>
        </p:nvSpPr>
        <p:spPr>
          <a:xfrm>
            <a:off x="11440478" y="5277545"/>
            <a:ext cx="5776595" cy="336550"/>
          </a:xfrm>
          <a:prstGeom prst="rect">
            <a:avLst/>
          </a:prstGeom>
          <a:noFill/>
          <a:ln/>
        </p:spPr>
        <p:txBody>
          <a:bodyPr wrap="square" lIns="25400" tIns="25400" rIns="25400" bIns="25400" rtlCol="0" anchor="t">
            <a:normAutofit/>
          </a:bodyPr>
          <a:lstStyle/>
          <a:p>
            <a:pPr marL="0" indent="0" algn="ctr">
              <a:buNone/>
            </a:pPr>
            <a:r>
              <a:rPr lang="en-US" sz="1950" dirty="0">
                <a:solidFill>
                  <a:srgbClr val="FFFFFF">
                    <a:alpha val="78000"/>
                  </a:srgbClr>
                </a:solidFill>
                <a:latin typeface="Arial" pitchFamily="34" charset="0"/>
                <a:ea typeface="Arial" pitchFamily="34" charset="-122"/>
                <a:cs typeface="Arial" pitchFamily="34" charset="-120"/>
              </a:rPr>
              <a:t>in the moment · personal</a:t>
            </a:r>
            <a:endParaRPr lang="en-US" sz="1950" dirty="0"/>
          </a:p>
        </p:txBody>
      </p:sp>
      <p:sp>
        <p:nvSpPr>
          <p:cNvPr id="15" name="Text 13"/>
          <p:cNvSpPr/>
          <p:nvPr/>
        </p:nvSpPr>
        <p:spPr>
          <a:xfrm>
            <a:off x="1047750" y="6331645"/>
            <a:ext cx="14716125" cy="963811"/>
          </a:xfrm>
          <a:prstGeom prst="rect">
            <a:avLst/>
          </a:prstGeom>
          <a:noFill/>
          <a:ln/>
        </p:spPr>
        <p:txBody>
          <a:bodyPr wrap="square" lIns="25400" tIns="25400" rIns="25400" bIns="25400" rtlCol="0" anchor="t">
            <a:normAutofit/>
          </a:bodyPr>
          <a:lstStyle/>
          <a:p>
            <a:pPr marL="0" indent="0" algn="l">
              <a:lnSpc>
                <a:spcPct val="135000"/>
              </a:lnSpc>
              <a:buNone/>
            </a:pPr>
            <a:r>
              <a:rPr lang="en-US" sz="2700" b="1" dirty="0">
                <a:solidFill>
                  <a:srgbClr val="2B2A26"/>
                </a:solidFill>
                <a:latin typeface="Arial" pitchFamily="34" charset="0"/>
                <a:ea typeface="Arial" pitchFamily="34" charset="-122"/>
                <a:cs typeface="Arial" pitchFamily="34" charset="-120"/>
              </a:rPr>
              <a:t>Real-time body state → a concrete work or calendar action, in the moment, personally. </a:t>
            </a:r>
            <a:r>
              <a:rPr lang="en-US" sz="2700" dirty="0">
                <a:solidFill>
                  <a:srgbClr val="2B2A26">
                    <a:alpha val="55000"/>
                  </a:srgbClr>
                </a:solidFill>
                <a:latin typeface="Arial" pitchFamily="34" charset="0"/>
                <a:ea typeface="Arial" pitchFamily="34" charset="-122"/>
                <a:cs typeface="Arial" pitchFamily="34" charset="-120"/>
              </a:rPr>
              <a:t>Score = sensor. Actions = product. Nobody closes this loop end-to-end.</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DE2"/>
        </a:solidFill>
        <a:effectLst/>
      </p:bgPr>
    </p:bg>
    <p:spTree>
      <p:nvGrpSpPr>
        <p:cNvPr id="1" name=""/>
        <p:cNvGrpSpPr/>
        <p:nvPr/>
      </p:nvGrpSpPr>
      <p:grpSpPr>
        <a:xfrm>
          <a:off x="0" y="0"/>
          <a:ext cx="0" cy="0"/>
          <a:chOff x="0" y="0"/>
          <a:chExt cx="0" cy="0"/>
        </a:xfrm>
      </p:grpSpPr>
      <p:sp>
        <p:nvSpPr>
          <p:cNvPr id="2" name="Text 0"/>
          <p:cNvSpPr/>
          <p:nvPr/>
        </p:nvSpPr>
        <p:spPr>
          <a:xfrm>
            <a:off x="914400" y="76200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HOW IT WORKS</a:t>
            </a:r>
            <a:endParaRPr lang="en-US" sz="1800" dirty="0"/>
          </a:p>
        </p:txBody>
      </p:sp>
      <p:sp>
        <p:nvSpPr>
          <p:cNvPr id="3" name="Text 1"/>
          <p:cNvSpPr/>
          <p:nvPr/>
        </p:nvSpPr>
        <p:spPr>
          <a:xfrm>
            <a:off x="914400" y="116205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One continuous loop.</a:t>
            </a:r>
            <a:endParaRPr lang="en-US" sz="4800" dirty="0"/>
          </a:p>
        </p:txBody>
      </p:sp>
      <p:sp>
        <p:nvSpPr>
          <p:cNvPr id="4" name="Shape 2"/>
          <p:cNvSpPr/>
          <p:nvPr/>
        </p:nvSpPr>
        <p:spPr>
          <a:xfrm>
            <a:off x="914400" y="2279650"/>
            <a:ext cx="3543300" cy="2024261"/>
          </a:xfrm>
          <a:prstGeom prst="roundRect">
            <a:avLst>
              <a:gd name="adj" fmla="val 12234"/>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5" name="Text 3"/>
          <p:cNvSpPr/>
          <p:nvPr/>
        </p:nvSpPr>
        <p:spPr>
          <a:xfrm>
            <a:off x="1206500" y="2571750"/>
            <a:ext cx="325501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46B5F"/>
                </a:solidFill>
                <a:latin typeface="Arial" pitchFamily="34" charset="0"/>
                <a:ea typeface="Arial" pitchFamily="34" charset="-122"/>
                <a:cs typeface="Arial" pitchFamily="34" charset="-120"/>
              </a:rPr>
              <a:t>1 · Sense</a:t>
            </a:r>
            <a:endParaRPr lang="en-US" sz="1950" dirty="0"/>
          </a:p>
        </p:txBody>
      </p:sp>
      <p:sp>
        <p:nvSpPr>
          <p:cNvPr id="6" name="Text 4"/>
          <p:cNvSpPr/>
          <p:nvPr/>
        </p:nvSpPr>
        <p:spPr>
          <a:xfrm>
            <a:off x="1206500" y="2946400"/>
            <a:ext cx="3255010"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Body + calendar</a:t>
            </a:r>
            <a:endParaRPr lang="en-US" sz="2250" dirty="0"/>
          </a:p>
        </p:txBody>
      </p:sp>
      <p:sp>
        <p:nvSpPr>
          <p:cNvPr id="7" name="Text 5"/>
          <p:cNvSpPr/>
          <p:nvPr/>
        </p:nvSpPr>
        <p:spPr>
          <a:xfrm>
            <a:off x="1206500" y="3371850"/>
            <a:ext cx="3047873"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Recovery signals meet meeting load.</a:t>
            </a:r>
            <a:endParaRPr lang="en-US" sz="1800" dirty="0"/>
          </a:p>
        </p:txBody>
      </p:sp>
      <p:sp>
        <p:nvSpPr>
          <p:cNvPr id="8" name="Text 6"/>
          <p:cNvSpPr/>
          <p:nvPr/>
        </p:nvSpPr>
        <p:spPr>
          <a:xfrm>
            <a:off x="4629150" y="2279650"/>
            <a:ext cx="495300" cy="2062361"/>
          </a:xfrm>
          <a:prstGeom prst="rect">
            <a:avLst/>
          </a:prstGeom>
          <a:noFill/>
          <a:ln/>
        </p:spPr>
        <p:txBody>
          <a:bodyPr wrap="square" lIns="25400" tIns="25400" rIns="25400" bIns="25400" rtlCol="0" anchor="ctr">
            <a:normAutofit/>
          </a:bodyPr>
          <a:lstStyle/>
          <a:p>
            <a:pPr marL="0" indent="0" algn="l">
              <a:buNone/>
            </a:pPr>
            <a:r>
              <a:rPr lang="en-US" sz="3300" dirty="0">
                <a:solidFill>
                  <a:srgbClr val="2F8F7F"/>
                </a:solidFill>
                <a:latin typeface="Arial" pitchFamily="34" charset="0"/>
                <a:ea typeface="Arial" pitchFamily="34" charset="-122"/>
                <a:cs typeface="Arial" pitchFamily="34" charset="-120"/>
              </a:rPr>
              <a:t>→</a:t>
            </a:r>
            <a:endParaRPr lang="en-US" sz="3300" dirty="0"/>
          </a:p>
        </p:txBody>
      </p:sp>
      <p:sp>
        <p:nvSpPr>
          <p:cNvPr id="9" name="Shape 7"/>
          <p:cNvSpPr/>
          <p:nvPr/>
        </p:nvSpPr>
        <p:spPr>
          <a:xfrm>
            <a:off x="5219700" y="2279650"/>
            <a:ext cx="3543300" cy="2024261"/>
          </a:xfrm>
          <a:prstGeom prst="roundRect">
            <a:avLst>
              <a:gd name="adj" fmla="val 12234"/>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0" name="Text 8"/>
          <p:cNvSpPr/>
          <p:nvPr/>
        </p:nvSpPr>
        <p:spPr>
          <a:xfrm>
            <a:off x="5511800" y="2571750"/>
            <a:ext cx="325501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46B5F"/>
                </a:solidFill>
                <a:latin typeface="Arial" pitchFamily="34" charset="0"/>
                <a:ea typeface="Arial" pitchFamily="34" charset="-122"/>
                <a:cs typeface="Arial" pitchFamily="34" charset="-120"/>
              </a:rPr>
              <a:t>2 · Understand</a:t>
            </a:r>
            <a:endParaRPr lang="en-US" sz="1950" dirty="0"/>
          </a:p>
        </p:txBody>
      </p:sp>
      <p:sp>
        <p:nvSpPr>
          <p:cNvPr id="11" name="Text 9"/>
          <p:cNvSpPr/>
          <p:nvPr/>
        </p:nvSpPr>
        <p:spPr>
          <a:xfrm>
            <a:off x="5511800" y="2946400"/>
            <a:ext cx="3255010"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Explainable score</a:t>
            </a:r>
            <a:endParaRPr lang="en-US" sz="2250" dirty="0"/>
          </a:p>
        </p:txBody>
      </p:sp>
      <p:sp>
        <p:nvSpPr>
          <p:cNvPr id="12" name="Text 10"/>
          <p:cNvSpPr/>
          <p:nvPr/>
        </p:nvSpPr>
        <p:spPr>
          <a:xfrm>
            <a:off x="5511800" y="3371850"/>
            <a:ext cx="3047873"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A number, plus the why behind it.</a:t>
            </a:r>
            <a:endParaRPr lang="en-US" sz="1800" dirty="0"/>
          </a:p>
        </p:txBody>
      </p:sp>
      <p:sp>
        <p:nvSpPr>
          <p:cNvPr id="13" name="Text 11"/>
          <p:cNvSpPr/>
          <p:nvPr/>
        </p:nvSpPr>
        <p:spPr>
          <a:xfrm>
            <a:off x="8934450" y="2279650"/>
            <a:ext cx="495300" cy="2062361"/>
          </a:xfrm>
          <a:prstGeom prst="rect">
            <a:avLst/>
          </a:prstGeom>
          <a:noFill/>
          <a:ln/>
        </p:spPr>
        <p:txBody>
          <a:bodyPr wrap="square" lIns="25400" tIns="25400" rIns="25400" bIns="25400" rtlCol="0" anchor="ctr">
            <a:normAutofit/>
          </a:bodyPr>
          <a:lstStyle/>
          <a:p>
            <a:pPr marL="0" indent="0" algn="l">
              <a:buNone/>
            </a:pPr>
            <a:r>
              <a:rPr lang="en-US" sz="3300" dirty="0">
                <a:solidFill>
                  <a:srgbClr val="2F8F7F"/>
                </a:solidFill>
                <a:latin typeface="Arial" pitchFamily="34" charset="0"/>
                <a:ea typeface="Arial" pitchFamily="34" charset="-122"/>
                <a:cs typeface="Arial" pitchFamily="34" charset="-120"/>
              </a:rPr>
              <a:t>→</a:t>
            </a:r>
            <a:endParaRPr lang="en-US" sz="3300" dirty="0"/>
          </a:p>
        </p:txBody>
      </p:sp>
      <p:sp>
        <p:nvSpPr>
          <p:cNvPr id="14" name="Shape 12"/>
          <p:cNvSpPr/>
          <p:nvPr/>
        </p:nvSpPr>
        <p:spPr>
          <a:xfrm>
            <a:off x="9525000" y="2279650"/>
            <a:ext cx="3543300" cy="2024261"/>
          </a:xfrm>
          <a:prstGeom prst="roundRect">
            <a:avLst>
              <a:gd name="adj" fmla="val 12234"/>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5" name="Text 13"/>
          <p:cNvSpPr/>
          <p:nvPr/>
        </p:nvSpPr>
        <p:spPr>
          <a:xfrm>
            <a:off x="9817101" y="2571750"/>
            <a:ext cx="325501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46B5F"/>
                </a:solidFill>
                <a:latin typeface="Arial" pitchFamily="34" charset="0"/>
                <a:ea typeface="Arial" pitchFamily="34" charset="-122"/>
                <a:cs typeface="Arial" pitchFamily="34" charset="-120"/>
              </a:rPr>
              <a:t>3 · Act</a:t>
            </a:r>
            <a:endParaRPr lang="en-US" sz="1950" dirty="0"/>
          </a:p>
        </p:txBody>
      </p:sp>
      <p:sp>
        <p:nvSpPr>
          <p:cNvPr id="16" name="Text 14"/>
          <p:cNvSpPr/>
          <p:nvPr/>
        </p:nvSpPr>
        <p:spPr>
          <a:xfrm>
            <a:off x="9817101" y="2946400"/>
            <a:ext cx="3255010"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A concrete action</a:t>
            </a:r>
            <a:endParaRPr lang="en-US" sz="2250" dirty="0"/>
          </a:p>
        </p:txBody>
      </p:sp>
      <p:sp>
        <p:nvSpPr>
          <p:cNvPr id="17" name="Text 15"/>
          <p:cNvSpPr/>
          <p:nvPr/>
        </p:nvSpPr>
        <p:spPr>
          <a:xfrm>
            <a:off x="9817101" y="3371850"/>
            <a:ext cx="325501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Where you actually work.</a:t>
            </a:r>
            <a:endParaRPr lang="en-US" sz="1800" dirty="0"/>
          </a:p>
        </p:txBody>
      </p:sp>
      <p:sp>
        <p:nvSpPr>
          <p:cNvPr id="18" name="Text 16"/>
          <p:cNvSpPr/>
          <p:nvPr/>
        </p:nvSpPr>
        <p:spPr>
          <a:xfrm>
            <a:off x="13239750" y="2279650"/>
            <a:ext cx="495300" cy="2062361"/>
          </a:xfrm>
          <a:prstGeom prst="rect">
            <a:avLst/>
          </a:prstGeom>
          <a:noFill/>
          <a:ln/>
        </p:spPr>
        <p:txBody>
          <a:bodyPr wrap="square" lIns="25400" tIns="25400" rIns="25400" bIns="25400" rtlCol="0" anchor="ctr">
            <a:normAutofit/>
          </a:bodyPr>
          <a:lstStyle/>
          <a:p>
            <a:pPr marL="0" indent="0" algn="l">
              <a:buNone/>
            </a:pPr>
            <a:r>
              <a:rPr lang="en-US" sz="3300" dirty="0">
                <a:solidFill>
                  <a:srgbClr val="2F8F7F"/>
                </a:solidFill>
                <a:latin typeface="Arial" pitchFamily="34" charset="0"/>
                <a:ea typeface="Arial" pitchFamily="34" charset="-122"/>
                <a:cs typeface="Arial" pitchFamily="34" charset="-120"/>
              </a:rPr>
              <a:t>→</a:t>
            </a:r>
            <a:endParaRPr lang="en-US" sz="3300" dirty="0"/>
          </a:p>
        </p:txBody>
      </p:sp>
      <p:sp>
        <p:nvSpPr>
          <p:cNvPr id="19" name="Shape 17"/>
          <p:cNvSpPr/>
          <p:nvPr/>
        </p:nvSpPr>
        <p:spPr>
          <a:xfrm>
            <a:off x="13830300" y="2279650"/>
            <a:ext cx="3543300" cy="2024261"/>
          </a:xfrm>
          <a:prstGeom prst="roundRect">
            <a:avLst>
              <a:gd name="adj" fmla="val 12234"/>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0" name="Text 18"/>
          <p:cNvSpPr/>
          <p:nvPr/>
        </p:nvSpPr>
        <p:spPr>
          <a:xfrm>
            <a:off x="14122401" y="2571750"/>
            <a:ext cx="325501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46B5F"/>
                </a:solidFill>
                <a:latin typeface="Arial" pitchFamily="34" charset="0"/>
                <a:ea typeface="Arial" pitchFamily="34" charset="-122"/>
                <a:cs typeface="Arial" pitchFamily="34" charset="-120"/>
              </a:rPr>
              <a:t>4 · Learn</a:t>
            </a:r>
            <a:endParaRPr lang="en-US" sz="1950" dirty="0"/>
          </a:p>
        </p:txBody>
      </p:sp>
      <p:sp>
        <p:nvSpPr>
          <p:cNvPr id="21" name="Text 19"/>
          <p:cNvSpPr/>
          <p:nvPr/>
        </p:nvSpPr>
        <p:spPr>
          <a:xfrm>
            <a:off x="14122401" y="2946400"/>
            <a:ext cx="3255010"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Personal baseline</a:t>
            </a:r>
            <a:endParaRPr lang="en-US" sz="2250" dirty="0"/>
          </a:p>
        </p:txBody>
      </p:sp>
      <p:sp>
        <p:nvSpPr>
          <p:cNvPr id="22" name="Text 20"/>
          <p:cNvSpPr/>
          <p:nvPr/>
        </p:nvSpPr>
        <p:spPr>
          <a:xfrm>
            <a:off x="14122401" y="3371850"/>
            <a:ext cx="325501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Smarter for you every day.</a:t>
            </a:r>
            <a:endParaRPr lang="en-US" sz="1800" dirty="0"/>
          </a:p>
        </p:txBody>
      </p:sp>
      <p:sp>
        <p:nvSpPr>
          <p:cNvPr id="23" name="Text 21"/>
          <p:cNvSpPr/>
          <p:nvPr/>
        </p:nvSpPr>
        <p:spPr>
          <a:xfrm>
            <a:off x="914400" y="4475361"/>
            <a:ext cx="18105120" cy="3175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alpha val="40000"/>
                  </a:srgbClr>
                </a:solidFill>
                <a:latin typeface="Arial" pitchFamily="34" charset="0"/>
                <a:ea typeface="Arial" pitchFamily="34" charset="-122"/>
                <a:cs typeface="Arial" pitchFamily="34" charset="-120"/>
              </a:rPr>
              <a:t>↺ Continuous — the loop personalises to you over time.</a:t>
            </a:r>
            <a:endParaRPr lang="en-US" sz="1800" dirty="0"/>
          </a:p>
        </p:txBody>
      </p:sp>
      <p:sp>
        <p:nvSpPr>
          <p:cNvPr id="24" name="Shape 22"/>
          <p:cNvSpPr/>
          <p:nvPr/>
        </p:nvSpPr>
        <p:spPr>
          <a:xfrm>
            <a:off x="914400" y="5078611"/>
            <a:ext cx="5372100" cy="1360091"/>
          </a:xfrm>
          <a:prstGeom prst="roundRect">
            <a:avLst>
              <a:gd name="adj" fmla="val 12606"/>
            </a:avLst>
          </a:prstGeom>
          <a:solidFill>
            <a:srgbClr val="5E86A8">
              <a:alpha val="10000"/>
            </a:srgbClr>
          </a:solidFill>
          <a:ln/>
        </p:spPr>
        <p:txBody>
          <a:bodyPr/>
          <a:lstStyle/>
          <a:p>
            <a:endParaRPr lang="de-DE"/>
          </a:p>
        </p:txBody>
      </p:sp>
      <p:sp>
        <p:nvSpPr>
          <p:cNvPr id="25" name="Text 23"/>
          <p:cNvSpPr/>
          <p:nvPr/>
        </p:nvSpPr>
        <p:spPr>
          <a:xfrm>
            <a:off x="1162050" y="5288161"/>
            <a:ext cx="5364480"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41637E"/>
                </a:solidFill>
                <a:latin typeface="Arial" pitchFamily="34" charset="0"/>
                <a:ea typeface="Arial" pitchFamily="34" charset="-122"/>
                <a:cs typeface="Arial" pitchFamily="34" charset="-120"/>
              </a:rPr>
              <a:t>Wearable</a:t>
            </a:r>
            <a:endParaRPr lang="en-US" sz="1800" dirty="0"/>
          </a:p>
        </p:txBody>
      </p:sp>
      <p:sp>
        <p:nvSpPr>
          <p:cNvPr id="26" name="Text 24"/>
          <p:cNvSpPr/>
          <p:nvPr/>
        </p:nvSpPr>
        <p:spPr>
          <a:xfrm>
            <a:off x="1162050" y="5612011"/>
            <a:ext cx="5023104" cy="65524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Fitbit / Google Health — HRV, resting HR, sleep, steps</a:t>
            </a:r>
            <a:endParaRPr lang="en-US" sz="1800" dirty="0"/>
          </a:p>
        </p:txBody>
      </p:sp>
      <p:sp>
        <p:nvSpPr>
          <p:cNvPr id="27" name="Shape 25"/>
          <p:cNvSpPr/>
          <p:nvPr/>
        </p:nvSpPr>
        <p:spPr>
          <a:xfrm>
            <a:off x="6457950" y="5078611"/>
            <a:ext cx="5372100" cy="1360091"/>
          </a:xfrm>
          <a:prstGeom prst="roundRect">
            <a:avLst>
              <a:gd name="adj" fmla="val 12606"/>
            </a:avLst>
          </a:prstGeom>
          <a:solidFill>
            <a:srgbClr val="2F8F7F">
              <a:alpha val="10000"/>
            </a:srgbClr>
          </a:solidFill>
          <a:ln/>
        </p:spPr>
        <p:txBody>
          <a:bodyPr/>
          <a:lstStyle/>
          <a:p>
            <a:endParaRPr lang="de-DE"/>
          </a:p>
        </p:txBody>
      </p:sp>
      <p:sp>
        <p:nvSpPr>
          <p:cNvPr id="28" name="Text 26"/>
          <p:cNvSpPr/>
          <p:nvPr/>
        </p:nvSpPr>
        <p:spPr>
          <a:xfrm>
            <a:off x="6705600" y="5288161"/>
            <a:ext cx="5364480"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46B5F"/>
                </a:solidFill>
                <a:latin typeface="Arial" pitchFamily="34" charset="0"/>
                <a:ea typeface="Arial" pitchFamily="34" charset="-122"/>
                <a:cs typeface="Arial" pitchFamily="34" charset="-120"/>
              </a:rPr>
              <a:t>Calendar</a:t>
            </a:r>
            <a:endParaRPr lang="en-US" sz="1800" dirty="0"/>
          </a:p>
        </p:txBody>
      </p:sp>
      <p:sp>
        <p:nvSpPr>
          <p:cNvPr id="29" name="Text 27"/>
          <p:cNvSpPr/>
          <p:nvPr/>
        </p:nvSpPr>
        <p:spPr>
          <a:xfrm>
            <a:off x="6705600" y="5612011"/>
            <a:ext cx="5023104" cy="65524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Teams / Outlook via WorkIQ — load, back-to-back</a:t>
            </a:r>
            <a:endParaRPr lang="en-US" sz="1800" dirty="0"/>
          </a:p>
        </p:txBody>
      </p:sp>
      <p:sp>
        <p:nvSpPr>
          <p:cNvPr id="30" name="Shape 28"/>
          <p:cNvSpPr/>
          <p:nvPr/>
        </p:nvSpPr>
        <p:spPr>
          <a:xfrm>
            <a:off x="12001500" y="5078611"/>
            <a:ext cx="5372100" cy="1360091"/>
          </a:xfrm>
          <a:prstGeom prst="roundRect">
            <a:avLst>
              <a:gd name="adj" fmla="val 12606"/>
            </a:avLst>
          </a:prstGeom>
          <a:solidFill>
            <a:srgbClr val="2B2A26">
              <a:alpha val="5000"/>
            </a:srgbClr>
          </a:solidFill>
          <a:ln/>
        </p:spPr>
        <p:txBody>
          <a:bodyPr/>
          <a:lstStyle/>
          <a:p>
            <a:endParaRPr lang="de-DE"/>
          </a:p>
        </p:txBody>
      </p:sp>
      <p:sp>
        <p:nvSpPr>
          <p:cNvPr id="31" name="Text 29"/>
          <p:cNvSpPr/>
          <p:nvPr/>
        </p:nvSpPr>
        <p:spPr>
          <a:xfrm>
            <a:off x="12249150" y="5288161"/>
            <a:ext cx="5364480"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On-device</a:t>
            </a:r>
            <a:endParaRPr lang="en-US" sz="1800" dirty="0"/>
          </a:p>
        </p:txBody>
      </p:sp>
      <p:sp>
        <p:nvSpPr>
          <p:cNvPr id="32" name="Text 30"/>
          <p:cNvSpPr/>
          <p:nvPr/>
        </p:nvSpPr>
        <p:spPr>
          <a:xfrm>
            <a:off x="12249150" y="5612011"/>
            <a:ext cx="5023104" cy="65524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Optional voice + face signal — experimental, never leaves the device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9"/>
        </a:solidFill>
        <a:effectLst/>
      </p:bgPr>
    </p:bg>
    <p:spTree>
      <p:nvGrpSpPr>
        <p:cNvPr id="1" name=""/>
        <p:cNvGrpSpPr/>
        <p:nvPr/>
      </p:nvGrpSpPr>
      <p:grpSpPr>
        <a:xfrm>
          <a:off x="0" y="0"/>
          <a:ext cx="0" cy="0"/>
          <a:chOff x="0" y="0"/>
          <a:chExt cx="0" cy="0"/>
        </a:xfrm>
      </p:grpSpPr>
      <p:sp>
        <p:nvSpPr>
          <p:cNvPr id="2" name="Text 0"/>
          <p:cNvSpPr/>
          <p:nvPr/>
        </p:nvSpPr>
        <p:spPr>
          <a:xfrm>
            <a:off x="914400" y="76200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CONNECTIVITY</a:t>
            </a:r>
            <a:endParaRPr lang="en-US" sz="1800" dirty="0"/>
          </a:p>
        </p:txBody>
      </p:sp>
      <p:sp>
        <p:nvSpPr>
          <p:cNvPr id="3" name="Text 1"/>
          <p:cNvSpPr/>
          <p:nvPr/>
        </p:nvSpPr>
        <p:spPr>
          <a:xfrm>
            <a:off x="914400" y="114300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Works with what you already wear.</a:t>
            </a:r>
            <a:endParaRPr lang="en-US" sz="4800" dirty="0"/>
          </a:p>
        </p:txBody>
      </p:sp>
      <p:sp>
        <p:nvSpPr>
          <p:cNvPr id="4" name="Shape 2"/>
          <p:cNvSpPr/>
          <p:nvPr/>
        </p:nvSpPr>
        <p:spPr>
          <a:xfrm>
            <a:off x="914400" y="2260600"/>
            <a:ext cx="4476750" cy="7264400"/>
          </a:xfrm>
          <a:prstGeom prst="roundRect">
            <a:avLst>
              <a:gd name="adj" fmla="val 5532"/>
            </a:avLst>
          </a:prstGeom>
          <a:solidFill>
            <a:srgbClr val="246B5F"/>
          </a:solidFill>
          <a:ln/>
          <a:effectLst>
            <a:outerShdw blurRad="419100" dist="133350" dir="5400000" algn="bl" rotWithShape="0">
              <a:srgbClr val="2B2A26">
                <a:alpha val="12000"/>
              </a:srgbClr>
            </a:outerShdw>
          </a:effectLst>
        </p:spPr>
        <p:txBody>
          <a:bodyPr/>
          <a:lstStyle/>
          <a:p>
            <a:endParaRPr lang="de-DE"/>
          </a:p>
        </p:txBody>
      </p:sp>
      <p:sp>
        <p:nvSpPr>
          <p:cNvPr id="5" name="Text 3"/>
          <p:cNvSpPr/>
          <p:nvPr/>
        </p:nvSpPr>
        <p:spPr>
          <a:xfrm>
            <a:off x="1371600" y="4560888"/>
            <a:ext cx="3918585" cy="1449685"/>
          </a:xfrm>
          <a:prstGeom prst="rect">
            <a:avLst/>
          </a:prstGeom>
          <a:noFill/>
          <a:ln/>
        </p:spPr>
        <p:txBody>
          <a:bodyPr wrap="square" lIns="25400" tIns="25400" rIns="25400" bIns="25400" rtlCol="0" anchor="t">
            <a:normAutofit/>
          </a:bodyPr>
          <a:lstStyle/>
          <a:p>
            <a:pPr marL="0" indent="0" algn="l">
              <a:lnSpc>
                <a:spcPct val="95000"/>
              </a:lnSpc>
              <a:buNone/>
            </a:pPr>
            <a:r>
              <a:rPr lang="en-US" sz="11700" b="1" kern="0" spc="-375" dirty="0">
                <a:solidFill>
                  <a:srgbClr val="FAF7F0"/>
                </a:solidFill>
                <a:latin typeface="Arial" pitchFamily="34" charset="0"/>
                <a:ea typeface="Arial" pitchFamily="34" charset="-122"/>
                <a:cs typeface="Arial" pitchFamily="34" charset="-120"/>
              </a:rPr>
              <a:t>100+</a:t>
            </a:r>
            <a:endParaRPr lang="en-US" sz="11700" dirty="0"/>
          </a:p>
        </p:txBody>
      </p:sp>
      <p:sp>
        <p:nvSpPr>
          <p:cNvPr id="6" name="Text 4"/>
          <p:cNvSpPr/>
          <p:nvPr/>
        </p:nvSpPr>
        <p:spPr>
          <a:xfrm>
            <a:off x="1371600" y="6105823"/>
            <a:ext cx="3918585"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FAF7F0"/>
                </a:solidFill>
                <a:latin typeface="Arial" pitchFamily="34" charset="0"/>
                <a:ea typeface="Arial" pitchFamily="34" charset="-122"/>
                <a:cs typeface="Arial" pitchFamily="34" charset="-120"/>
              </a:rPr>
              <a:t>wearables &amp; health apps</a:t>
            </a:r>
            <a:endParaRPr lang="en-US" sz="2250" dirty="0"/>
          </a:p>
        </p:txBody>
      </p:sp>
      <p:sp>
        <p:nvSpPr>
          <p:cNvPr id="7" name="Text 5"/>
          <p:cNvSpPr/>
          <p:nvPr/>
        </p:nvSpPr>
        <p:spPr>
          <a:xfrm>
            <a:off x="1371600" y="6531273"/>
            <a:ext cx="3669221" cy="73144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FFFFFF">
                    <a:alpha val="78000"/>
                  </a:srgbClr>
                </a:solidFill>
                <a:latin typeface="Arial" pitchFamily="34" charset="0"/>
                <a:ea typeface="Arial" pitchFamily="34" charset="-122"/>
                <a:cs typeface="Arial" pitchFamily="34" charset="-120"/>
              </a:rPr>
              <a:t>One connection. No new hardware to buy.</a:t>
            </a:r>
            <a:endParaRPr lang="en-US" sz="1950" dirty="0"/>
          </a:p>
        </p:txBody>
      </p:sp>
      <p:sp>
        <p:nvSpPr>
          <p:cNvPr id="8" name="Shape 6"/>
          <p:cNvSpPr/>
          <p:nvPr/>
        </p:nvSpPr>
        <p:spPr>
          <a:xfrm>
            <a:off x="5772150" y="4946055"/>
            <a:ext cx="1044674"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9" name="Text 7"/>
          <p:cNvSpPr/>
          <p:nvPr/>
        </p:nvSpPr>
        <p:spPr>
          <a:xfrm>
            <a:off x="6026150" y="5085755"/>
            <a:ext cx="612874"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Fitbit</a:t>
            </a:r>
            <a:endParaRPr lang="en-US" sz="1950" dirty="0"/>
          </a:p>
        </p:txBody>
      </p:sp>
      <p:sp>
        <p:nvSpPr>
          <p:cNvPr id="10" name="Shape 8"/>
          <p:cNvSpPr/>
          <p:nvPr/>
        </p:nvSpPr>
        <p:spPr>
          <a:xfrm>
            <a:off x="6950175" y="4946055"/>
            <a:ext cx="2673648"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1" name="Text 9"/>
          <p:cNvSpPr/>
          <p:nvPr/>
        </p:nvSpPr>
        <p:spPr>
          <a:xfrm>
            <a:off x="7204175" y="5085755"/>
            <a:ext cx="2245857"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Google Pixel Watch</a:t>
            </a:r>
            <a:endParaRPr lang="en-US" sz="1950" dirty="0"/>
          </a:p>
        </p:txBody>
      </p:sp>
      <p:sp>
        <p:nvSpPr>
          <p:cNvPr id="12" name="Shape 10"/>
          <p:cNvSpPr/>
          <p:nvPr/>
        </p:nvSpPr>
        <p:spPr>
          <a:xfrm>
            <a:off x="9757172" y="4946055"/>
            <a:ext cx="1319907"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3" name="Text 11"/>
          <p:cNvSpPr/>
          <p:nvPr/>
        </p:nvSpPr>
        <p:spPr>
          <a:xfrm>
            <a:off x="10011172" y="5085755"/>
            <a:ext cx="888107"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Garmin</a:t>
            </a:r>
            <a:endParaRPr lang="en-US" sz="1950" dirty="0"/>
          </a:p>
        </p:txBody>
      </p:sp>
      <p:sp>
        <p:nvSpPr>
          <p:cNvPr id="14" name="Shape 12"/>
          <p:cNvSpPr/>
          <p:nvPr/>
        </p:nvSpPr>
        <p:spPr>
          <a:xfrm>
            <a:off x="11210430" y="4946055"/>
            <a:ext cx="3155256"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5" name="Text 13"/>
          <p:cNvSpPr/>
          <p:nvPr/>
        </p:nvSpPr>
        <p:spPr>
          <a:xfrm>
            <a:off x="11464430" y="5085755"/>
            <a:ext cx="2741913"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Samsung Galaxy Watch</a:t>
            </a:r>
            <a:endParaRPr lang="en-US" sz="1950" dirty="0"/>
          </a:p>
        </p:txBody>
      </p:sp>
      <p:sp>
        <p:nvSpPr>
          <p:cNvPr id="16" name="Shape 14"/>
          <p:cNvSpPr/>
          <p:nvPr/>
        </p:nvSpPr>
        <p:spPr>
          <a:xfrm>
            <a:off x="14499035" y="4946055"/>
            <a:ext cx="1471116"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7" name="Text 15"/>
          <p:cNvSpPr/>
          <p:nvPr/>
        </p:nvSpPr>
        <p:spPr>
          <a:xfrm>
            <a:off x="14753035" y="5085755"/>
            <a:ext cx="1039316"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WHOOP</a:t>
            </a:r>
            <a:endParaRPr lang="en-US" sz="1950" dirty="0"/>
          </a:p>
        </p:txBody>
      </p:sp>
      <p:sp>
        <p:nvSpPr>
          <p:cNvPr id="18" name="Shape 16"/>
          <p:cNvSpPr/>
          <p:nvPr/>
        </p:nvSpPr>
        <p:spPr>
          <a:xfrm>
            <a:off x="16103501" y="4946055"/>
            <a:ext cx="1058565"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9" name="Text 17"/>
          <p:cNvSpPr/>
          <p:nvPr/>
        </p:nvSpPr>
        <p:spPr>
          <a:xfrm>
            <a:off x="16357501" y="5085755"/>
            <a:ext cx="626765"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Oura</a:t>
            </a:r>
            <a:endParaRPr lang="en-US" sz="1950" dirty="0"/>
          </a:p>
        </p:txBody>
      </p:sp>
      <p:sp>
        <p:nvSpPr>
          <p:cNvPr id="20" name="Shape 18"/>
          <p:cNvSpPr/>
          <p:nvPr/>
        </p:nvSpPr>
        <p:spPr>
          <a:xfrm>
            <a:off x="5772150" y="5638205"/>
            <a:ext cx="1086148"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1" name="Text 19"/>
          <p:cNvSpPr/>
          <p:nvPr/>
        </p:nvSpPr>
        <p:spPr>
          <a:xfrm>
            <a:off x="6026150" y="5777905"/>
            <a:ext cx="654348"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Polar</a:t>
            </a:r>
            <a:endParaRPr lang="en-US" sz="1950" dirty="0"/>
          </a:p>
        </p:txBody>
      </p:sp>
      <p:sp>
        <p:nvSpPr>
          <p:cNvPr id="22" name="Shape 20"/>
          <p:cNvSpPr/>
          <p:nvPr/>
        </p:nvSpPr>
        <p:spPr>
          <a:xfrm>
            <a:off x="6991648" y="5638205"/>
            <a:ext cx="1457623"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3" name="Text 21"/>
          <p:cNvSpPr/>
          <p:nvPr/>
        </p:nvSpPr>
        <p:spPr>
          <a:xfrm>
            <a:off x="7245648" y="5777905"/>
            <a:ext cx="1025823"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Withings</a:t>
            </a:r>
            <a:endParaRPr lang="en-US" sz="1950" dirty="0"/>
          </a:p>
        </p:txBody>
      </p:sp>
      <p:sp>
        <p:nvSpPr>
          <p:cNvPr id="24" name="Shape 22"/>
          <p:cNvSpPr/>
          <p:nvPr/>
        </p:nvSpPr>
        <p:spPr>
          <a:xfrm>
            <a:off x="8582620" y="5638205"/>
            <a:ext cx="1168698"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5" name="Text 23"/>
          <p:cNvSpPr/>
          <p:nvPr/>
        </p:nvSpPr>
        <p:spPr>
          <a:xfrm>
            <a:off x="8836620" y="5777905"/>
            <a:ext cx="736898"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Coros</a:t>
            </a:r>
            <a:endParaRPr lang="en-US" sz="1950" dirty="0"/>
          </a:p>
        </p:txBody>
      </p:sp>
      <p:sp>
        <p:nvSpPr>
          <p:cNvPr id="26" name="Shape 24"/>
          <p:cNvSpPr/>
          <p:nvPr/>
        </p:nvSpPr>
        <p:spPr>
          <a:xfrm>
            <a:off x="9884669" y="5638205"/>
            <a:ext cx="1333699"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7" name="Text 25"/>
          <p:cNvSpPr/>
          <p:nvPr/>
        </p:nvSpPr>
        <p:spPr>
          <a:xfrm>
            <a:off x="10138669" y="5777905"/>
            <a:ext cx="901899"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Amazfit</a:t>
            </a:r>
            <a:endParaRPr lang="en-US" sz="1950" dirty="0"/>
          </a:p>
        </p:txBody>
      </p:sp>
      <p:sp>
        <p:nvSpPr>
          <p:cNvPr id="28" name="Shape 26"/>
          <p:cNvSpPr/>
          <p:nvPr/>
        </p:nvSpPr>
        <p:spPr>
          <a:xfrm>
            <a:off x="11351716" y="5638205"/>
            <a:ext cx="1292920"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9" name="Text 27"/>
          <p:cNvSpPr/>
          <p:nvPr/>
        </p:nvSpPr>
        <p:spPr>
          <a:xfrm>
            <a:off x="11605716" y="5777905"/>
            <a:ext cx="86112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Suunto</a:t>
            </a:r>
            <a:endParaRPr lang="en-US" sz="1950" dirty="0"/>
          </a:p>
        </p:txBody>
      </p:sp>
      <p:sp>
        <p:nvSpPr>
          <p:cNvPr id="30" name="Shape 28"/>
          <p:cNvSpPr/>
          <p:nvPr/>
        </p:nvSpPr>
        <p:spPr>
          <a:xfrm>
            <a:off x="12777986" y="5638205"/>
            <a:ext cx="1521817" cy="5588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31" name="Text 29"/>
          <p:cNvSpPr/>
          <p:nvPr/>
        </p:nvSpPr>
        <p:spPr>
          <a:xfrm>
            <a:off x="13031986" y="5777905"/>
            <a:ext cx="1090017"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Wear OS</a:t>
            </a:r>
            <a:endParaRPr lang="en-US" sz="1950" dirty="0"/>
          </a:p>
        </p:txBody>
      </p:sp>
      <p:sp>
        <p:nvSpPr>
          <p:cNvPr id="32" name="Shape 30"/>
          <p:cNvSpPr/>
          <p:nvPr/>
        </p:nvSpPr>
        <p:spPr>
          <a:xfrm>
            <a:off x="14433154" y="5638205"/>
            <a:ext cx="1960066" cy="558800"/>
          </a:xfrm>
          <a:prstGeom prst="roundRect">
            <a:avLst>
              <a:gd name="adj" fmla="val 50000"/>
            </a:avLst>
          </a:prstGeom>
          <a:solidFill>
            <a:srgbClr val="E7F0EC"/>
          </a:solidFill>
          <a:ln w="6350">
            <a:solidFill>
              <a:srgbClr val="2F8F7F">
                <a:alpha val="30000"/>
              </a:srgbClr>
            </a:solidFill>
            <a:prstDash val="solid"/>
          </a:ln>
        </p:spPr>
        <p:txBody>
          <a:bodyPr/>
          <a:lstStyle/>
          <a:p>
            <a:endParaRPr lang="de-DE"/>
          </a:p>
        </p:txBody>
      </p:sp>
      <p:sp>
        <p:nvSpPr>
          <p:cNvPr id="33" name="Text 31"/>
          <p:cNvSpPr/>
          <p:nvPr/>
        </p:nvSpPr>
        <p:spPr>
          <a:xfrm>
            <a:off x="14687154" y="5777905"/>
            <a:ext cx="1528266"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246B5F"/>
                </a:solidFill>
                <a:latin typeface="Arial" pitchFamily="34" charset="0"/>
                <a:ea typeface="Arial" pitchFamily="34" charset="-122"/>
                <a:cs typeface="Arial" pitchFamily="34" charset="-120"/>
              </a:rPr>
              <a:t>+ many more</a:t>
            </a:r>
            <a:endParaRPr lang="en-US" sz="1950" dirty="0"/>
          </a:p>
        </p:txBody>
      </p:sp>
      <p:sp>
        <p:nvSpPr>
          <p:cNvPr id="34" name="Text 32"/>
          <p:cNvSpPr/>
          <p:nvPr/>
        </p:nvSpPr>
        <p:spPr>
          <a:xfrm>
            <a:off x="5772150" y="6501805"/>
            <a:ext cx="12761595" cy="375841"/>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B2A26">
                    <a:alpha val="40000"/>
                  </a:srgbClr>
                </a:solidFill>
                <a:latin typeface="Arial" pitchFamily="34" charset="0"/>
                <a:ea typeface="Arial" pitchFamily="34" charset="-122"/>
                <a:cs typeface="Arial" pitchFamily="34" charset="-120"/>
              </a:rPr>
              <a:t>Connected through </a:t>
            </a:r>
            <a:r>
              <a:rPr lang="en-US" sz="1800" b="1" dirty="0">
                <a:solidFill>
                  <a:srgbClr val="2B2A26">
                    <a:alpha val="55000"/>
                  </a:srgbClr>
                </a:solidFill>
                <a:latin typeface="Arial" pitchFamily="34" charset="0"/>
                <a:ea typeface="Arial" pitchFamily="34" charset="-122"/>
                <a:cs typeface="Arial" pitchFamily="34" charset="-120"/>
              </a:rPr>
              <a:t>Google Health Connect </a:t>
            </a:r>
            <a:r>
              <a:rPr lang="en-US" sz="1800" dirty="0">
                <a:solidFill>
                  <a:srgbClr val="2B2A26">
                    <a:alpha val="40000"/>
                  </a:srgbClr>
                </a:solidFill>
                <a:latin typeface="Arial" pitchFamily="34" charset="0"/>
                <a:ea typeface="Arial" pitchFamily="34" charset="-122"/>
                <a:cs typeface="Arial" pitchFamily="34" charset="-120"/>
              </a:rPr>
              <a:t>— Apple Health &amp; Oura are on the roadmap.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914400" y="74295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THE SCORE · THE SENSOR</a:t>
            </a:r>
            <a:endParaRPr lang="en-US" sz="1800" dirty="0"/>
          </a:p>
        </p:txBody>
      </p:sp>
      <p:sp>
        <p:nvSpPr>
          <p:cNvPr id="3" name="Text 1"/>
          <p:cNvSpPr/>
          <p:nvPr/>
        </p:nvSpPr>
        <p:spPr>
          <a:xfrm>
            <a:off x="914400" y="114300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An energy score you can actually read.</a:t>
            </a:r>
            <a:endParaRPr lang="en-US" sz="4800" dirty="0"/>
          </a:p>
        </p:txBody>
      </p:sp>
      <p:sp>
        <p:nvSpPr>
          <p:cNvPr id="4" name="Text 2"/>
          <p:cNvSpPr/>
          <p:nvPr/>
        </p:nvSpPr>
        <p:spPr>
          <a:xfrm>
            <a:off x="914400" y="2222500"/>
            <a:ext cx="5867400"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0–100 Workday Energy </a:t>
            </a:r>
            <a:r>
              <a:rPr lang="en-US" sz="1800" dirty="0">
                <a:solidFill>
                  <a:srgbClr val="2B2A26">
                    <a:alpha val="40000"/>
                  </a:srgbClr>
                </a:solidFill>
                <a:latin typeface="Arial" pitchFamily="34" charset="0"/>
                <a:ea typeface="Arial" pitchFamily="34" charset="-122"/>
                <a:cs typeface="Arial" pitchFamily="34" charset="-120"/>
              </a:rPr>
              <a:t>— composition</a:t>
            </a:r>
            <a:endParaRPr lang="en-US" sz="2250" dirty="0"/>
          </a:p>
        </p:txBody>
      </p:sp>
      <p:sp>
        <p:nvSpPr>
          <p:cNvPr id="5" name="Text 3"/>
          <p:cNvSpPr/>
          <p:nvPr/>
        </p:nvSpPr>
        <p:spPr>
          <a:xfrm>
            <a:off x="914400" y="2781300"/>
            <a:ext cx="2306578"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Recovery foundation</a:t>
            </a:r>
            <a:endParaRPr lang="en-US" sz="1800" dirty="0"/>
          </a:p>
        </p:txBody>
      </p:sp>
      <p:sp>
        <p:nvSpPr>
          <p:cNvPr id="6" name="Text 4"/>
          <p:cNvSpPr/>
          <p:nvPr/>
        </p:nvSpPr>
        <p:spPr>
          <a:xfrm>
            <a:off x="5790804" y="2781300"/>
            <a:ext cx="53379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40%</a:t>
            </a:r>
            <a:endParaRPr lang="en-US" sz="1800" dirty="0"/>
          </a:p>
        </p:txBody>
      </p:sp>
      <p:sp>
        <p:nvSpPr>
          <p:cNvPr id="7" name="Shape 5"/>
          <p:cNvSpPr/>
          <p:nvPr/>
        </p:nvSpPr>
        <p:spPr>
          <a:xfrm>
            <a:off x="914400" y="3124200"/>
            <a:ext cx="5334000" cy="152400"/>
          </a:xfrm>
          <a:prstGeom prst="roundRect">
            <a:avLst>
              <a:gd name="adj" fmla="val 50000"/>
            </a:avLst>
          </a:prstGeom>
          <a:solidFill>
            <a:srgbClr val="2B2A26">
              <a:alpha val="10000"/>
            </a:srgbClr>
          </a:solidFill>
          <a:ln/>
        </p:spPr>
        <p:txBody>
          <a:bodyPr/>
          <a:lstStyle/>
          <a:p>
            <a:endParaRPr lang="de-DE"/>
          </a:p>
        </p:txBody>
      </p:sp>
      <p:sp>
        <p:nvSpPr>
          <p:cNvPr id="8" name="Shape 6"/>
          <p:cNvSpPr/>
          <p:nvPr/>
        </p:nvSpPr>
        <p:spPr>
          <a:xfrm>
            <a:off x="914400" y="3124200"/>
            <a:ext cx="2133600" cy="152400"/>
          </a:xfrm>
          <a:prstGeom prst="roundRect">
            <a:avLst>
              <a:gd name="adj" fmla="val 50000"/>
            </a:avLst>
          </a:prstGeom>
          <a:solidFill>
            <a:srgbClr val="2F8F7F"/>
          </a:solidFill>
          <a:ln/>
        </p:spPr>
        <p:txBody>
          <a:bodyPr/>
          <a:lstStyle/>
          <a:p>
            <a:endParaRPr lang="de-DE"/>
          </a:p>
        </p:txBody>
      </p:sp>
      <p:sp>
        <p:nvSpPr>
          <p:cNvPr id="9" name="Text 7"/>
          <p:cNvSpPr/>
          <p:nvPr/>
        </p:nvSpPr>
        <p:spPr>
          <a:xfrm>
            <a:off x="914400" y="3448050"/>
            <a:ext cx="1532880"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Workday load</a:t>
            </a:r>
            <a:endParaRPr lang="en-US" sz="1800" dirty="0"/>
          </a:p>
        </p:txBody>
      </p:sp>
      <p:sp>
        <p:nvSpPr>
          <p:cNvPr id="10" name="Text 8"/>
          <p:cNvSpPr/>
          <p:nvPr/>
        </p:nvSpPr>
        <p:spPr>
          <a:xfrm>
            <a:off x="5790804" y="3448050"/>
            <a:ext cx="53379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25%</a:t>
            </a:r>
            <a:endParaRPr lang="en-US" sz="1800" dirty="0"/>
          </a:p>
        </p:txBody>
      </p:sp>
      <p:sp>
        <p:nvSpPr>
          <p:cNvPr id="11" name="Shape 9"/>
          <p:cNvSpPr/>
          <p:nvPr/>
        </p:nvSpPr>
        <p:spPr>
          <a:xfrm>
            <a:off x="914400" y="3790950"/>
            <a:ext cx="5334000" cy="152400"/>
          </a:xfrm>
          <a:prstGeom prst="roundRect">
            <a:avLst>
              <a:gd name="adj" fmla="val 50000"/>
            </a:avLst>
          </a:prstGeom>
          <a:solidFill>
            <a:srgbClr val="2B2A26">
              <a:alpha val="10000"/>
            </a:srgbClr>
          </a:solidFill>
          <a:ln/>
        </p:spPr>
        <p:txBody>
          <a:bodyPr/>
          <a:lstStyle/>
          <a:p>
            <a:endParaRPr lang="de-DE"/>
          </a:p>
        </p:txBody>
      </p:sp>
      <p:sp>
        <p:nvSpPr>
          <p:cNvPr id="12" name="Shape 10"/>
          <p:cNvSpPr/>
          <p:nvPr/>
        </p:nvSpPr>
        <p:spPr>
          <a:xfrm>
            <a:off x="914400" y="3790950"/>
            <a:ext cx="1333500" cy="152400"/>
          </a:xfrm>
          <a:prstGeom prst="roundRect">
            <a:avLst>
              <a:gd name="adj" fmla="val 50000"/>
            </a:avLst>
          </a:prstGeom>
          <a:solidFill>
            <a:srgbClr val="2F8F7F"/>
          </a:solidFill>
          <a:ln/>
        </p:spPr>
        <p:txBody>
          <a:bodyPr/>
          <a:lstStyle/>
          <a:p>
            <a:endParaRPr lang="de-DE"/>
          </a:p>
        </p:txBody>
      </p:sp>
      <p:sp>
        <p:nvSpPr>
          <p:cNvPr id="13" name="Text 11"/>
          <p:cNvSpPr/>
          <p:nvPr/>
        </p:nvSpPr>
        <p:spPr>
          <a:xfrm>
            <a:off x="914400" y="4114800"/>
            <a:ext cx="1143496"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Movement</a:t>
            </a:r>
            <a:endParaRPr lang="en-US" sz="1800" dirty="0"/>
          </a:p>
        </p:txBody>
      </p:sp>
      <p:sp>
        <p:nvSpPr>
          <p:cNvPr id="14" name="Text 12"/>
          <p:cNvSpPr/>
          <p:nvPr/>
        </p:nvSpPr>
        <p:spPr>
          <a:xfrm>
            <a:off x="5790804" y="4114800"/>
            <a:ext cx="53379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15%</a:t>
            </a:r>
            <a:endParaRPr lang="en-US" sz="1800" dirty="0"/>
          </a:p>
        </p:txBody>
      </p:sp>
      <p:sp>
        <p:nvSpPr>
          <p:cNvPr id="15" name="Shape 13"/>
          <p:cNvSpPr/>
          <p:nvPr/>
        </p:nvSpPr>
        <p:spPr>
          <a:xfrm>
            <a:off x="914400" y="4457700"/>
            <a:ext cx="5334000" cy="152400"/>
          </a:xfrm>
          <a:prstGeom prst="roundRect">
            <a:avLst>
              <a:gd name="adj" fmla="val 50000"/>
            </a:avLst>
          </a:prstGeom>
          <a:solidFill>
            <a:srgbClr val="2B2A26">
              <a:alpha val="10000"/>
            </a:srgbClr>
          </a:solidFill>
          <a:ln/>
        </p:spPr>
        <p:txBody>
          <a:bodyPr/>
          <a:lstStyle/>
          <a:p>
            <a:endParaRPr lang="de-DE"/>
          </a:p>
        </p:txBody>
      </p:sp>
      <p:sp>
        <p:nvSpPr>
          <p:cNvPr id="16" name="Shape 14"/>
          <p:cNvSpPr/>
          <p:nvPr/>
        </p:nvSpPr>
        <p:spPr>
          <a:xfrm>
            <a:off x="914400" y="4457700"/>
            <a:ext cx="800100" cy="152400"/>
          </a:xfrm>
          <a:prstGeom prst="roundRect">
            <a:avLst>
              <a:gd name="adj" fmla="val 50000"/>
            </a:avLst>
          </a:prstGeom>
          <a:solidFill>
            <a:srgbClr val="5E86A8"/>
          </a:solidFill>
          <a:ln/>
        </p:spPr>
        <p:txBody>
          <a:bodyPr/>
          <a:lstStyle/>
          <a:p>
            <a:endParaRPr lang="de-DE"/>
          </a:p>
        </p:txBody>
      </p:sp>
      <p:sp>
        <p:nvSpPr>
          <p:cNvPr id="17" name="Text 15"/>
          <p:cNvSpPr/>
          <p:nvPr/>
        </p:nvSpPr>
        <p:spPr>
          <a:xfrm>
            <a:off x="914400" y="4781550"/>
            <a:ext cx="2250152"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Current strain signal</a:t>
            </a:r>
            <a:endParaRPr lang="en-US" sz="1800" dirty="0"/>
          </a:p>
        </p:txBody>
      </p:sp>
      <p:sp>
        <p:nvSpPr>
          <p:cNvPr id="18" name="Text 16"/>
          <p:cNvSpPr/>
          <p:nvPr/>
        </p:nvSpPr>
        <p:spPr>
          <a:xfrm>
            <a:off x="5790804" y="4781550"/>
            <a:ext cx="53379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10%</a:t>
            </a:r>
            <a:endParaRPr lang="en-US" sz="1800" dirty="0"/>
          </a:p>
        </p:txBody>
      </p:sp>
      <p:sp>
        <p:nvSpPr>
          <p:cNvPr id="19" name="Shape 17"/>
          <p:cNvSpPr/>
          <p:nvPr/>
        </p:nvSpPr>
        <p:spPr>
          <a:xfrm>
            <a:off x="914400" y="5124450"/>
            <a:ext cx="5334000" cy="152400"/>
          </a:xfrm>
          <a:prstGeom prst="roundRect">
            <a:avLst>
              <a:gd name="adj" fmla="val 50000"/>
            </a:avLst>
          </a:prstGeom>
          <a:solidFill>
            <a:srgbClr val="2B2A26">
              <a:alpha val="10000"/>
            </a:srgbClr>
          </a:solidFill>
          <a:ln/>
        </p:spPr>
        <p:txBody>
          <a:bodyPr/>
          <a:lstStyle/>
          <a:p>
            <a:endParaRPr lang="de-DE"/>
          </a:p>
        </p:txBody>
      </p:sp>
      <p:sp>
        <p:nvSpPr>
          <p:cNvPr id="20" name="Shape 18"/>
          <p:cNvSpPr/>
          <p:nvPr/>
        </p:nvSpPr>
        <p:spPr>
          <a:xfrm>
            <a:off x="914400" y="5124450"/>
            <a:ext cx="533400" cy="152400"/>
          </a:xfrm>
          <a:prstGeom prst="roundRect">
            <a:avLst>
              <a:gd name="adj" fmla="val 50000"/>
            </a:avLst>
          </a:prstGeom>
          <a:solidFill>
            <a:srgbClr val="5E86A8"/>
          </a:solidFill>
          <a:ln/>
        </p:spPr>
        <p:txBody>
          <a:bodyPr/>
          <a:lstStyle/>
          <a:p>
            <a:endParaRPr lang="de-DE"/>
          </a:p>
        </p:txBody>
      </p:sp>
      <p:sp>
        <p:nvSpPr>
          <p:cNvPr id="21" name="Text 19"/>
          <p:cNvSpPr/>
          <p:nvPr/>
        </p:nvSpPr>
        <p:spPr>
          <a:xfrm>
            <a:off x="914400" y="5448300"/>
            <a:ext cx="225080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Baseline confidence</a:t>
            </a:r>
            <a:endParaRPr lang="en-US" sz="1800" dirty="0"/>
          </a:p>
        </p:txBody>
      </p:sp>
      <p:sp>
        <p:nvSpPr>
          <p:cNvPr id="22" name="Text 20"/>
          <p:cNvSpPr/>
          <p:nvPr/>
        </p:nvSpPr>
        <p:spPr>
          <a:xfrm>
            <a:off x="5790804" y="5448300"/>
            <a:ext cx="53379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10%</a:t>
            </a:r>
            <a:endParaRPr lang="en-US" sz="1800" dirty="0"/>
          </a:p>
        </p:txBody>
      </p:sp>
      <p:sp>
        <p:nvSpPr>
          <p:cNvPr id="23" name="Shape 21"/>
          <p:cNvSpPr/>
          <p:nvPr/>
        </p:nvSpPr>
        <p:spPr>
          <a:xfrm>
            <a:off x="914400" y="5791200"/>
            <a:ext cx="5334000" cy="152400"/>
          </a:xfrm>
          <a:prstGeom prst="roundRect">
            <a:avLst>
              <a:gd name="adj" fmla="val 50000"/>
            </a:avLst>
          </a:prstGeom>
          <a:solidFill>
            <a:srgbClr val="2B2A26">
              <a:alpha val="10000"/>
            </a:srgbClr>
          </a:solidFill>
          <a:ln/>
        </p:spPr>
        <p:txBody>
          <a:bodyPr/>
          <a:lstStyle/>
          <a:p>
            <a:endParaRPr lang="de-DE"/>
          </a:p>
        </p:txBody>
      </p:sp>
      <p:sp>
        <p:nvSpPr>
          <p:cNvPr id="24" name="Shape 22"/>
          <p:cNvSpPr/>
          <p:nvPr/>
        </p:nvSpPr>
        <p:spPr>
          <a:xfrm>
            <a:off x="914400" y="5791200"/>
            <a:ext cx="533400" cy="152400"/>
          </a:xfrm>
          <a:prstGeom prst="roundRect">
            <a:avLst>
              <a:gd name="adj" fmla="val 50000"/>
            </a:avLst>
          </a:prstGeom>
          <a:solidFill>
            <a:srgbClr val="2B2A26">
              <a:alpha val="40000"/>
            </a:srgbClr>
          </a:solidFill>
          <a:ln/>
        </p:spPr>
        <p:txBody>
          <a:bodyPr/>
          <a:lstStyle/>
          <a:p>
            <a:endParaRPr lang="de-DE"/>
          </a:p>
        </p:txBody>
      </p:sp>
      <p:sp>
        <p:nvSpPr>
          <p:cNvPr id="25" name="Text 23"/>
          <p:cNvSpPr/>
          <p:nvPr/>
        </p:nvSpPr>
        <p:spPr>
          <a:xfrm>
            <a:off x="914400" y="6134100"/>
            <a:ext cx="5494020" cy="596900"/>
          </a:xfrm>
          <a:prstGeom prst="rect">
            <a:avLst/>
          </a:prstGeom>
          <a:noFill/>
          <a:ln/>
        </p:spPr>
        <p:txBody>
          <a:bodyPr wrap="square" lIns="25400" tIns="25400" rIns="25400" bIns="25400" rtlCol="0" anchor="t">
            <a:normAutofit/>
          </a:bodyPr>
          <a:lstStyle/>
          <a:p>
            <a:pPr marL="0" indent="0" algn="l">
              <a:buNone/>
            </a:pPr>
            <a:r>
              <a:rPr lang="en-US" sz="1800" dirty="0">
                <a:solidFill>
                  <a:srgbClr val="2B2A26">
                    <a:alpha val="40000"/>
                  </a:srgbClr>
                </a:solidFill>
                <a:latin typeface="Arial" pitchFamily="34" charset="0"/>
                <a:ea typeface="Arial" pitchFamily="34" charset="-122"/>
                <a:cs typeface="Arial" pitchFamily="34" charset="-120"/>
              </a:rPr>
              <a:t>Prototype weighting — explainable, not medically validated.</a:t>
            </a:r>
            <a:endParaRPr lang="en-US" sz="1800" dirty="0"/>
          </a:p>
        </p:txBody>
      </p:sp>
      <p:sp>
        <p:nvSpPr>
          <p:cNvPr id="26" name="Shape 24"/>
          <p:cNvSpPr/>
          <p:nvPr/>
        </p:nvSpPr>
        <p:spPr>
          <a:xfrm>
            <a:off x="6705600" y="2222500"/>
            <a:ext cx="10668000" cy="7321550"/>
          </a:xfrm>
          <a:prstGeom prst="roundRect">
            <a:avLst>
              <a:gd name="adj" fmla="val 3382"/>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7" name="Text 25"/>
          <p:cNvSpPr/>
          <p:nvPr/>
        </p:nvSpPr>
        <p:spPr>
          <a:xfrm>
            <a:off x="7054850" y="2571750"/>
            <a:ext cx="10966451"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alpha val="55000"/>
                  </a:srgbClr>
                </a:solidFill>
                <a:latin typeface="Arial" pitchFamily="34" charset="0"/>
                <a:ea typeface="Arial" pitchFamily="34" charset="-122"/>
                <a:cs typeface="Arial" pitchFamily="34" charset="-120"/>
              </a:rPr>
              <a:t>Always shown with the why</a:t>
            </a:r>
            <a:endParaRPr lang="en-US" sz="1800" dirty="0"/>
          </a:p>
        </p:txBody>
      </p:sp>
      <p:sp>
        <p:nvSpPr>
          <p:cNvPr id="28" name="Text 26"/>
          <p:cNvSpPr/>
          <p:nvPr/>
        </p:nvSpPr>
        <p:spPr>
          <a:xfrm>
            <a:off x="7054850" y="3009900"/>
            <a:ext cx="10966451"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3–4 explanation chips</a:t>
            </a:r>
            <a:endParaRPr lang="en-US" sz="2250" dirty="0"/>
          </a:p>
        </p:txBody>
      </p:sp>
      <p:sp>
        <p:nvSpPr>
          <p:cNvPr id="29" name="Shape 27"/>
          <p:cNvSpPr/>
          <p:nvPr/>
        </p:nvSpPr>
        <p:spPr>
          <a:xfrm>
            <a:off x="7054850" y="3492500"/>
            <a:ext cx="2515890" cy="495300"/>
          </a:xfrm>
          <a:prstGeom prst="roundRect">
            <a:avLst>
              <a:gd name="adj" fmla="val 50000"/>
            </a:avLst>
          </a:prstGeom>
          <a:solidFill>
            <a:srgbClr val="E7F0EC"/>
          </a:solidFill>
          <a:ln/>
        </p:spPr>
        <p:txBody>
          <a:bodyPr/>
          <a:lstStyle/>
          <a:p>
            <a:endParaRPr lang="de-DE"/>
          </a:p>
        </p:txBody>
      </p:sp>
      <p:sp>
        <p:nvSpPr>
          <p:cNvPr id="30" name="Text 28"/>
          <p:cNvSpPr/>
          <p:nvPr/>
        </p:nvSpPr>
        <p:spPr>
          <a:xfrm>
            <a:off x="7245350" y="3606800"/>
            <a:ext cx="2211090"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46B5F"/>
                </a:solidFill>
                <a:latin typeface="Arial" pitchFamily="34" charset="0"/>
                <a:ea typeface="Arial" pitchFamily="34" charset="-122"/>
                <a:cs typeface="Arial" pitchFamily="34" charset="-120"/>
              </a:rPr>
              <a:t>Short sleep last night</a:t>
            </a:r>
            <a:endParaRPr lang="en-US" sz="1800" dirty="0"/>
          </a:p>
        </p:txBody>
      </p:sp>
      <p:sp>
        <p:nvSpPr>
          <p:cNvPr id="31" name="Shape 29"/>
          <p:cNvSpPr/>
          <p:nvPr/>
        </p:nvSpPr>
        <p:spPr>
          <a:xfrm>
            <a:off x="9685040" y="3492500"/>
            <a:ext cx="2871391" cy="495300"/>
          </a:xfrm>
          <a:prstGeom prst="roundRect">
            <a:avLst>
              <a:gd name="adj" fmla="val 50000"/>
            </a:avLst>
          </a:prstGeom>
          <a:solidFill>
            <a:srgbClr val="E7F0EC"/>
          </a:solidFill>
          <a:ln/>
        </p:spPr>
        <p:txBody>
          <a:bodyPr/>
          <a:lstStyle/>
          <a:p>
            <a:endParaRPr lang="de-DE"/>
          </a:p>
        </p:txBody>
      </p:sp>
      <p:sp>
        <p:nvSpPr>
          <p:cNvPr id="32" name="Text 30"/>
          <p:cNvSpPr/>
          <p:nvPr/>
        </p:nvSpPr>
        <p:spPr>
          <a:xfrm>
            <a:off x="9875540" y="3606800"/>
            <a:ext cx="2576532"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46B5F"/>
                </a:solidFill>
                <a:latin typeface="Arial" pitchFamily="34" charset="0"/>
                <a:ea typeface="Arial" pitchFamily="34" charset="-122"/>
                <a:cs typeface="Arial" pitchFamily="34" charset="-120"/>
              </a:rPr>
              <a:t>5 back-to-back meetings</a:t>
            </a:r>
            <a:endParaRPr lang="en-US" sz="1800" dirty="0"/>
          </a:p>
        </p:txBody>
      </p:sp>
      <p:sp>
        <p:nvSpPr>
          <p:cNvPr id="33" name="Shape 31"/>
          <p:cNvSpPr/>
          <p:nvPr/>
        </p:nvSpPr>
        <p:spPr>
          <a:xfrm>
            <a:off x="12670731" y="3492500"/>
            <a:ext cx="2376091" cy="495300"/>
          </a:xfrm>
          <a:prstGeom prst="roundRect">
            <a:avLst>
              <a:gd name="adj" fmla="val 50000"/>
            </a:avLst>
          </a:prstGeom>
          <a:solidFill>
            <a:srgbClr val="E7F0EC"/>
          </a:solidFill>
          <a:ln/>
        </p:spPr>
        <p:txBody>
          <a:bodyPr/>
          <a:lstStyle/>
          <a:p>
            <a:endParaRPr lang="de-DE"/>
          </a:p>
        </p:txBody>
      </p:sp>
      <p:sp>
        <p:nvSpPr>
          <p:cNvPr id="34" name="Text 32"/>
          <p:cNvSpPr/>
          <p:nvPr/>
        </p:nvSpPr>
        <p:spPr>
          <a:xfrm>
            <a:off x="12861231" y="3606800"/>
            <a:ext cx="2071291"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46B5F"/>
                </a:solidFill>
                <a:latin typeface="Arial" pitchFamily="34" charset="0"/>
                <a:ea typeface="Arial" pitchFamily="34" charset="-122"/>
                <a:cs typeface="Arial" pitchFamily="34" charset="-120"/>
              </a:rPr>
              <a:t>No break in 3 hours</a:t>
            </a:r>
            <a:endParaRPr lang="en-US" sz="1800" dirty="0"/>
          </a:p>
        </p:txBody>
      </p:sp>
      <p:sp>
        <p:nvSpPr>
          <p:cNvPr id="35" name="Shape 33"/>
          <p:cNvSpPr/>
          <p:nvPr/>
        </p:nvSpPr>
        <p:spPr>
          <a:xfrm>
            <a:off x="7054850" y="4102100"/>
            <a:ext cx="2943622" cy="495300"/>
          </a:xfrm>
          <a:prstGeom prst="roundRect">
            <a:avLst>
              <a:gd name="adj" fmla="val 50000"/>
            </a:avLst>
          </a:prstGeom>
          <a:solidFill>
            <a:srgbClr val="E9EFF4"/>
          </a:solidFill>
          <a:ln/>
        </p:spPr>
        <p:txBody>
          <a:bodyPr/>
          <a:lstStyle/>
          <a:p>
            <a:endParaRPr lang="de-DE"/>
          </a:p>
        </p:txBody>
      </p:sp>
      <p:sp>
        <p:nvSpPr>
          <p:cNvPr id="36" name="Text 34"/>
          <p:cNvSpPr/>
          <p:nvPr/>
        </p:nvSpPr>
        <p:spPr>
          <a:xfrm>
            <a:off x="7245350" y="4216400"/>
            <a:ext cx="2650931"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41637E"/>
                </a:solidFill>
                <a:latin typeface="Arial" pitchFamily="34" charset="0"/>
                <a:ea typeface="Arial" pitchFamily="34" charset="-122"/>
                <a:cs typeface="Arial" pitchFamily="34" charset="-120"/>
              </a:rPr>
              <a:t>HRV below your baseline</a:t>
            </a:r>
            <a:endParaRPr lang="en-US" sz="1800" dirty="0"/>
          </a:p>
        </p:txBody>
      </p:sp>
      <p:sp>
        <p:nvSpPr>
          <p:cNvPr id="37" name="Text 35"/>
          <p:cNvSpPr/>
          <p:nvPr/>
        </p:nvSpPr>
        <p:spPr>
          <a:xfrm>
            <a:off x="7054850" y="4864100"/>
            <a:ext cx="10966451"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 exactly one recommendation</a:t>
            </a:r>
            <a:endParaRPr lang="en-US" sz="2250" dirty="0"/>
          </a:p>
        </p:txBody>
      </p:sp>
      <p:sp>
        <p:nvSpPr>
          <p:cNvPr id="38" name="Shape 36"/>
          <p:cNvSpPr/>
          <p:nvPr/>
        </p:nvSpPr>
        <p:spPr>
          <a:xfrm>
            <a:off x="7054850" y="5327650"/>
            <a:ext cx="9969501" cy="749300"/>
          </a:xfrm>
          <a:prstGeom prst="roundRect">
            <a:avLst>
              <a:gd name="adj" fmla="val 22881"/>
            </a:avLst>
          </a:prstGeom>
          <a:solidFill>
            <a:srgbClr val="246B5F"/>
          </a:solidFill>
          <a:ln/>
        </p:spPr>
        <p:txBody>
          <a:bodyPr/>
          <a:lstStyle/>
          <a:p>
            <a:endParaRPr lang="de-DE"/>
          </a:p>
        </p:txBody>
      </p:sp>
      <p:sp>
        <p:nvSpPr>
          <p:cNvPr id="39" name="Text 37"/>
          <p:cNvSpPr/>
          <p:nvPr/>
        </p:nvSpPr>
        <p:spPr>
          <a:xfrm>
            <a:off x="7302500" y="5537200"/>
            <a:ext cx="9773286" cy="368300"/>
          </a:xfrm>
          <a:prstGeom prst="rect">
            <a:avLst/>
          </a:prstGeom>
          <a:noFill/>
          <a:ln/>
        </p:spPr>
        <p:txBody>
          <a:bodyPr wrap="square" lIns="25400" tIns="25400" rIns="25400" bIns="25400" rtlCol="0" anchor="t">
            <a:normAutofit/>
          </a:bodyPr>
          <a:lstStyle/>
          <a:p>
            <a:pPr marL="0" indent="0" algn="l">
              <a:buNone/>
            </a:pPr>
            <a:r>
              <a:rPr lang="en-US" sz="1950" b="1" dirty="0">
                <a:solidFill>
                  <a:srgbClr val="FAF7F0"/>
                </a:solidFill>
                <a:latin typeface="Arial" pitchFamily="34" charset="0"/>
                <a:ea typeface="Arial" pitchFamily="34" charset="-122"/>
                <a:cs typeface="Arial" pitchFamily="34" charset="-120"/>
              </a:rPr>
              <a:t>🐼 Protect a 45-min focus block this morning — your peak energy is now.</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DE2"/>
        </a:solidFill>
        <a:effectLst/>
      </p:bgPr>
    </p:bg>
    <p:spTree>
      <p:nvGrpSpPr>
        <p:cNvPr id="1" name=""/>
        <p:cNvGrpSpPr/>
        <p:nvPr/>
      </p:nvGrpSpPr>
      <p:grpSpPr>
        <a:xfrm>
          <a:off x="0" y="0"/>
          <a:ext cx="0" cy="0"/>
          <a:chOff x="0" y="0"/>
          <a:chExt cx="0" cy="0"/>
        </a:xfrm>
      </p:grpSpPr>
      <p:sp>
        <p:nvSpPr>
          <p:cNvPr id="2" name="Text 0"/>
          <p:cNvSpPr/>
          <p:nvPr/>
        </p:nvSpPr>
        <p:spPr>
          <a:xfrm>
            <a:off x="914400" y="70485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THE ACTION LAYER · THE PRODUCT</a:t>
            </a:r>
            <a:endParaRPr lang="en-US" sz="1800" dirty="0"/>
          </a:p>
        </p:txBody>
      </p:sp>
      <p:sp>
        <p:nvSpPr>
          <p:cNvPr id="3" name="Text 1"/>
          <p:cNvSpPr/>
          <p:nvPr/>
        </p:nvSpPr>
        <p:spPr>
          <a:xfrm>
            <a:off x="914400" y="108585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Score = sensor. Actions = product.</a:t>
            </a:r>
            <a:endParaRPr lang="en-US" sz="4800" dirty="0"/>
          </a:p>
        </p:txBody>
      </p:sp>
      <p:sp>
        <p:nvSpPr>
          <p:cNvPr id="4" name="Shape 2"/>
          <p:cNvSpPr/>
          <p:nvPr/>
        </p:nvSpPr>
        <p:spPr>
          <a:xfrm>
            <a:off x="914400" y="2127250"/>
            <a:ext cx="5260876" cy="7454900"/>
          </a:xfrm>
          <a:prstGeom prst="roundRect">
            <a:avLst>
              <a:gd name="adj" fmla="val 4707"/>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5" name="Shape 3"/>
          <p:cNvSpPr/>
          <p:nvPr/>
        </p:nvSpPr>
        <p:spPr>
          <a:xfrm>
            <a:off x="1225550" y="2419350"/>
            <a:ext cx="897632" cy="381000"/>
          </a:xfrm>
          <a:prstGeom prst="roundRect">
            <a:avLst>
              <a:gd name="adj" fmla="val 50000"/>
            </a:avLst>
          </a:prstGeom>
          <a:solidFill>
            <a:srgbClr val="2F8F7F"/>
          </a:solidFill>
          <a:ln/>
        </p:spPr>
        <p:txBody>
          <a:bodyPr/>
          <a:lstStyle/>
          <a:p>
            <a:endParaRPr lang="de-DE"/>
          </a:p>
        </p:txBody>
      </p:sp>
      <p:sp>
        <p:nvSpPr>
          <p:cNvPr id="6" name="Text 4"/>
          <p:cNvSpPr/>
          <p:nvPr/>
        </p:nvSpPr>
        <p:spPr>
          <a:xfrm>
            <a:off x="1358900" y="2476500"/>
            <a:ext cx="707132"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Arial" pitchFamily="34" charset="0"/>
                <a:ea typeface="Arial" pitchFamily="34" charset="-122"/>
                <a:cs typeface="Arial" pitchFamily="34" charset="-120"/>
              </a:rPr>
              <a:t>AUTO</a:t>
            </a:r>
            <a:endParaRPr lang="en-US" sz="1800" dirty="0"/>
          </a:p>
        </p:txBody>
      </p:sp>
      <p:sp>
        <p:nvSpPr>
          <p:cNvPr id="7" name="Text 5"/>
          <p:cNvSpPr/>
          <p:nvPr/>
        </p:nvSpPr>
        <p:spPr>
          <a:xfrm>
            <a:off x="2237482" y="2476500"/>
            <a:ext cx="1742758"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alpha val="55000"/>
                  </a:srgbClr>
                </a:solidFill>
                <a:latin typeface="Arial" pitchFamily="34" charset="0"/>
                <a:ea typeface="Arial" pitchFamily="34" charset="-122"/>
                <a:cs typeface="Arial" pitchFamily="34" charset="-120"/>
              </a:rPr>
              <a:t>affects only you</a:t>
            </a:r>
            <a:endParaRPr lang="en-US" sz="1800" dirty="0"/>
          </a:p>
        </p:txBody>
      </p:sp>
      <p:sp>
        <p:nvSpPr>
          <p:cNvPr id="8" name="Text 6"/>
          <p:cNvSpPr/>
          <p:nvPr/>
        </p:nvSpPr>
        <p:spPr>
          <a:xfrm>
            <a:off x="1225550" y="3009900"/>
            <a:ext cx="261739" cy="36830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525389" y="3009900"/>
            <a:ext cx="2374999"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Protect a focus block</a:t>
            </a:r>
            <a:endParaRPr lang="en-US" sz="1950" dirty="0"/>
          </a:p>
        </p:txBody>
      </p:sp>
      <p:sp>
        <p:nvSpPr>
          <p:cNvPr id="10" name="Text 8"/>
          <p:cNvSpPr/>
          <p:nvPr/>
        </p:nvSpPr>
        <p:spPr>
          <a:xfrm>
            <a:off x="1225550" y="3492500"/>
            <a:ext cx="261739" cy="36830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11" name="Text 9"/>
          <p:cNvSpPr/>
          <p:nvPr/>
        </p:nvSpPr>
        <p:spPr>
          <a:xfrm>
            <a:off x="1525389" y="3492500"/>
            <a:ext cx="1521619"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Protect lunch</a:t>
            </a:r>
            <a:endParaRPr lang="en-US" sz="1950" dirty="0"/>
          </a:p>
        </p:txBody>
      </p:sp>
      <p:sp>
        <p:nvSpPr>
          <p:cNvPr id="12" name="Text 10"/>
          <p:cNvSpPr/>
          <p:nvPr/>
        </p:nvSpPr>
        <p:spPr>
          <a:xfrm>
            <a:off x="1225550" y="3975100"/>
            <a:ext cx="261739" cy="36830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525389" y="3975100"/>
            <a:ext cx="2717169"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Set Teams status / DND</a:t>
            </a:r>
            <a:endParaRPr lang="en-US" sz="1950" dirty="0"/>
          </a:p>
        </p:txBody>
      </p:sp>
      <p:sp>
        <p:nvSpPr>
          <p:cNvPr id="14" name="Text 12"/>
          <p:cNvSpPr/>
          <p:nvPr/>
        </p:nvSpPr>
        <p:spPr>
          <a:xfrm>
            <a:off x="1225550" y="4457700"/>
            <a:ext cx="261739" cy="36830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15" name="Text 13"/>
          <p:cNvSpPr/>
          <p:nvPr/>
        </p:nvSpPr>
        <p:spPr>
          <a:xfrm>
            <a:off x="1525389" y="4457700"/>
            <a:ext cx="4267370"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In-the-moment reset (4·4·6 breathing)</a:t>
            </a:r>
            <a:endParaRPr lang="en-US" sz="1950" dirty="0"/>
          </a:p>
        </p:txBody>
      </p:sp>
      <p:sp>
        <p:nvSpPr>
          <p:cNvPr id="16" name="Shape 14"/>
          <p:cNvSpPr/>
          <p:nvPr/>
        </p:nvSpPr>
        <p:spPr>
          <a:xfrm>
            <a:off x="6403876" y="2127250"/>
            <a:ext cx="5260975" cy="7454900"/>
          </a:xfrm>
          <a:prstGeom prst="roundRect">
            <a:avLst>
              <a:gd name="adj" fmla="val 4707"/>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7" name="Shape 15"/>
          <p:cNvSpPr/>
          <p:nvPr/>
        </p:nvSpPr>
        <p:spPr>
          <a:xfrm>
            <a:off x="6715026" y="2495550"/>
            <a:ext cx="1384498" cy="381000"/>
          </a:xfrm>
          <a:prstGeom prst="roundRect">
            <a:avLst>
              <a:gd name="adj" fmla="val 50000"/>
            </a:avLst>
          </a:prstGeom>
          <a:solidFill>
            <a:srgbClr val="5E86A8"/>
          </a:solidFill>
          <a:ln/>
        </p:spPr>
        <p:txBody>
          <a:bodyPr/>
          <a:lstStyle/>
          <a:p>
            <a:endParaRPr lang="de-DE"/>
          </a:p>
        </p:txBody>
      </p:sp>
      <p:sp>
        <p:nvSpPr>
          <p:cNvPr id="18" name="Text 16"/>
          <p:cNvSpPr/>
          <p:nvPr/>
        </p:nvSpPr>
        <p:spPr>
          <a:xfrm>
            <a:off x="6848376" y="2552700"/>
            <a:ext cx="1193998"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Arial" pitchFamily="34" charset="0"/>
                <a:ea typeface="Arial" pitchFamily="34" charset="-122"/>
                <a:cs typeface="Arial" pitchFamily="34" charset="-120"/>
              </a:rPr>
              <a:t>SUGGEST</a:t>
            </a:r>
            <a:endParaRPr lang="en-US" sz="1800" dirty="0"/>
          </a:p>
        </p:txBody>
      </p:sp>
      <p:sp>
        <p:nvSpPr>
          <p:cNvPr id="19" name="Text 17"/>
          <p:cNvSpPr/>
          <p:nvPr/>
        </p:nvSpPr>
        <p:spPr>
          <a:xfrm>
            <a:off x="8213824" y="2419350"/>
            <a:ext cx="3234073" cy="5715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alpha val="55000"/>
                  </a:srgbClr>
                </a:solidFill>
                <a:latin typeface="Arial" pitchFamily="34" charset="0"/>
                <a:ea typeface="Arial" pitchFamily="34" charset="-122"/>
                <a:cs typeface="Arial" pitchFamily="34" charset="-120"/>
              </a:rPr>
              <a:t>affects others → 1-click confirm</a:t>
            </a:r>
            <a:endParaRPr lang="en-US" sz="1800" dirty="0"/>
          </a:p>
        </p:txBody>
      </p:sp>
      <p:sp>
        <p:nvSpPr>
          <p:cNvPr id="20" name="Text 18"/>
          <p:cNvSpPr/>
          <p:nvPr/>
        </p:nvSpPr>
        <p:spPr>
          <a:xfrm>
            <a:off x="6715026" y="3162300"/>
            <a:ext cx="32385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5E86A8"/>
                </a:solidFill>
                <a:latin typeface="Arial" pitchFamily="34" charset="0"/>
                <a:ea typeface="Arial" pitchFamily="34" charset="-122"/>
                <a:cs typeface="Arial" pitchFamily="34" charset="-120"/>
              </a:rPr>
              <a:t>→</a:t>
            </a:r>
            <a:endParaRPr lang="en-US" sz="1950" dirty="0"/>
          </a:p>
        </p:txBody>
      </p:sp>
      <p:sp>
        <p:nvSpPr>
          <p:cNvPr id="21" name="Text 19"/>
          <p:cNvSpPr/>
          <p:nvPr/>
        </p:nvSpPr>
        <p:spPr>
          <a:xfrm>
            <a:off x="7076976" y="3162300"/>
            <a:ext cx="4140035"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Smart reschedule (Outlook deeplink)</a:t>
            </a:r>
            <a:endParaRPr lang="en-US" sz="1950" dirty="0"/>
          </a:p>
        </p:txBody>
      </p:sp>
      <p:sp>
        <p:nvSpPr>
          <p:cNvPr id="22" name="Text 20"/>
          <p:cNvSpPr/>
          <p:nvPr/>
        </p:nvSpPr>
        <p:spPr>
          <a:xfrm>
            <a:off x="6715026" y="3594100"/>
            <a:ext cx="32385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5E86A8"/>
                </a:solidFill>
                <a:latin typeface="Arial" pitchFamily="34" charset="0"/>
                <a:ea typeface="Arial" pitchFamily="34" charset="-122"/>
                <a:cs typeface="Arial" pitchFamily="34" charset="-120"/>
              </a:rPr>
              <a:t>→</a:t>
            </a:r>
            <a:endParaRPr lang="en-US" sz="1950" dirty="0"/>
          </a:p>
        </p:txBody>
      </p:sp>
      <p:sp>
        <p:nvSpPr>
          <p:cNvPr id="23" name="Text 21"/>
          <p:cNvSpPr/>
          <p:nvPr/>
        </p:nvSpPr>
        <p:spPr>
          <a:xfrm>
            <a:off x="7076976" y="3594100"/>
            <a:ext cx="3653789"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Add a buffer · shorten a meeting</a:t>
            </a:r>
            <a:endParaRPr lang="en-US" sz="1950" dirty="0"/>
          </a:p>
        </p:txBody>
      </p:sp>
      <p:sp>
        <p:nvSpPr>
          <p:cNvPr id="24" name="Text 22"/>
          <p:cNvSpPr/>
          <p:nvPr/>
        </p:nvSpPr>
        <p:spPr>
          <a:xfrm>
            <a:off x="6715026" y="4025900"/>
            <a:ext cx="323850" cy="317500"/>
          </a:xfrm>
          <a:prstGeom prst="rect">
            <a:avLst/>
          </a:prstGeom>
          <a:noFill/>
          <a:ln/>
        </p:spPr>
        <p:txBody>
          <a:bodyPr wrap="square" lIns="25400" tIns="25400" rIns="25400" bIns="25400" rtlCol="0" anchor="t">
            <a:normAutofit/>
          </a:bodyPr>
          <a:lstStyle/>
          <a:p>
            <a:pPr marL="0" indent="0" algn="l">
              <a:buNone/>
            </a:pPr>
            <a:r>
              <a:rPr lang="en-US" sz="1950" b="1" dirty="0">
                <a:solidFill>
                  <a:srgbClr val="5E86A8"/>
                </a:solidFill>
                <a:latin typeface="Arial" pitchFamily="34" charset="0"/>
                <a:ea typeface="Arial" pitchFamily="34" charset="-122"/>
                <a:cs typeface="Arial" pitchFamily="34" charset="-120"/>
              </a:rPr>
              <a:t>→</a:t>
            </a:r>
            <a:endParaRPr lang="en-US" sz="1950" dirty="0"/>
          </a:p>
        </p:txBody>
      </p:sp>
      <p:sp>
        <p:nvSpPr>
          <p:cNvPr id="25" name="Text 23"/>
          <p:cNvSpPr/>
          <p:nvPr/>
        </p:nvSpPr>
        <p:spPr>
          <a:xfrm>
            <a:off x="7076976" y="4025900"/>
            <a:ext cx="1590179" cy="3111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Make it async</a:t>
            </a:r>
            <a:endParaRPr lang="en-US" sz="1950" dirty="0"/>
          </a:p>
        </p:txBody>
      </p:sp>
      <p:sp>
        <p:nvSpPr>
          <p:cNvPr id="26" name="Text 24"/>
          <p:cNvSpPr/>
          <p:nvPr/>
        </p:nvSpPr>
        <p:spPr>
          <a:xfrm>
            <a:off x="6715026" y="4457700"/>
            <a:ext cx="323850" cy="596900"/>
          </a:xfrm>
          <a:prstGeom prst="rect">
            <a:avLst/>
          </a:prstGeom>
          <a:noFill/>
          <a:ln/>
        </p:spPr>
        <p:txBody>
          <a:bodyPr wrap="square" lIns="25400" tIns="25400" rIns="25400" bIns="25400" rtlCol="0" anchor="t">
            <a:normAutofit/>
          </a:bodyPr>
          <a:lstStyle/>
          <a:p>
            <a:pPr marL="0" indent="0" algn="l">
              <a:buNone/>
            </a:pPr>
            <a:r>
              <a:rPr lang="en-US" sz="1950" b="1" dirty="0">
                <a:solidFill>
                  <a:srgbClr val="5E86A8"/>
                </a:solidFill>
                <a:latin typeface="Arial" pitchFamily="34" charset="0"/>
                <a:ea typeface="Arial" pitchFamily="34" charset="-122"/>
                <a:cs typeface="Arial" pitchFamily="34" charset="-120"/>
              </a:rPr>
              <a:t>→</a:t>
            </a:r>
            <a:endParaRPr lang="en-US" sz="1950" dirty="0"/>
          </a:p>
        </p:txBody>
      </p:sp>
      <p:sp>
        <p:nvSpPr>
          <p:cNvPr id="27" name="Text 25"/>
          <p:cNvSpPr/>
          <p:nvPr/>
        </p:nvSpPr>
        <p:spPr>
          <a:xfrm>
            <a:off x="7076976" y="4457700"/>
            <a:ext cx="3757517" cy="590550"/>
          </a:xfrm>
          <a:prstGeom prst="rect">
            <a:avLst/>
          </a:prstGeom>
          <a:noFill/>
          <a:ln/>
        </p:spPr>
        <p:txBody>
          <a:bodyPr wrap="square" lIns="0" tIns="0" rIns="0" bIns="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Decline an optional meeting (with draft)</a:t>
            </a:r>
            <a:endParaRPr lang="en-US" sz="1950" dirty="0"/>
          </a:p>
        </p:txBody>
      </p:sp>
      <p:sp>
        <p:nvSpPr>
          <p:cNvPr id="28" name="Shape 26"/>
          <p:cNvSpPr/>
          <p:nvPr/>
        </p:nvSpPr>
        <p:spPr>
          <a:xfrm>
            <a:off x="11893451" y="2127250"/>
            <a:ext cx="5480149" cy="7454900"/>
          </a:xfrm>
          <a:prstGeom prst="roundRect">
            <a:avLst>
              <a:gd name="adj" fmla="val 4519"/>
            </a:avLst>
          </a:prstGeom>
          <a:solidFill>
            <a:srgbClr val="246B5F"/>
          </a:solidFill>
          <a:ln/>
          <a:effectLst>
            <a:outerShdw blurRad="419100" dist="133350" dir="5400000" algn="bl" rotWithShape="0">
              <a:srgbClr val="2B2A26">
                <a:alpha val="12000"/>
              </a:srgbClr>
            </a:outerShdw>
          </a:effectLst>
        </p:spPr>
        <p:txBody>
          <a:bodyPr/>
          <a:lstStyle/>
          <a:p>
            <a:endParaRPr lang="de-DE"/>
          </a:p>
        </p:txBody>
      </p:sp>
      <p:sp>
        <p:nvSpPr>
          <p:cNvPr id="29" name="Text 27"/>
          <p:cNvSpPr/>
          <p:nvPr/>
        </p:nvSpPr>
        <p:spPr>
          <a:xfrm>
            <a:off x="12198251" y="2413000"/>
            <a:ext cx="5357604" cy="3048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alpha val="60000"/>
                  </a:srgbClr>
                </a:solidFill>
                <a:latin typeface="Arial" pitchFamily="34" charset="0"/>
                <a:ea typeface="Arial" pitchFamily="34" charset="-122"/>
                <a:cs typeface="Arial" pitchFamily="34" charset="-120"/>
              </a:rPr>
              <a:t>TEAMS · ADAPTIVE CARD</a:t>
            </a:r>
            <a:endParaRPr lang="en-US" sz="1800" dirty="0"/>
          </a:p>
        </p:txBody>
      </p:sp>
      <p:sp>
        <p:nvSpPr>
          <p:cNvPr id="30" name="Text 28"/>
          <p:cNvSpPr/>
          <p:nvPr/>
        </p:nvSpPr>
        <p:spPr>
          <a:xfrm>
            <a:off x="12198251" y="2832100"/>
            <a:ext cx="5016666" cy="731441"/>
          </a:xfrm>
          <a:prstGeom prst="rect">
            <a:avLst/>
          </a:prstGeom>
          <a:noFill/>
          <a:ln/>
        </p:spPr>
        <p:txBody>
          <a:bodyPr wrap="square" lIns="25400" tIns="25400" rIns="25400" bIns="25400" rtlCol="0" anchor="t">
            <a:normAutofit/>
          </a:bodyPr>
          <a:lstStyle/>
          <a:p>
            <a:pPr marL="0" indent="0" algn="l">
              <a:lnSpc>
                <a:spcPct val="140000"/>
              </a:lnSpc>
              <a:buNone/>
            </a:pPr>
            <a:r>
              <a:rPr lang="en-US" sz="1950" b="1" dirty="0">
                <a:solidFill>
                  <a:srgbClr val="FAF7F0"/>
                </a:solidFill>
                <a:latin typeface="Arial" pitchFamily="34" charset="0"/>
                <a:ea typeface="Arial" pitchFamily="34" charset="-122"/>
                <a:cs typeface="Arial" pitchFamily="34" charset="-120"/>
              </a:rPr>
              <a:t>🐼 Two back-to-back reviews before your 3pm. Want a 15-min buffer?</a:t>
            </a:r>
            <a:endParaRPr lang="en-US" sz="1950" dirty="0"/>
          </a:p>
        </p:txBody>
      </p:sp>
      <p:sp>
        <p:nvSpPr>
          <p:cNvPr id="31" name="Shape 29"/>
          <p:cNvSpPr/>
          <p:nvPr/>
        </p:nvSpPr>
        <p:spPr>
          <a:xfrm>
            <a:off x="12198251" y="7581900"/>
            <a:ext cx="4870549" cy="533400"/>
          </a:xfrm>
          <a:prstGeom prst="roundRect">
            <a:avLst>
              <a:gd name="adj" fmla="val 21429"/>
            </a:avLst>
          </a:prstGeom>
          <a:solidFill>
            <a:srgbClr val="FFFFFF"/>
          </a:solidFill>
          <a:ln/>
        </p:spPr>
        <p:txBody>
          <a:bodyPr/>
          <a:lstStyle/>
          <a:p>
            <a:endParaRPr lang="de-DE"/>
          </a:p>
        </p:txBody>
      </p:sp>
      <p:sp>
        <p:nvSpPr>
          <p:cNvPr id="32" name="Text 30"/>
          <p:cNvSpPr/>
          <p:nvPr/>
        </p:nvSpPr>
        <p:spPr>
          <a:xfrm>
            <a:off x="12258543" y="7715250"/>
            <a:ext cx="4749966" cy="304800"/>
          </a:xfrm>
          <a:prstGeom prst="rect">
            <a:avLst/>
          </a:prstGeom>
          <a:noFill/>
          <a:ln/>
        </p:spPr>
        <p:txBody>
          <a:bodyPr wrap="square" lIns="25400" tIns="25400" rIns="25400" bIns="25400" rtlCol="0" anchor="t">
            <a:normAutofit/>
          </a:bodyPr>
          <a:lstStyle/>
          <a:p>
            <a:pPr marL="0" indent="0" algn="ctr">
              <a:buNone/>
            </a:pPr>
            <a:r>
              <a:rPr lang="en-US" sz="1800" b="1" dirty="0">
                <a:solidFill>
                  <a:srgbClr val="246B5F"/>
                </a:solidFill>
                <a:latin typeface="Arial" pitchFamily="34" charset="0"/>
                <a:ea typeface="Arial" pitchFamily="34" charset="-122"/>
                <a:cs typeface="Arial" pitchFamily="34" charset="-120"/>
              </a:rPr>
              <a:t>Add buffer</a:t>
            </a:r>
            <a:endParaRPr lang="en-US" sz="1800" dirty="0"/>
          </a:p>
        </p:txBody>
      </p:sp>
      <p:sp>
        <p:nvSpPr>
          <p:cNvPr id="33" name="Shape 31"/>
          <p:cNvSpPr/>
          <p:nvPr/>
        </p:nvSpPr>
        <p:spPr>
          <a:xfrm>
            <a:off x="12198251" y="8229600"/>
            <a:ext cx="4870549" cy="533400"/>
          </a:xfrm>
          <a:prstGeom prst="roundRect">
            <a:avLst>
              <a:gd name="adj" fmla="val 21429"/>
            </a:avLst>
          </a:prstGeom>
          <a:solidFill>
            <a:srgbClr val="FFFFFF">
              <a:alpha val="16000"/>
            </a:srgbClr>
          </a:solidFill>
          <a:ln/>
        </p:spPr>
        <p:txBody>
          <a:bodyPr/>
          <a:lstStyle/>
          <a:p>
            <a:endParaRPr lang="de-DE"/>
          </a:p>
        </p:txBody>
      </p:sp>
      <p:sp>
        <p:nvSpPr>
          <p:cNvPr id="34" name="Text 32"/>
          <p:cNvSpPr/>
          <p:nvPr/>
        </p:nvSpPr>
        <p:spPr>
          <a:xfrm>
            <a:off x="12258543" y="8362950"/>
            <a:ext cx="4749966" cy="304800"/>
          </a:xfrm>
          <a:prstGeom prst="rect">
            <a:avLst/>
          </a:prstGeom>
          <a:noFill/>
          <a:ln/>
        </p:spPr>
        <p:txBody>
          <a:bodyPr wrap="square" lIns="25400" tIns="25400" rIns="25400" bIns="25400" rtlCol="0" anchor="t">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Make it async</a:t>
            </a:r>
            <a:endParaRPr lang="en-US" sz="1800" dirty="0"/>
          </a:p>
        </p:txBody>
      </p:sp>
      <p:sp>
        <p:nvSpPr>
          <p:cNvPr id="35" name="Text 33"/>
          <p:cNvSpPr/>
          <p:nvPr/>
        </p:nvSpPr>
        <p:spPr>
          <a:xfrm>
            <a:off x="12201393" y="8953500"/>
            <a:ext cx="4864266" cy="304800"/>
          </a:xfrm>
          <a:prstGeom prst="rect">
            <a:avLst/>
          </a:prstGeom>
          <a:noFill/>
          <a:ln/>
        </p:spPr>
        <p:txBody>
          <a:bodyPr wrap="square" lIns="25400" tIns="25400" rIns="25400" bIns="25400" rtlCol="0" anchor="t">
            <a:normAutofit/>
          </a:bodyPr>
          <a:lstStyle/>
          <a:p>
            <a:pPr marL="0" indent="0" algn="ctr">
              <a:buNone/>
            </a:pPr>
            <a:r>
              <a:rPr lang="en-US" sz="1800" b="1" dirty="0">
                <a:solidFill>
                  <a:srgbClr val="FFFFFF">
                    <a:alpha val="75000"/>
                  </a:srgbClr>
                </a:solidFill>
                <a:latin typeface="Arial" pitchFamily="34" charset="0"/>
                <a:ea typeface="Arial" pitchFamily="34" charset="-122"/>
                <a:cs typeface="Arial" pitchFamily="34" charset="-120"/>
              </a:rPr>
              <a:t>Not now</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914400" y="2394248"/>
            <a:ext cx="5905500" cy="5498505"/>
          </a:xfrm>
          <a:prstGeom prst="roundRect">
            <a:avLst>
              <a:gd name="adj" fmla="val 4504"/>
            </a:avLst>
          </a:prstGeom>
          <a:solidFill>
            <a:srgbClr val="FFFFFF"/>
          </a:solidFill>
          <a:ln w="6350">
            <a:solidFill>
              <a:srgbClr val="2B2A26">
                <a:alpha val="10000"/>
              </a:srgbClr>
            </a:solidFill>
            <a:prstDash val="solid"/>
          </a:ln>
          <a:effectLst>
            <a:outerShdw blurRad="419100" dist="133350" dir="5400000" algn="bl" rotWithShape="0">
              <a:srgbClr val="2B2A26">
                <a:alpha val="12000"/>
              </a:srgbClr>
            </a:outerShdw>
          </a:effectLst>
        </p:spPr>
        <p:txBody>
          <a:bodyPr/>
          <a:lstStyle/>
          <a:p>
            <a:endParaRPr lang="de-DE"/>
          </a:p>
        </p:txBody>
      </p:sp>
      <p:sp>
        <p:nvSpPr>
          <p:cNvPr id="3" name="Shape 1"/>
          <p:cNvSpPr/>
          <p:nvPr/>
        </p:nvSpPr>
        <p:spPr>
          <a:xfrm>
            <a:off x="1225550" y="3295948"/>
            <a:ext cx="5283200" cy="9525"/>
          </a:xfrm>
          <a:prstGeom prst="rect">
            <a:avLst/>
          </a:prstGeom>
          <a:solidFill>
            <a:srgbClr val="2B2A26">
              <a:alpha val="10000"/>
            </a:srgbClr>
          </a:solidFill>
          <a:ln/>
        </p:spPr>
        <p:txBody>
          <a:bodyPr/>
          <a:lstStyle/>
          <a:p>
            <a:endParaRPr lang="de-DE"/>
          </a:p>
        </p:txBody>
      </p:sp>
      <p:sp>
        <p:nvSpPr>
          <p:cNvPr id="4" name="Shape 2"/>
          <p:cNvSpPr/>
          <p:nvPr/>
        </p:nvSpPr>
        <p:spPr>
          <a:xfrm>
            <a:off x="1225550" y="2705398"/>
            <a:ext cx="438150" cy="438150"/>
          </a:xfrm>
          <a:prstGeom prst="ellipse">
            <a:avLst/>
          </a:prstGeom>
          <a:solidFill>
            <a:srgbClr val="E7F0EC"/>
          </a:solidFill>
          <a:ln/>
        </p:spPr>
        <p:txBody>
          <a:bodyPr/>
          <a:lstStyle/>
          <a:p>
            <a:endParaRPr lang="de-DE"/>
          </a:p>
        </p:txBody>
      </p:sp>
      <p:sp>
        <p:nvSpPr>
          <p:cNvPr id="5" name="Text 3"/>
          <p:cNvSpPr/>
          <p:nvPr/>
        </p:nvSpPr>
        <p:spPr>
          <a:xfrm>
            <a:off x="1187450" y="2705398"/>
            <a:ext cx="514350" cy="476250"/>
          </a:xfrm>
          <a:prstGeom prst="rect">
            <a:avLst/>
          </a:prstGeom>
          <a:noFill/>
          <a:ln/>
        </p:spPr>
        <p:txBody>
          <a:bodyPr wrap="square" lIns="25400" tIns="25400" rIns="25400" bIns="25400" rtlCol="0" anchor="ctr">
            <a:normAutofit/>
          </a:bodyPr>
          <a:lstStyle/>
          <a:p>
            <a:pPr marL="0" indent="0" algn="ctr">
              <a:buNone/>
            </a:pPr>
            <a:r>
              <a:rPr lang="en-US" sz="1950" dirty="0">
                <a:solidFill>
                  <a:srgbClr val="2B2A26"/>
                </a:solidFill>
                <a:latin typeface="Arial" pitchFamily="34" charset="0"/>
                <a:ea typeface="Arial" pitchFamily="34" charset="-122"/>
                <a:cs typeface="Arial" pitchFamily="34" charset="-120"/>
              </a:rPr>
              <a:t>🐼</a:t>
            </a:r>
            <a:endParaRPr lang="en-US" sz="1950" dirty="0"/>
          </a:p>
        </p:txBody>
      </p:sp>
      <p:sp>
        <p:nvSpPr>
          <p:cNvPr id="6" name="Text 4"/>
          <p:cNvSpPr/>
          <p:nvPr/>
        </p:nvSpPr>
        <p:spPr>
          <a:xfrm>
            <a:off x="1778000" y="2791123"/>
            <a:ext cx="1551543"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Pawse Coach</a:t>
            </a:r>
            <a:endParaRPr lang="en-US" sz="1800" dirty="0"/>
          </a:p>
        </p:txBody>
      </p:sp>
      <p:sp>
        <p:nvSpPr>
          <p:cNvPr id="7" name="Shape 5"/>
          <p:cNvSpPr/>
          <p:nvPr/>
        </p:nvSpPr>
        <p:spPr>
          <a:xfrm>
            <a:off x="3974902" y="3454698"/>
            <a:ext cx="2533849" cy="584200"/>
          </a:xfrm>
          <a:prstGeom prst="roundRect">
            <a:avLst>
              <a:gd name="adj" fmla="val 29348"/>
            </a:avLst>
          </a:prstGeom>
          <a:solidFill>
            <a:srgbClr val="246B5F"/>
          </a:solidFill>
          <a:ln/>
        </p:spPr>
        <p:txBody>
          <a:bodyPr/>
          <a:lstStyle/>
          <a:p>
            <a:endParaRPr lang="de-DE"/>
          </a:p>
        </p:txBody>
      </p:sp>
      <p:sp>
        <p:nvSpPr>
          <p:cNvPr id="8" name="Text 6"/>
          <p:cNvSpPr/>
          <p:nvPr/>
        </p:nvSpPr>
        <p:spPr>
          <a:xfrm>
            <a:off x="4165402" y="3607098"/>
            <a:ext cx="2229049"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How was my week?</a:t>
            </a:r>
            <a:endParaRPr lang="en-US" sz="1800" dirty="0"/>
          </a:p>
        </p:txBody>
      </p:sp>
      <p:sp>
        <p:nvSpPr>
          <p:cNvPr id="9" name="Shape 7"/>
          <p:cNvSpPr/>
          <p:nvPr/>
        </p:nvSpPr>
        <p:spPr>
          <a:xfrm>
            <a:off x="1225550" y="4191298"/>
            <a:ext cx="4649192" cy="2293144"/>
          </a:xfrm>
          <a:prstGeom prst="roundRect">
            <a:avLst>
              <a:gd name="adj" fmla="val 7477"/>
            </a:avLst>
          </a:prstGeom>
          <a:solidFill>
            <a:srgbClr val="F6F2E9"/>
          </a:solidFill>
          <a:ln/>
        </p:spPr>
        <p:txBody>
          <a:bodyPr/>
          <a:lstStyle/>
          <a:p>
            <a:endParaRPr lang="de-DE"/>
          </a:p>
        </p:txBody>
      </p:sp>
      <p:sp>
        <p:nvSpPr>
          <p:cNvPr id="10" name="Text 8"/>
          <p:cNvSpPr/>
          <p:nvPr/>
        </p:nvSpPr>
        <p:spPr>
          <a:xfrm>
            <a:off x="1416050" y="4343698"/>
            <a:ext cx="4407668" cy="2026444"/>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B2A26"/>
                </a:solidFill>
                <a:latin typeface="Arial" pitchFamily="34" charset="0"/>
                <a:ea typeface="Arial" pitchFamily="34" charset="-122"/>
                <a:cs typeface="Arial" pitchFamily="34" charset="-120"/>
              </a:rPr>
              <a:t>Energy trended down Tue–Thu — your meeting load was ~30% above your usual. Thursday was your toughest: 6 back-to-back calls and no lunch. Fridays are consistently your strongest day.</a:t>
            </a:r>
            <a:endParaRPr lang="en-US" sz="1800" dirty="0"/>
          </a:p>
        </p:txBody>
      </p:sp>
      <p:sp>
        <p:nvSpPr>
          <p:cNvPr id="11" name="Shape 9"/>
          <p:cNvSpPr/>
          <p:nvPr/>
        </p:nvSpPr>
        <p:spPr>
          <a:xfrm>
            <a:off x="1225550" y="6636841"/>
            <a:ext cx="4649192" cy="944761"/>
          </a:xfrm>
          <a:prstGeom prst="roundRect">
            <a:avLst>
              <a:gd name="adj" fmla="val 18147"/>
            </a:avLst>
          </a:prstGeom>
          <a:solidFill>
            <a:srgbClr val="E9EFF4"/>
          </a:solidFill>
          <a:ln/>
        </p:spPr>
        <p:txBody>
          <a:bodyPr/>
          <a:lstStyle/>
          <a:p>
            <a:endParaRPr lang="de-DE"/>
          </a:p>
        </p:txBody>
      </p:sp>
      <p:sp>
        <p:nvSpPr>
          <p:cNvPr id="12" name="Text 10"/>
          <p:cNvSpPr/>
          <p:nvPr/>
        </p:nvSpPr>
        <p:spPr>
          <a:xfrm>
            <a:off x="1416050" y="6789241"/>
            <a:ext cx="4407668"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41637E"/>
                </a:solidFill>
                <a:latin typeface="Arial" pitchFamily="34" charset="0"/>
                <a:ea typeface="Arial" pitchFamily="34" charset="-122"/>
                <a:cs typeface="Arial" pitchFamily="34" charset="-120"/>
              </a:rPr>
              <a:t>⏰ Proactive nudge · 2-min reset before your 3pm review?</a:t>
            </a:r>
            <a:endParaRPr lang="en-US" sz="1800" dirty="0"/>
          </a:p>
        </p:txBody>
      </p:sp>
      <p:sp>
        <p:nvSpPr>
          <p:cNvPr id="13" name="Text 11"/>
          <p:cNvSpPr/>
          <p:nvPr/>
        </p:nvSpPr>
        <p:spPr>
          <a:xfrm>
            <a:off x="7505700" y="3510955"/>
            <a:ext cx="1085469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AI COACH + TEAMS BOT</a:t>
            </a:r>
            <a:endParaRPr lang="en-US" sz="1800" dirty="0"/>
          </a:p>
        </p:txBody>
      </p:sp>
      <p:sp>
        <p:nvSpPr>
          <p:cNvPr id="14" name="Text 12"/>
          <p:cNvSpPr/>
          <p:nvPr/>
        </p:nvSpPr>
        <p:spPr>
          <a:xfrm>
            <a:off x="7505700" y="3911005"/>
            <a:ext cx="10163937" cy="1379141"/>
          </a:xfrm>
          <a:prstGeom prst="rect">
            <a:avLst/>
          </a:prstGeom>
          <a:noFill/>
          <a:ln/>
        </p:spPr>
        <p:txBody>
          <a:bodyPr wrap="square" lIns="25400" tIns="25400" rIns="25400" bIns="25400" rtlCol="0" anchor="t">
            <a:normAutofit/>
          </a:bodyPr>
          <a:lstStyle/>
          <a:p>
            <a:pPr marL="0" indent="0" algn="l">
              <a:lnSpc>
                <a:spcPct val="110000"/>
              </a:lnSpc>
              <a:buNone/>
            </a:pPr>
            <a:r>
              <a:rPr lang="en-US" sz="4800" b="1" kern="0" spc="-75" dirty="0">
                <a:solidFill>
                  <a:srgbClr val="2B2A26"/>
                </a:solidFill>
                <a:latin typeface="Arial" pitchFamily="34" charset="0"/>
                <a:ea typeface="Arial" pitchFamily="34" charset="-122"/>
                <a:cs typeface="Arial" pitchFamily="34" charset="-120"/>
              </a:rPr>
              <a:t>A companion that knows your whole story.</a:t>
            </a:r>
            <a:endParaRPr lang="en-US" sz="4800" dirty="0"/>
          </a:p>
        </p:txBody>
      </p:sp>
      <p:sp>
        <p:nvSpPr>
          <p:cNvPr id="15" name="Text 13"/>
          <p:cNvSpPr/>
          <p:nvPr/>
        </p:nvSpPr>
        <p:spPr>
          <a:xfrm>
            <a:off x="7505700" y="5537796"/>
            <a:ext cx="158750" cy="33655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7721600" y="5537796"/>
            <a:ext cx="10580529" cy="336550"/>
          </a:xfrm>
          <a:prstGeom prst="rect">
            <a:avLst/>
          </a:prstGeom>
          <a:noFill/>
          <a:ln/>
        </p:spPr>
        <p:txBody>
          <a:bodyPr wrap="square" lIns="25400" tIns="25400" rIns="25400" bIns="25400" rtlCol="0" anchor="t">
            <a:normAutofit/>
          </a:bodyPr>
          <a:lstStyle/>
          <a:p>
            <a:pPr marL="0" indent="0" algn="l">
              <a:buNone/>
            </a:pPr>
            <a:r>
              <a:rPr lang="en-US" sz="1950" dirty="0">
                <a:solidFill>
                  <a:srgbClr val="2B2A26"/>
                </a:solidFill>
                <a:latin typeface="Arial" pitchFamily="34" charset="0"/>
                <a:ea typeface="Arial" pitchFamily="34" charset="-122"/>
                <a:cs typeface="Arial" pitchFamily="34" charset="-120"/>
              </a:rPr>
              <a:t>Talks across </a:t>
            </a:r>
            <a:r>
              <a:rPr lang="en-US" sz="1950" b="1" dirty="0">
                <a:solidFill>
                  <a:srgbClr val="2B2A26"/>
                </a:solidFill>
                <a:latin typeface="Arial" pitchFamily="34" charset="0"/>
                <a:ea typeface="Arial" pitchFamily="34" charset="-122"/>
                <a:cs typeface="Arial" pitchFamily="34" charset="-120"/>
              </a:rPr>
              <a:t>all your data </a:t>
            </a:r>
            <a:r>
              <a:rPr lang="en-US" sz="1950" dirty="0">
                <a:solidFill>
                  <a:srgbClr val="2B2A26"/>
                </a:solidFill>
                <a:latin typeface="Arial" pitchFamily="34" charset="0"/>
                <a:ea typeface="Arial" pitchFamily="34" charset="-122"/>
                <a:cs typeface="Arial" pitchFamily="34" charset="-120"/>
              </a:rPr>
              <a:t>— long-term trends, load patterns, worst day &amp; its cause.</a:t>
            </a:r>
            <a:endParaRPr lang="en-US" sz="1950" dirty="0"/>
          </a:p>
        </p:txBody>
      </p:sp>
      <p:sp>
        <p:nvSpPr>
          <p:cNvPr id="17" name="Text 15"/>
          <p:cNvSpPr/>
          <p:nvPr/>
        </p:nvSpPr>
        <p:spPr>
          <a:xfrm>
            <a:off x="7505700" y="6007696"/>
            <a:ext cx="158750" cy="33655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18" name="Text 16"/>
          <p:cNvSpPr/>
          <p:nvPr/>
        </p:nvSpPr>
        <p:spPr>
          <a:xfrm>
            <a:off x="7721600" y="6007696"/>
            <a:ext cx="6267510" cy="336550"/>
          </a:xfrm>
          <a:prstGeom prst="rect">
            <a:avLst/>
          </a:prstGeom>
          <a:noFill/>
          <a:ln/>
        </p:spPr>
        <p:txBody>
          <a:bodyPr wrap="square" lIns="25400" tIns="25400" rIns="25400" bIns="25400" rtlCol="0" anchor="t">
            <a:normAutofit/>
          </a:bodyPr>
          <a:lstStyle/>
          <a:p>
            <a:pPr marL="0" indent="0" algn="l">
              <a:buNone/>
            </a:pPr>
            <a:r>
              <a:rPr lang="en-US" sz="1950" dirty="0">
                <a:solidFill>
                  <a:srgbClr val="2B2A26"/>
                </a:solidFill>
                <a:latin typeface="Arial" pitchFamily="34" charset="0"/>
                <a:ea typeface="Arial" pitchFamily="34" charset="-122"/>
                <a:cs typeface="Arial" pitchFamily="34" charset="-120"/>
              </a:rPr>
              <a:t>Proactive Teams nudges, right in your work flow.</a:t>
            </a:r>
            <a:endParaRPr lang="en-US" sz="1950" dirty="0"/>
          </a:p>
        </p:txBody>
      </p:sp>
      <p:sp>
        <p:nvSpPr>
          <p:cNvPr id="19" name="Text 17"/>
          <p:cNvSpPr/>
          <p:nvPr/>
        </p:nvSpPr>
        <p:spPr>
          <a:xfrm>
            <a:off x="7505700" y="6477595"/>
            <a:ext cx="158750" cy="336550"/>
          </a:xfrm>
          <a:prstGeom prst="rect">
            <a:avLst/>
          </a:prstGeom>
          <a:noFill/>
          <a:ln/>
        </p:spPr>
        <p:txBody>
          <a:bodyPr wrap="square" lIns="25400" tIns="25400" rIns="25400" bIns="25400" rtlCol="0" anchor="t">
            <a:normAutofit/>
          </a:bodyPr>
          <a:lstStyle/>
          <a:p>
            <a:pPr marL="0" indent="0" algn="l">
              <a:buNone/>
            </a:pPr>
            <a:r>
              <a:rPr lang="en-US" sz="1950" b="1" dirty="0">
                <a:solidFill>
                  <a:srgbClr val="2F8F7F"/>
                </a:solidFill>
                <a:latin typeface="Arial" pitchFamily="34" charset="0"/>
                <a:ea typeface="Arial" pitchFamily="34" charset="-122"/>
                <a:cs typeface="Arial" pitchFamily="34" charset="-120"/>
              </a:rPr>
              <a:t>·</a:t>
            </a:r>
            <a:endParaRPr lang="en-US" sz="1950" dirty="0"/>
          </a:p>
        </p:txBody>
      </p:sp>
      <p:sp>
        <p:nvSpPr>
          <p:cNvPr id="20" name="Text 18"/>
          <p:cNvSpPr/>
          <p:nvPr/>
        </p:nvSpPr>
        <p:spPr>
          <a:xfrm>
            <a:off x="7721600" y="6477595"/>
            <a:ext cx="8951933" cy="336550"/>
          </a:xfrm>
          <a:prstGeom prst="rect">
            <a:avLst/>
          </a:prstGeom>
          <a:noFill/>
          <a:ln/>
        </p:spPr>
        <p:txBody>
          <a:bodyPr wrap="square" lIns="25400" tIns="25400" rIns="25400" bIns="25400" rtlCol="0" anchor="t">
            <a:normAutofit/>
          </a:bodyPr>
          <a:lstStyle/>
          <a:p>
            <a:pPr marL="0" indent="0" algn="l">
              <a:buNone/>
            </a:pPr>
            <a:r>
              <a:rPr lang="en-US" sz="1950" b="1" dirty="0">
                <a:solidFill>
                  <a:srgbClr val="2B2A26"/>
                </a:solidFill>
                <a:latin typeface="Arial" pitchFamily="34" charset="0"/>
                <a:ea typeface="Arial" pitchFamily="34" charset="-122"/>
                <a:cs typeface="Arial" pitchFamily="34" charset="-120"/>
              </a:rPr>
              <a:t>Never diagnoses. </a:t>
            </a:r>
            <a:r>
              <a:rPr lang="en-US" sz="1950" dirty="0">
                <a:solidFill>
                  <a:srgbClr val="2B2A26"/>
                </a:solidFill>
                <a:latin typeface="Arial" pitchFamily="34" charset="0"/>
                <a:ea typeface="Arial" pitchFamily="34" charset="-122"/>
                <a:cs typeface="Arial" pitchFamily="34" charset="-120"/>
              </a:rPr>
              <a:t>Graceful rule-based fallback if no model is available.</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762000" y="533400"/>
            <a:ext cx="1844040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INSIDE PAWSE · HOW IT WORKS</a:t>
            </a:r>
            <a:endParaRPr lang="en-US" sz="1800" dirty="0"/>
          </a:p>
        </p:txBody>
      </p:sp>
      <p:sp>
        <p:nvSpPr>
          <p:cNvPr id="3" name="Text 1"/>
          <p:cNvSpPr/>
          <p:nvPr/>
        </p:nvSpPr>
        <p:spPr>
          <a:xfrm>
            <a:off x="762000" y="876300"/>
            <a:ext cx="1844040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Signals in, clarity out.</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00" y="1746250"/>
            <a:ext cx="16764000" cy="7048500"/>
          </a:xfrm>
          <a:prstGeom prst="rect">
            <a:avLst/>
          </a:prstGeom>
        </p:spPr>
      </p:pic>
      <p:sp>
        <p:nvSpPr>
          <p:cNvPr id="5" name="Text 2"/>
          <p:cNvSpPr/>
          <p:nvPr/>
        </p:nvSpPr>
        <p:spPr>
          <a:xfrm>
            <a:off x="762000" y="1746250"/>
            <a:ext cx="4191000" cy="304800"/>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2B2A26">
                    <a:alpha val="40000"/>
                  </a:srgbClr>
                </a:solidFill>
                <a:latin typeface="Arial" pitchFamily="34" charset="0"/>
                <a:ea typeface="Arial" pitchFamily="34" charset="-122"/>
                <a:cs typeface="Arial" pitchFamily="34" charset="-120"/>
              </a:rPr>
              <a:t>WHAT GOES IN</a:t>
            </a:r>
            <a:endParaRPr lang="en-US" sz="1800" dirty="0"/>
          </a:p>
        </p:txBody>
      </p:sp>
      <p:sp>
        <p:nvSpPr>
          <p:cNvPr id="6" name="Text 3"/>
          <p:cNvSpPr/>
          <p:nvPr/>
        </p:nvSpPr>
        <p:spPr>
          <a:xfrm>
            <a:off x="13716000" y="1746250"/>
            <a:ext cx="4191000" cy="304800"/>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2B2A26">
                    <a:alpha val="40000"/>
                  </a:srgbClr>
                </a:solidFill>
                <a:latin typeface="Arial" pitchFamily="34" charset="0"/>
                <a:ea typeface="Arial" pitchFamily="34" charset="-122"/>
                <a:cs typeface="Arial" pitchFamily="34" charset="-120"/>
              </a:rPr>
              <a:t>WHAT YOU SEE</a:t>
            </a:r>
            <a:endParaRPr lang="en-US" sz="1800" dirty="0"/>
          </a:p>
        </p:txBody>
      </p:sp>
      <p:sp>
        <p:nvSpPr>
          <p:cNvPr id="7" name="Shape 4"/>
          <p:cNvSpPr/>
          <p:nvPr/>
        </p:nvSpPr>
        <p:spPr>
          <a:xfrm>
            <a:off x="762000" y="2270125"/>
            <a:ext cx="3810000" cy="1428750"/>
          </a:xfrm>
          <a:prstGeom prst="roundRect">
            <a:avLst>
              <a:gd name="adj" fmla="val 12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8" name="Shape 5"/>
          <p:cNvSpPr/>
          <p:nvPr/>
        </p:nvSpPr>
        <p:spPr>
          <a:xfrm>
            <a:off x="996950" y="2679700"/>
            <a:ext cx="609600" cy="609600"/>
          </a:xfrm>
          <a:prstGeom prst="ellipse">
            <a:avLst/>
          </a:prstGeom>
          <a:solidFill>
            <a:srgbClr val="5E86A8">
              <a:alpha val="16000"/>
            </a:srgbClr>
          </a:solidFill>
          <a:ln/>
        </p:spPr>
        <p:txBody>
          <a:bodyPr/>
          <a:lstStyle/>
          <a:p>
            <a:endParaRPr lang="de-DE"/>
          </a:p>
        </p:txBody>
      </p:sp>
      <p:sp>
        <p:nvSpPr>
          <p:cNvPr id="9" name="Text 6"/>
          <p:cNvSpPr/>
          <p:nvPr/>
        </p:nvSpPr>
        <p:spPr>
          <a:xfrm>
            <a:off x="958850" y="2679700"/>
            <a:ext cx="685800" cy="647700"/>
          </a:xfrm>
          <a:prstGeom prst="rect">
            <a:avLst/>
          </a:prstGeom>
          <a:noFill/>
          <a:ln/>
        </p:spPr>
        <p:txBody>
          <a:bodyPr wrap="square" lIns="25400" tIns="25400" rIns="25400" bIns="25400" rtlCol="0" anchor="ctr">
            <a:normAutofit/>
          </a:bodyPr>
          <a:lstStyle/>
          <a:p>
            <a:pPr marL="0" indent="0" algn="ctr">
              <a:buNone/>
            </a:pPr>
            <a:r>
              <a:rPr lang="en-US" sz="2400" dirty="0">
                <a:solidFill>
                  <a:srgbClr val="2B2A26"/>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1778000" y="2350195"/>
            <a:ext cx="281495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Your voice</a:t>
            </a:r>
            <a:endParaRPr lang="en-US" sz="2100" dirty="0"/>
          </a:p>
        </p:txBody>
      </p:sp>
      <p:sp>
        <p:nvSpPr>
          <p:cNvPr id="11" name="Text 8"/>
          <p:cNvSpPr/>
          <p:nvPr/>
        </p:nvSpPr>
        <p:spPr>
          <a:xfrm>
            <a:off x="1778000" y="2693095"/>
            <a:ext cx="2635822" cy="96381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How you sound on calls — optional, on your device</a:t>
            </a:r>
            <a:endParaRPr lang="en-US" sz="1800" dirty="0"/>
          </a:p>
        </p:txBody>
      </p:sp>
      <p:sp>
        <p:nvSpPr>
          <p:cNvPr id="12" name="Shape 9"/>
          <p:cNvSpPr/>
          <p:nvPr/>
        </p:nvSpPr>
        <p:spPr>
          <a:xfrm>
            <a:off x="762000" y="4603750"/>
            <a:ext cx="3810000" cy="1428750"/>
          </a:xfrm>
          <a:prstGeom prst="roundRect">
            <a:avLst>
              <a:gd name="adj" fmla="val 12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3" name="Shape 10"/>
          <p:cNvSpPr/>
          <p:nvPr/>
        </p:nvSpPr>
        <p:spPr>
          <a:xfrm>
            <a:off x="996950" y="5013325"/>
            <a:ext cx="609600" cy="609600"/>
          </a:xfrm>
          <a:prstGeom prst="ellipse">
            <a:avLst/>
          </a:prstGeom>
          <a:solidFill>
            <a:srgbClr val="2F8F7F">
              <a:alpha val="16000"/>
            </a:srgbClr>
          </a:solidFill>
          <a:ln/>
        </p:spPr>
        <p:txBody>
          <a:bodyPr/>
          <a:lstStyle/>
          <a:p>
            <a:endParaRPr lang="de-DE"/>
          </a:p>
        </p:txBody>
      </p:sp>
      <p:sp>
        <p:nvSpPr>
          <p:cNvPr id="14" name="Text 11"/>
          <p:cNvSpPr/>
          <p:nvPr/>
        </p:nvSpPr>
        <p:spPr>
          <a:xfrm>
            <a:off x="958850" y="5013325"/>
            <a:ext cx="685800" cy="647700"/>
          </a:xfrm>
          <a:prstGeom prst="rect">
            <a:avLst/>
          </a:prstGeom>
          <a:noFill/>
          <a:ln/>
        </p:spPr>
        <p:txBody>
          <a:bodyPr wrap="square" lIns="25400" tIns="25400" rIns="25400" bIns="25400" rtlCol="0" anchor="ctr">
            <a:normAutofit/>
          </a:bodyPr>
          <a:lstStyle/>
          <a:p>
            <a:pPr marL="0" indent="0" algn="ctr">
              <a:buNone/>
            </a:pPr>
            <a:r>
              <a:rPr lang="en-US" sz="2400" dirty="0">
                <a:solidFill>
                  <a:srgbClr val="2B2A26"/>
                </a:solidFill>
                <a:latin typeface="Arial" pitchFamily="34" charset="0"/>
                <a:ea typeface="Arial" pitchFamily="34" charset="-122"/>
                <a:cs typeface="Arial" pitchFamily="34" charset="-120"/>
              </a:rPr>
              <a:t>⌚</a:t>
            </a:r>
            <a:endParaRPr lang="en-US" sz="2400" dirty="0"/>
          </a:p>
        </p:txBody>
      </p:sp>
      <p:sp>
        <p:nvSpPr>
          <p:cNvPr id="15" name="Text 12"/>
          <p:cNvSpPr/>
          <p:nvPr/>
        </p:nvSpPr>
        <p:spPr>
          <a:xfrm>
            <a:off x="1778000" y="4683820"/>
            <a:ext cx="281495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Your body</a:t>
            </a:r>
            <a:endParaRPr lang="en-US" sz="2100" dirty="0"/>
          </a:p>
        </p:txBody>
      </p:sp>
      <p:sp>
        <p:nvSpPr>
          <p:cNvPr id="16" name="Text 13"/>
          <p:cNvSpPr/>
          <p:nvPr/>
        </p:nvSpPr>
        <p:spPr>
          <a:xfrm>
            <a:off x="1778000" y="5026720"/>
            <a:ext cx="2635822" cy="96381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Wearables &amp; smart trackers — sleep, heart rate, recovery</a:t>
            </a:r>
            <a:endParaRPr lang="en-US" sz="1800" dirty="0"/>
          </a:p>
        </p:txBody>
      </p:sp>
      <p:sp>
        <p:nvSpPr>
          <p:cNvPr id="17" name="Shape 14"/>
          <p:cNvSpPr/>
          <p:nvPr/>
        </p:nvSpPr>
        <p:spPr>
          <a:xfrm>
            <a:off x="762000" y="6937375"/>
            <a:ext cx="3810000" cy="1428750"/>
          </a:xfrm>
          <a:prstGeom prst="roundRect">
            <a:avLst>
              <a:gd name="adj" fmla="val 12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8" name="Shape 15"/>
          <p:cNvSpPr/>
          <p:nvPr/>
        </p:nvSpPr>
        <p:spPr>
          <a:xfrm>
            <a:off x="996950" y="7346950"/>
            <a:ext cx="609600" cy="609600"/>
          </a:xfrm>
          <a:prstGeom prst="ellipse">
            <a:avLst/>
          </a:prstGeom>
          <a:solidFill>
            <a:srgbClr val="2B2A26">
              <a:alpha val="6000"/>
            </a:srgbClr>
          </a:solidFill>
          <a:ln/>
        </p:spPr>
        <p:txBody>
          <a:bodyPr/>
          <a:lstStyle/>
          <a:p>
            <a:endParaRPr lang="de-DE"/>
          </a:p>
        </p:txBody>
      </p:sp>
      <p:sp>
        <p:nvSpPr>
          <p:cNvPr id="19" name="Text 16"/>
          <p:cNvSpPr/>
          <p:nvPr/>
        </p:nvSpPr>
        <p:spPr>
          <a:xfrm>
            <a:off x="958850" y="7346950"/>
            <a:ext cx="685800" cy="647700"/>
          </a:xfrm>
          <a:prstGeom prst="rect">
            <a:avLst/>
          </a:prstGeom>
          <a:noFill/>
          <a:ln/>
        </p:spPr>
        <p:txBody>
          <a:bodyPr wrap="square" lIns="25400" tIns="25400" rIns="25400" bIns="25400" rtlCol="0" anchor="ctr">
            <a:normAutofit/>
          </a:bodyPr>
          <a:lstStyle/>
          <a:p>
            <a:pPr marL="0" indent="0" algn="ctr">
              <a:buNone/>
            </a:pPr>
            <a:r>
              <a:rPr lang="en-US" sz="2400" dirty="0">
                <a:solidFill>
                  <a:srgbClr val="2B2A26"/>
                </a:solidFill>
                <a:latin typeface="Arial" pitchFamily="34" charset="0"/>
                <a:ea typeface="Arial" pitchFamily="34" charset="-122"/>
                <a:cs typeface="Arial" pitchFamily="34" charset="-120"/>
              </a:rPr>
              <a:t>📅</a:t>
            </a:r>
            <a:endParaRPr lang="en-US" sz="2400" dirty="0"/>
          </a:p>
        </p:txBody>
      </p:sp>
      <p:sp>
        <p:nvSpPr>
          <p:cNvPr id="20" name="Text 17"/>
          <p:cNvSpPr/>
          <p:nvPr/>
        </p:nvSpPr>
        <p:spPr>
          <a:xfrm>
            <a:off x="1778000" y="7171730"/>
            <a:ext cx="281495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Your workload</a:t>
            </a:r>
            <a:endParaRPr lang="en-US" sz="2100" dirty="0"/>
          </a:p>
        </p:txBody>
      </p:sp>
      <p:sp>
        <p:nvSpPr>
          <p:cNvPr id="21" name="Text 18"/>
          <p:cNvSpPr/>
          <p:nvPr/>
        </p:nvSpPr>
        <p:spPr>
          <a:xfrm>
            <a:off x="1778000" y="7514630"/>
            <a:ext cx="2635822" cy="65524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Your Outlook calendar — meeting load &amp; tasks</a:t>
            </a:r>
            <a:endParaRPr lang="en-US" sz="1800" dirty="0"/>
          </a:p>
        </p:txBody>
      </p:sp>
      <p:sp>
        <p:nvSpPr>
          <p:cNvPr id="22" name="Shape 19"/>
          <p:cNvSpPr/>
          <p:nvPr/>
        </p:nvSpPr>
        <p:spPr>
          <a:xfrm>
            <a:off x="7810500" y="4222750"/>
            <a:ext cx="2667000" cy="2286000"/>
          </a:xfrm>
          <a:prstGeom prst="roundRect">
            <a:avLst>
              <a:gd name="adj" fmla="val 11667"/>
            </a:avLst>
          </a:prstGeom>
          <a:solidFill>
            <a:srgbClr val="246B5F"/>
          </a:solidFill>
          <a:ln/>
          <a:effectLst>
            <a:outerShdw blurRad="419100" dist="133350" dir="5400000" algn="bl" rotWithShape="0">
              <a:srgbClr val="2B2A26">
                <a:alpha val="12000"/>
              </a:srgbClr>
            </a:outerShdw>
          </a:effectLst>
        </p:spPr>
        <p:txBody>
          <a:bodyPr/>
          <a:lstStyle/>
          <a:p>
            <a:endParaRPr lang="de-DE"/>
          </a:p>
        </p:txBody>
      </p:sp>
      <p:sp>
        <p:nvSpPr>
          <p:cNvPr id="23" name="Text 20"/>
          <p:cNvSpPr/>
          <p:nvPr/>
        </p:nvSpPr>
        <p:spPr>
          <a:xfrm>
            <a:off x="8635008" y="4587875"/>
            <a:ext cx="1017885" cy="723900"/>
          </a:xfrm>
          <a:prstGeom prst="rect">
            <a:avLst/>
          </a:prstGeom>
          <a:noFill/>
          <a:ln/>
        </p:spPr>
        <p:txBody>
          <a:bodyPr wrap="square" lIns="25400" tIns="25400" rIns="25400" bIns="25400" rtlCol="0" anchor="t">
            <a:normAutofit/>
          </a:bodyPr>
          <a:lstStyle/>
          <a:p>
            <a:pPr marL="0" indent="0" algn="ctr">
              <a:lnSpc>
                <a:spcPct val="100000"/>
              </a:lnSpc>
              <a:buNone/>
            </a:pPr>
            <a:r>
              <a:rPr lang="en-US" sz="5400" dirty="0">
                <a:solidFill>
                  <a:srgbClr val="FAF7F0"/>
                </a:solidFill>
                <a:latin typeface="Arial" pitchFamily="34" charset="0"/>
                <a:ea typeface="Arial" pitchFamily="34" charset="-122"/>
                <a:cs typeface="Arial" pitchFamily="34" charset="-120"/>
              </a:rPr>
              <a:t>🐼</a:t>
            </a:r>
            <a:endParaRPr lang="en-US" sz="5400" dirty="0"/>
          </a:p>
        </p:txBody>
      </p:sp>
      <p:sp>
        <p:nvSpPr>
          <p:cNvPr id="24" name="Text 21"/>
          <p:cNvSpPr/>
          <p:nvPr/>
        </p:nvSpPr>
        <p:spPr>
          <a:xfrm>
            <a:off x="8557915" y="5368925"/>
            <a:ext cx="1172170" cy="476250"/>
          </a:xfrm>
          <a:prstGeom prst="rect">
            <a:avLst/>
          </a:prstGeom>
          <a:noFill/>
          <a:ln/>
        </p:spPr>
        <p:txBody>
          <a:bodyPr wrap="square" lIns="25400" tIns="25400" rIns="25400" bIns="25400" rtlCol="0" anchor="t">
            <a:normAutofit/>
          </a:bodyPr>
          <a:lstStyle/>
          <a:p>
            <a:pPr marL="0" indent="0" algn="ctr">
              <a:buNone/>
            </a:pPr>
            <a:r>
              <a:rPr lang="en-US" sz="3000" b="1" kern="0" spc="-75" dirty="0">
                <a:solidFill>
                  <a:srgbClr val="FAF7F0"/>
                </a:solidFill>
                <a:latin typeface="Arial" pitchFamily="34" charset="0"/>
                <a:ea typeface="Arial" pitchFamily="34" charset="-122"/>
                <a:cs typeface="Arial" pitchFamily="34" charset="-120"/>
              </a:rPr>
              <a:t>Pawse</a:t>
            </a:r>
            <a:endParaRPr lang="en-US" sz="3000" dirty="0"/>
          </a:p>
        </p:txBody>
      </p:sp>
      <p:sp>
        <p:nvSpPr>
          <p:cNvPr id="25" name="Text 22"/>
          <p:cNvSpPr/>
          <p:nvPr/>
        </p:nvSpPr>
        <p:spPr>
          <a:xfrm>
            <a:off x="8126050" y="5864225"/>
            <a:ext cx="2035800" cy="317500"/>
          </a:xfrm>
          <a:prstGeom prst="rect">
            <a:avLst/>
          </a:prstGeom>
          <a:noFill/>
          <a:ln/>
        </p:spPr>
        <p:txBody>
          <a:bodyPr wrap="square" lIns="25400" tIns="25400" rIns="25400" bIns="25400" rtlCol="0" anchor="t">
            <a:normAutofit/>
          </a:bodyPr>
          <a:lstStyle/>
          <a:p>
            <a:pPr marL="0" indent="0" algn="ctr">
              <a:buNone/>
            </a:pPr>
            <a:r>
              <a:rPr lang="en-US" sz="1800" dirty="0">
                <a:solidFill>
                  <a:srgbClr val="FFFFFF">
                    <a:alpha val="80000"/>
                  </a:srgbClr>
                </a:solidFill>
                <a:latin typeface="Arial" pitchFamily="34" charset="0"/>
                <a:ea typeface="Arial" pitchFamily="34" charset="-122"/>
                <a:cs typeface="Arial" pitchFamily="34" charset="-120"/>
              </a:rPr>
              <a:t>brings it together</a:t>
            </a:r>
            <a:endParaRPr lang="en-US" sz="1800" dirty="0"/>
          </a:p>
        </p:txBody>
      </p:sp>
      <p:sp>
        <p:nvSpPr>
          <p:cNvPr id="26" name="Shape 23"/>
          <p:cNvSpPr/>
          <p:nvPr/>
        </p:nvSpPr>
        <p:spPr>
          <a:xfrm>
            <a:off x="13716000" y="2174875"/>
            <a:ext cx="3810000" cy="1238250"/>
          </a:xfrm>
          <a:prstGeom prst="roundRect">
            <a:avLst>
              <a:gd name="adj" fmla="val 13846"/>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7" name="Shape 24"/>
          <p:cNvSpPr/>
          <p:nvPr/>
        </p:nvSpPr>
        <p:spPr>
          <a:xfrm>
            <a:off x="13950951" y="2544465"/>
            <a:ext cx="114300" cy="114300"/>
          </a:xfrm>
          <a:prstGeom prst="ellipse">
            <a:avLst/>
          </a:prstGeom>
          <a:solidFill>
            <a:srgbClr val="2F8F7F"/>
          </a:solidFill>
          <a:ln/>
        </p:spPr>
        <p:txBody>
          <a:bodyPr/>
          <a:lstStyle/>
          <a:p>
            <a:endParaRPr lang="de-DE"/>
          </a:p>
        </p:txBody>
      </p:sp>
      <p:sp>
        <p:nvSpPr>
          <p:cNvPr id="28" name="Text 25"/>
          <p:cNvSpPr/>
          <p:nvPr/>
        </p:nvSpPr>
        <p:spPr>
          <a:xfrm>
            <a:off x="14179551" y="2449215"/>
            <a:ext cx="245173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Your Energy Score</a:t>
            </a:r>
            <a:endParaRPr lang="en-US" sz="2100" dirty="0"/>
          </a:p>
        </p:txBody>
      </p:sp>
      <p:sp>
        <p:nvSpPr>
          <p:cNvPr id="29" name="Text 26"/>
          <p:cNvSpPr/>
          <p:nvPr/>
        </p:nvSpPr>
        <p:spPr>
          <a:xfrm>
            <a:off x="13950951" y="2830215"/>
            <a:ext cx="3674110"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A single 0–100 for the day</a:t>
            </a:r>
            <a:endParaRPr lang="en-US" sz="1800" dirty="0"/>
          </a:p>
        </p:txBody>
      </p:sp>
      <p:sp>
        <p:nvSpPr>
          <p:cNvPr id="30" name="Shape 27"/>
          <p:cNvSpPr/>
          <p:nvPr/>
        </p:nvSpPr>
        <p:spPr>
          <a:xfrm>
            <a:off x="13716000" y="3889375"/>
            <a:ext cx="3810000" cy="1238250"/>
          </a:xfrm>
          <a:prstGeom prst="roundRect">
            <a:avLst>
              <a:gd name="adj" fmla="val 13846"/>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31" name="Shape 28"/>
          <p:cNvSpPr/>
          <p:nvPr/>
        </p:nvSpPr>
        <p:spPr>
          <a:xfrm>
            <a:off x="13950951" y="4258965"/>
            <a:ext cx="114300" cy="114300"/>
          </a:xfrm>
          <a:prstGeom prst="ellipse">
            <a:avLst/>
          </a:prstGeom>
          <a:solidFill>
            <a:srgbClr val="2F8F7F"/>
          </a:solidFill>
          <a:ln/>
        </p:spPr>
        <p:txBody>
          <a:bodyPr/>
          <a:lstStyle/>
          <a:p>
            <a:endParaRPr lang="de-DE"/>
          </a:p>
        </p:txBody>
      </p:sp>
      <p:sp>
        <p:nvSpPr>
          <p:cNvPr id="32" name="Text 29"/>
          <p:cNvSpPr/>
          <p:nvPr/>
        </p:nvSpPr>
        <p:spPr>
          <a:xfrm>
            <a:off x="14179551" y="4163715"/>
            <a:ext cx="223399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The reasons why</a:t>
            </a:r>
            <a:endParaRPr lang="en-US" sz="2100" dirty="0"/>
          </a:p>
        </p:txBody>
      </p:sp>
      <p:sp>
        <p:nvSpPr>
          <p:cNvPr id="33" name="Text 30"/>
          <p:cNvSpPr/>
          <p:nvPr/>
        </p:nvSpPr>
        <p:spPr>
          <a:xfrm>
            <a:off x="13950951" y="4544715"/>
            <a:ext cx="3674110"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What's lifting or draining you</a:t>
            </a:r>
            <a:endParaRPr lang="en-US" sz="1800" dirty="0"/>
          </a:p>
        </p:txBody>
      </p:sp>
      <p:sp>
        <p:nvSpPr>
          <p:cNvPr id="34" name="Shape 31"/>
          <p:cNvSpPr/>
          <p:nvPr/>
        </p:nvSpPr>
        <p:spPr>
          <a:xfrm>
            <a:off x="13716000" y="5603875"/>
            <a:ext cx="3810000" cy="1238250"/>
          </a:xfrm>
          <a:prstGeom prst="roundRect">
            <a:avLst>
              <a:gd name="adj" fmla="val 13846"/>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35" name="Shape 32"/>
          <p:cNvSpPr/>
          <p:nvPr/>
        </p:nvSpPr>
        <p:spPr>
          <a:xfrm>
            <a:off x="13950951" y="5973465"/>
            <a:ext cx="114300" cy="114300"/>
          </a:xfrm>
          <a:prstGeom prst="ellipse">
            <a:avLst/>
          </a:prstGeom>
          <a:solidFill>
            <a:srgbClr val="2F8F7F"/>
          </a:solidFill>
          <a:ln/>
        </p:spPr>
        <p:txBody>
          <a:bodyPr/>
          <a:lstStyle/>
          <a:p>
            <a:endParaRPr lang="de-DE"/>
          </a:p>
        </p:txBody>
      </p:sp>
      <p:sp>
        <p:nvSpPr>
          <p:cNvPr id="36" name="Text 33"/>
          <p:cNvSpPr/>
          <p:nvPr/>
        </p:nvSpPr>
        <p:spPr>
          <a:xfrm>
            <a:off x="14179551" y="5878215"/>
            <a:ext cx="203842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What to do now</a:t>
            </a:r>
            <a:endParaRPr lang="en-US" sz="2100" dirty="0"/>
          </a:p>
        </p:txBody>
      </p:sp>
      <p:sp>
        <p:nvSpPr>
          <p:cNvPr id="37" name="Text 34"/>
          <p:cNvSpPr/>
          <p:nvPr/>
        </p:nvSpPr>
        <p:spPr>
          <a:xfrm>
            <a:off x="13950951" y="6259215"/>
            <a:ext cx="3674110"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One clear, helpful action</a:t>
            </a:r>
            <a:endParaRPr lang="en-US" sz="1800" dirty="0"/>
          </a:p>
        </p:txBody>
      </p:sp>
      <p:sp>
        <p:nvSpPr>
          <p:cNvPr id="38" name="Shape 35"/>
          <p:cNvSpPr/>
          <p:nvPr/>
        </p:nvSpPr>
        <p:spPr>
          <a:xfrm>
            <a:off x="13716000" y="7318375"/>
            <a:ext cx="3810000" cy="1238250"/>
          </a:xfrm>
          <a:prstGeom prst="roundRect">
            <a:avLst>
              <a:gd name="adj" fmla="val 13846"/>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39" name="Shape 36"/>
          <p:cNvSpPr/>
          <p:nvPr/>
        </p:nvSpPr>
        <p:spPr>
          <a:xfrm>
            <a:off x="13950951" y="7687965"/>
            <a:ext cx="114300" cy="114300"/>
          </a:xfrm>
          <a:prstGeom prst="ellipse">
            <a:avLst/>
          </a:prstGeom>
          <a:solidFill>
            <a:srgbClr val="2F8F7F"/>
          </a:solidFill>
          <a:ln/>
        </p:spPr>
        <p:txBody>
          <a:bodyPr/>
          <a:lstStyle/>
          <a:p>
            <a:endParaRPr lang="de-DE"/>
          </a:p>
        </p:txBody>
      </p:sp>
      <p:sp>
        <p:nvSpPr>
          <p:cNvPr id="40" name="Text 37"/>
          <p:cNvSpPr/>
          <p:nvPr/>
        </p:nvSpPr>
        <p:spPr>
          <a:xfrm>
            <a:off x="14179551" y="7592715"/>
            <a:ext cx="148966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2B2A26"/>
                </a:solidFill>
                <a:latin typeface="Arial" pitchFamily="34" charset="0"/>
                <a:ea typeface="Arial" pitchFamily="34" charset="-122"/>
                <a:cs typeface="Arial" pitchFamily="34" charset="-120"/>
              </a:rPr>
              <a:t>Your trends</a:t>
            </a:r>
            <a:endParaRPr lang="en-US" sz="2100" dirty="0"/>
          </a:p>
        </p:txBody>
      </p:sp>
      <p:sp>
        <p:nvSpPr>
          <p:cNvPr id="41" name="Text 38"/>
          <p:cNvSpPr/>
          <p:nvPr/>
        </p:nvSpPr>
        <p:spPr>
          <a:xfrm>
            <a:off x="13950951" y="7973715"/>
            <a:ext cx="3674110"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2B2A26">
                    <a:alpha val="55000"/>
                  </a:srgbClr>
                </a:solidFill>
                <a:latin typeface="Arial" pitchFamily="34" charset="0"/>
                <a:ea typeface="Arial" pitchFamily="34" charset="-122"/>
                <a:cs typeface="Arial" pitchFamily="34" charset="-120"/>
              </a:rPr>
              <a:t>How the week is shaping up</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DE2"/>
        </a:solidFill>
        <a:effectLst/>
      </p:bgPr>
    </p:bg>
    <p:spTree>
      <p:nvGrpSpPr>
        <p:cNvPr id="1" name=""/>
        <p:cNvGrpSpPr/>
        <p:nvPr/>
      </p:nvGrpSpPr>
      <p:grpSpPr>
        <a:xfrm>
          <a:off x="0" y="0"/>
          <a:ext cx="0" cy="0"/>
          <a:chOff x="0" y="0"/>
          <a:chExt cx="0" cy="0"/>
        </a:xfrm>
      </p:grpSpPr>
      <p:sp>
        <p:nvSpPr>
          <p:cNvPr id="2" name="Text 0"/>
          <p:cNvSpPr/>
          <p:nvPr/>
        </p:nvSpPr>
        <p:spPr>
          <a:xfrm>
            <a:off x="914400" y="3359150"/>
            <a:ext cx="1085469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PRIVACY &amp; RESPONSIBLE AI</a:t>
            </a:r>
            <a:endParaRPr lang="en-US" sz="1800" dirty="0"/>
          </a:p>
        </p:txBody>
      </p:sp>
      <p:sp>
        <p:nvSpPr>
          <p:cNvPr id="3" name="Text 1"/>
          <p:cNvSpPr/>
          <p:nvPr/>
        </p:nvSpPr>
        <p:spPr>
          <a:xfrm>
            <a:off x="914400" y="3778250"/>
            <a:ext cx="10163937" cy="1638300"/>
          </a:xfrm>
          <a:prstGeom prst="rect">
            <a:avLst/>
          </a:prstGeom>
          <a:noFill/>
          <a:ln/>
        </p:spPr>
        <p:txBody>
          <a:bodyPr wrap="square" lIns="25400" tIns="25400" rIns="25400" bIns="25400" rtlCol="0" anchor="t">
            <a:normAutofit/>
          </a:bodyPr>
          <a:lstStyle/>
          <a:p>
            <a:pPr marL="0" indent="0" algn="l">
              <a:lnSpc>
                <a:spcPct val="105000"/>
              </a:lnSpc>
              <a:buNone/>
            </a:pPr>
            <a:r>
              <a:rPr lang="en-US" sz="6000" b="1" kern="0" spc="-150" dirty="0">
                <a:solidFill>
                  <a:srgbClr val="2B2A26"/>
                </a:solidFill>
                <a:latin typeface="Arial" pitchFamily="34" charset="0"/>
                <a:ea typeface="Arial" pitchFamily="34" charset="-122"/>
                <a:cs typeface="Arial" pitchFamily="34" charset="-120"/>
              </a:rPr>
              <a:t>Signal, not diagnosis.</a:t>
            </a:r>
            <a:endParaRPr lang="en-US" sz="6000" dirty="0"/>
          </a:p>
        </p:txBody>
      </p:sp>
      <p:sp>
        <p:nvSpPr>
          <p:cNvPr id="4" name="Shape 2"/>
          <p:cNvSpPr/>
          <p:nvPr/>
        </p:nvSpPr>
        <p:spPr>
          <a:xfrm>
            <a:off x="914400" y="5702300"/>
            <a:ext cx="2286794" cy="5461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5" name="Text 3"/>
          <p:cNvSpPr/>
          <p:nvPr/>
        </p:nvSpPr>
        <p:spPr>
          <a:xfrm>
            <a:off x="1149350" y="5842000"/>
            <a:ext cx="1893094"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On-device · opt-in</a:t>
            </a:r>
            <a:endParaRPr lang="en-US" sz="1800" dirty="0"/>
          </a:p>
        </p:txBody>
      </p:sp>
      <p:sp>
        <p:nvSpPr>
          <p:cNvPr id="6" name="Shape 4"/>
          <p:cNvSpPr/>
          <p:nvPr/>
        </p:nvSpPr>
        <p:spPr>
          <a:xfrm>
            <a:off x="3334544" y="5702300"/>
            <a:ext cx="2528094" cy="5461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7" name="Text 5"/>
          <p:cNvSpPr/>
          <p:nvPr/>
        </p:nvSpPr>
        <p:spPr>
          <a:xfrm>
            <a:off x="3569494" y="5842000"/>
            <a:ext cx="2134394"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Keyless · no secrets</a:t>
            </a:r>
            <a:endParaRPr lang="en-US" sz="1800" dirty="0"/>
          </a:p>
        </p:txBody>
      </p:sp>
      <p:sp>
        <p:nvSpPr>
          <p:cNvPr id="8" name="Shape 6"/>
          <p:cNvSpPr/>
          <p:nvPr/>
        </p:nvSpPr>
        <p:spPr>
          <a:xfrm>
            <a:off x="5995988" y="5702300"/>
            <a:ext cx="2291358" cy="5461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9" name="Text 7"/>
          <p:cNvSpPr/>
          <p:nvPr/>
        </p:nvSpPr>
        <p:spPr>
          <a:xfrm>
            <a:off x="6230938" y="5842000"/>
            <a:ext cx="1897658"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Your data is yours</a:t>
            </a:r>
            <a:endParaRPr lang="en-US" sz="1800" dirty="0"/>
          </a:p>
        </p:txBody>
      </p:sp>
      <p:sp>
        <p:nvSpPr>
          <p:cNvPr id="10" name="Shape 8"/>
          <p:cNvSpPr/>
          <p:nvPr/>
        </p:nvSpPr>
        <p:spPr>
          <a:xfrm>
            <a:off x="914400" y="6381750"/>
            <a:ext cx="2998490" cy="546100"/>
          </a:xfrm>
          <a:prstGeom prst="roundRect">
            <a:avLst>
              <a:gd name="adj" fmla="val 50000"/>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1" name="Text 9"/>
          <p:cNvSpPr/>
          <p:nvPr/>
        </p:nvSpPr>
        <p:spPr>
          <a:xfrm>
            <a:off x="1149350" y="6521450"/>
            <a:ext cx="2618545"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2B2A26"/>
                </a:solidFill>
                <a:latin typeface="Arial" pitchFamily="34" charset="0"/>
                <a:ea typeface="Arial" pitchFamily="34" charset="-122"/>
                <a:cs typeface="Arial" pitchFamily="34" charset="-120"/>
              </a:rPr>
              <a:t>No manager surveillance</a:t>
            </a:r>
            <a:endParaRPr lang="en-US" sz="1800" dirty="0"/>
          </a:p>
        </p:txBody>
      </p:sp>
      <p:sp>
        <p:nvSpPr>
          <p:cNvPr id="12" name="Shape 10"/>
          <p:cNvSpPr/>
          <p:nvPr/>
        </p:nvSpPr>
        <p:spPr>
          <a:xfrm>
            <a:off x="11468100" y="2747467"/>
            <a:ext cx="5905500" cy="4791968"/>
          </a:xfrm>
          <a:prstGeom prst="roundRect">
            <a:avLst>
              <a:gd name="adj" fmla="val 5168"/>
            </a:avLst>
          </a:prstGeom>
          <a:solidFill>
            <a:srgbClr val="FFFFFF"/>
          </a:solidFill>
          <a:ln w="6350">
            <a:solidFill>
              <a:srgbClr val="2B2A26">
                <a:alpha val="10000"/>
              </a:srgbClr>
            </a:solidFill>
            <a:prstDash val="solid"/>
          </a:ln>
          <a:effectLst>
            <a:outerShdw blurRad="419100" dist="133350" dir="5400000" algn="bl" rotWithShape="0">
              <a:srgbClr val="2B2A26">
                <a:alpha val="12000"/>
              </a:srgbClr>
            </a:outerShdw>
          </a:effectLst>
        </p:spPr>
        <p:txBody>
          <a:bodyPr/>
          <a:lstStyle/>
          <a:p>
            <a:endParaRPr lang="de-DE"/>
          </a:p>
        </p:txBody>
      </p:sp>
      <p:sp>
        <p:nvSpPr>
          <p:cNvPr id="13" name="Shape 11"/>
          <p:cNvSpPr/>
          <p:nvPr/>
        </p:nvSpPr>
        <p:spPr>
          <a:xfrm>
            <a:off x="11836401" y="3115767"/>
            <a:ext cx="609600" cy="609600"/>
          </a:xfrm>
          <a:prstGeom prst="ellipse">
            <a:avLst/>
          </a:prstGeom>
          <a:solidFill>
            <a:srgbClr val="E9EFF4"/>
          </a:solidFill>
          <a:ln/>
        </p:spPr>
        <p:txBody>
          <a:bodyPr/>
          <a:lstStyle/>
          <a:p>
            <a:endParaRPr lang="de-DE"/>
          </a:p>
        </p:txBody>
      </p:sp>
      <p:sp>
        <p:nvSpPr>
          <p:cNvPr id="14" name="Shape 12"/>
          <p:cNvSpPr/>
          <p:nvPr/>
        </p:nvSpPr>
        <p:spPr>
          <a:xfrm>
            <a:off x="11935551" y="3214917"/>
            <a:ext cx="411299" cy="411299"/>
          </a:xfrm>
          <a:prstGeom prst="ellipse">
            <a:avLst/>
          </a:prstGeom>
          <a:solidFill>
            <a:srgbClr val="5E86A8">
              <a:alpha val="75000"/>
            </a:srgbClr>
          </a:solidFill>
          <a:ln/>
        </p:spPr>
        <p:txBody>
          <a:bodyPr/>
          <a:lstStyle/>
          <a:p>
            <a:endParaRPr lang="de-DE"/>
          </a:p>
        </p:txBody>
      </p:sp>
      <p:sp>
        <p:nvSpPr>
          <p:cNvPr id="15" name="Text 13"/>
          <p:cNvSpPr/>
          <p:nvPr/>
        </p:nvSpPr>
        <p:spPr>
          <a:xfrm>
            <a:off x="12617451" y="3255466"/>
            <a:ext cx="4350564" cy="368300"/>
          </a:xfrm>
          <a:prstGeom prst="rect">
            <a:avLst/>
          </a:prstGeom>
          <a:noFill/>
          <a:ln/>
        </p:spPr>
        <p:txBody>
          <a:bodyPr wrap="square" lIns="25400" tIns="25400" rIns="25400" bIns="25400" rtlCol="0" anchor="t">
            <a:normAutofit/>
          </a:bodyPr>
          <a:lstStyle/>
          <a:p>
            <a:pPr marL="0" indent="0" algn="l">
              <a:buNone/>
            </a:pPr>
            <a:r>
              <a:rPr lang="en-US" sz="2250" b="1" dirty="0">
                <a:solidFill>
                  <a:srgbClr val="2B2A26"/>
                </a:solidFill>
                <a:latin typeface="Arial" pitchFamily="34" charset="0"/>
                <a:ea typeface="Arial" pitchFamily="34" charset="-122"/>
                <a:cs typeface="Arial" pitchFamily="34" charset="-120"/>
              </a:rPr>
              <a:t>Scientific honesty as a strength</a:t>
            </a:r>
            <a:endParaRPr lang="en-US" sz="2250" dirty="0"/>
          </a:p>
        </p:txBody>
      </p:sp>
      <p:sp>
        <p:nvSpPr>
          <p:cNvPr id="16" name="Text 14"/>
          <p:cNvSpPr/>
          <p:nvPr/>
        </p:nvSpPr>
        <p:spPr>
          <a:xfrm>
            <a:off x="11836401" y="3953967"/>
            <a:ext cx="5323967" cy="153035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2B2A26">
                    <a:alpha val="70000"/>
                  </a:srgbClr>
                </a:solidFill>
                <a:latin typeface="Arial" pitchFamily="34" charset="0"/>
                <a:ea typeface="Arial" pitchFamily="34" charset="-122"/>
                <a:cs typeface="Arial" pitchFamily="34" charset="-120"/>
              </a:rPr>
              <a:t>Barrett et al. (2019): facial expression is </a:t>
            </a:r>
            <a:r>
              <a:rPr lang="en-US" sz="1950" b="1" dirty="0">
                <a:solidFill>
                  <a:srgbClr val="2B2A26">
                    <a:alpha val="70000"/>
                  </a:srgbClr>
                </a:solidFill>
                <a:latin typeface="Arial" pitchFamily="34" charset="0"/>
                <a:ea typeface="Arial" pitchFamily="34" charset="-122"/>
                <a:cs typeface="Arial" pitchFamily="34" charset="-120"/>
              </a:rPr>
              <a:t>not </a:t>
            </a:r>
            <a:r>
              <a:rPr lang="en-US" sz="1950" dirty="0">
                <a:solidFill>
                  <a:srgbClr val="2B2A26">
                    <a:alpha val="70000"/>
                  </a:srgbClr>
                </a:solidFill>
                <a:latin typeface="Arial" pitchFamily="34" charset="0"/>
                <a:ea typeface="Arial" pitchFamily="34" charset="-122"/>
                <a:cs typeface="Arial" pitchFamily="34" charset="-120"/>
              </a:rPr>
              <a:t>a reliable emotion indicator; voice-stress signals are weak group correlates; burnout isn't predictable from short clips.</a:t>
            </a:r>
            <a:endParaRPr lang="en-US" sz="1950" dirty="0"/>
          </a:p>
        </p:txBody>
      </p:sp>
      <p:sp>
        <p:nvSpPr>
          <p:cNvPr id="17" name="Shape 15"/>
          <p:cNvSpPr/>
          <p:nvPr/>
        </p:nvSpPr>
        <p:spPr>
          <a:xfrm>
            <a:off x="11836401" y="5674816"/>
            <a:ext cx="5168900" cy="1496318"/>
          </a:xfrm>
          <a:prstGeom prst="roundRect">
            <a:avLst>
              <a:gd name="adj" fmla="val 11458"/>
            </a:avLst>
          </a:prstGeom>
          <a:solidFill>
            <a:srgbClr val="E7F0EC"/>
          </a:solidFill>
          <a:ln/>
        </p:spPr>
        <p:txBody>
          <a:bodyPr/>
          <a:lstStyle/>
          <a:p>
            <a:endParaRPr lang="de-DE"/>
          </a:p>
        </p:txBody>
      </p:sp>
      <p:sp>
        <p:nvSpPr>
          <p:cNvPr id="18" name="Text 16"/>
          <p:cNvSpPr/>
          <p:nvPr/>
        </p:nvSpPr>
        <p:spPr>
          <a:xfrm>
            <a:off x="12065001" y="5884366"/>
            <a:ext cx="4866767" cy="1115318"/>
          </a:xfrm>
          <a:prstGeom prst="rect">
            <a:avLst/>
          </a:prstGeom>
          <a:noFill/>
          <a:ln/>
        </p:spPr>
        <p:txBody>
          <a:bodyPr wrap="square" lIns="25400" tIns="25400" rIns="25400" bIns="25400" rtlCol="0" anchor="t">
            <a:normAutofit/>
          </a:bodyPr>
          <a:lstStyle/>
          <a:p>
            <a:pPr marL="0" indent="0" algn="l">
              <a:lnSpc>
                <a:spcPct val="145000"/>
              </a:lnSpc>
              <a:buNone/>
            </a:pPr>
            <a:r>
              <a:rPr lang="en-US" sz="1950" b="1" dirty="0">
                <a:solidFill>
                  <a:srgbClr val="246B5F"/>
                </a:solidFill>
                <a:latin typeface="Arial" pitchFamily="34" charset="0"/>
                <a:ea typeface="Arial" pitchFamily="34" charset="-122"/>
                <a:cs typeface="Arial" pitchFamily="34" charset="-120"/>
              </a:rPr>
              <a:t>→ So Pawse deliberately doesn't diagnose — and uses 1-tap self-report as ground truth.</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914400" y="70485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DIFFERENTIATION</a:t>
            </a:r>
            <a:endParaRPr lang="en-US" sz="1800" dirty="0"/>
          </a:p>
        </p:txBody>
      </p:sp>
      <p:sp>
        <p:nvSpPr>
          <p:cNvPr id="3" name="Text 1"/>
          <p:cNvSpPr/>
          <p:nvPr/>
        </p:nvSpPr>
        <p:spPr>
          <a:xfrm>
            <a:off x="914400" y="106680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Pawse owns the intersection.</a:t>
            </a:r>
            <a:endParaRPr lang="en-US" sz="4800" dirty="0"/>
          </a:p>
        </p:txBody>
      </p:sp>
      <p:sp>
        <p:nvSpPr>
          <p:cNvPr id="4" name="Text 2"/>
          <p:cNvSpPr/>
          <p:nvPr/>
        </p:nvSpPr>
        <p:spPr>
          <a:xfrm>
            <a:off x="6563420" y="2222500"/>
            <a:ext cx="984448" cy="311150"/>
          </a:xfrm>
          <a:prstGeom prst="rect">
            <a:avLst/>
          </a:prstGeom>
          <a:noFill/>
          <a:ln/>
        </p:spPr>
        <p:txBody>
          <a:bodyPr wrap="square" lIns="25400" tIns="25400" rIns="25400" bIns="25400" rtlCol="0" anchor="ctr">
            <a:normAutofit/>
          </a:bodyPr>
          <a:lstStyle/>
          <a:p>
            <a:pPr marL="0" indent="0" algn="ctr">
              <a:buNone/>
            </a:pPr>
            <a:r>
              <a:rPr lang="en-US" sz="1875" b="1" dirty="0">
                <a:solidFill>
                  <a:srgbClr val="2B2A26">
                    <a:alpha val="55000"/>
                  </a:srgbClr>
                </a:solidFill>
                <a:latin typeface="Arial" pitchFamily="34" charset="0"/>
                <a:ea typeface="Arial" pitchFamily="34" charset="-122"/>
                <a:cs typeface="Arial" pitchFamily="34" charset="-120"/>
              </a:rPr>
              <a:t>Body</a:t>
            </a:r>
            <a:endParaRPr lang="en-US" sz="1875" dirty="0"/>
          </a:p>
        </p:txBody>
      </p:sp>
      <p:sp>
        <p:nvSpPr>
          <p:cNvPr id="5" name="Text 3"/>
          <p:cNvSpPr/>
          <p:nvPr/>
        </p:nvSpPr>
        <p:spPr>
          <a:xfrm>
            <a:off x="7662168" y="2222500"/>
            <a:ext cx="1619151" cy="311150"/>
          </a:xfrm>
          <a:prstGeom prst="rect">
            <a:avLst/>
          </a:prstGeom>
          <a:noFill/>
          <a:ln/>
        </p:spPr>
        <p:txBody>
          <a:bodyPr wrap="square" lIns="25400" tIns="25400" rIns="25400" bIns="25400" rtlCol="0" anchor="ctr">
            <a:normAutofit/>
          </a:bodyPr>
          <a:lstStyle/>
          <a:p>
            <a:pPr marL="0" indent="0" algn="ctr">
              <a:buNone/>
            </a:pPr>
            <a:r>
              <a:rPr lang="en-US" sz="1875" b="1" dirty="0">
                <a:solidFill>
                  <a:srgbClr val="2B2A26">
                    <a:alpha val="55000"/>
                  </a:srgbClr>
                </a:solidFill>
                <a:latin typeface="Arial" pitchFamily="34" charset="0"/>
                <a:ea typeface="Arial" pitchFamily="34" charset="-122"/>
                <a:cs typeface="Arial" pitchFamily="34" charset="-120"/>
              </a:rPr>
              <a:t>Calendar</a:t>
            </a:r>
            <a:endParaRPr lang="en-US" sz="1875" dirty="0"/>
          </a:p>
        </p:txBody>
      </p:sp>
      <p:sp>
        <p:nvSpPr>
          <p:cNvPr id="6" name="Text 4"/>
          <p:cNvSpPr/>
          <p:nvPr/>
        </p:nvSpPr>
        <p:spPr>
          <a:xfrm>
            <a:off x="9395619" y="2222500"/>
            <a:ext cx="2213471" cy="311150"/>
          </a:xfrm>
          <a:prstGeom prst="rect">
            <a:avLst/>
          </a:prstGeom>
          <a:noFill/>
          <a:ln/>
        </p:spPr>
        <p:txBody>
          <a:bodyPr wrap="square" lIns="25400" tIns="25400" rIns="25400" bIns="25400" rtlCol="0" anchor="ctr">
            <a:normAutofit/>
          </a:bodyPr>
          <a:lstStyle/>
          <a:p>
            <a:pPr marL="0" indent="0" algn="ctr">
              <a:buNone/>
            </a:pPr>
            <a:r>
              <a:rPr lang="en-US" sz="1875" b="1" dirty="0">
                <a:solidFill>
                  <a:srgbClr val="2B2A26">
                    <a:alpha val="55000"/>
                  </a:srgbClr>
                </a:solidFill>
                <a:latin typeface="Arial" pitchFamily="34" charset="0"/>
                <a:ea typeface="Arial" pitchFamily="34" charset="-122"/>
                <a:cs typeface="Arial" pitchFamily="34" charset="-120"/>
              </a:rPr>
              <a:t>Acts on work</a:t>
            </a:r>
            <a:endParaRPr lang="en-US" sz="1875" dirty="0"/>
          </a:p>
        </p:txBody>
      </p:sp>
      <p:sp>
        <p:nvSpPr>
          <p:cNvPr id="7" name="Text 5"/>
          <p:cNvSpPr/>
          <p:nvPr/>
        </p:nvSpPr>
        <p:spPr>
          <a:xfrm>
            <a:off x="11722408" y="2222500"/>
            <a:ext cx="2493149" cy="311150"/>
          </a:xfrm>
          <a:prstGeom prst="rect">
            <a:avLst/>
          </a:prstGeom>
          <a:noFill/>
          <a:ln/>
        </p:spPr>
        <p:txBody>
          <a:bodyPr wrap="square" lIns="25400" tIns="25400" rIns="25400" bIns="25400" rtlCol="0" anchor="ctr">
            <a:normAutofit/>
          </a:bodyPr>
          <a:lstStyle/>
          <a:p>
            <a:pPr marL="0" indent="0" algn="ctr">
              <a:buNone/>
            </a:pPr>
            <a:r>
              <a:rPr lang="en-US" sz="1875" b="1" dirty="0">
                <a:solidFill>
                  <a:srgbClr val="2B2A26">
                    <a:alpha val="55000"/>
                  </a:srgbClr>
                </a:solidFill>
                <a:latin typeface="Arial" pitchFamily="34" charset="0"/>
                <a:ea typeface="Arial" pitchFamily="34" charset="-122"/>
                <a:cs typeface="Arial" pitchFamily="34" charset="-120"/>
              </a:rPr>
              <a:t>In-the-moment</a:t>
            </a:r>
            <a:endParaRPr lang="en-US" sz="1875" dirty="0"/>
          </a:p>
        </p:txBody>
      </p:sp>
      <p:sp>
        <p:nvSpPr>
          <p:cNvPr id="8" name="Text 6"/>
          <p:cNvSpPr/>
          <p:nvPr/>
        </p:nvSpPr>
        <p:spPr>
          <a:xfrm>
            <a:off x="14320446" y="2222500"/>
            <a:ext cx="3004432" cy="311150"/>
          </a:xfrm>
          <a:prstGeom prst="rect">
            <a:avLst/>
          </a:prstGeom>
          <a:noFill/>
          <a:ln/>
        </p:spPr>
        <p:txBody>
          <a:bodyPr wrap="square" lIns="25400" tIns="25400" rIns="25400" bIns="25400" rtlCol="0" anchor="ctr">
            <a:normAutofit/>
          </a:bodyPr>
          <a:lstStyle/>
          <a:p>
            <a:pPr marL="0" indent="0" algn="ctr">
              <a:buNone/>
            </a:pPr>
            <a:r>
              <a:rPr lang="en-US" sz="1875" b="1" dirty="0">
                <a:solidFill>
                  <a:srgbClr val="2B2A26">
                    <a:alpha val="55000"/>
                  </a:srgbClr>
                </a:solidFill>
                <a:latin typeface="Arial" pitchFamily="34" charset="0"/>
                <a:ea typeface="Arial" pitchFamily="34" charset="-122"/>
                <a:cs typeface="Arial" pitchFamily="34" charset="-120"/>
              </a:rPr>
              <a:t>Privacy on-device</a:t>
            </a:r>
            <a:endParaRPr lang="en-US" sz="1875" dirty="0"/>
          </a:p>
        </p:txBody>
      </p:sp>
      <p:sp>
        <p:nvSpPr>
          <p:cNvPr id="9" name="Shape 7"/>
          <p:cNvSpPr/>
          <p:nvPr/>
        </p:nvSpPr>
        <p:spPr>
          <a:xfrm>
            <a:off x="914400" y="2667000"/>
            <a:ext cx="16459200" cy="628650"/>
          </a:xfrm>
          <a:prstGeom prst="rect">
            <a:avLst/>
          </a:prstGeom>
          <a:solidFill>
            <a:srgbClr val="FFFFFF"/>
          </a:solidFill>
          <a:ln/>
        </p:spPr>
        <p:txBody>
          <a:bodyPr/>
          <a:lstStyle/>
          <a:p>
            <a:endParaRPr lang="de-DE"/>
          </a:p>
        </p:txBody>
      </p:sp>
      <p:sp>
        <p:nvSpPr>
          <p:cNvPr id="10" name="Shape 8"/>
          <p:cNvSpPr/>
          <p:nvPr/>
        </p:nvSpPr>
        <p:spPr>
          <a:xfrm>
            <a:off x="914400" y="3289300"/>
            <a:ext cx="5591870" cy="9525"/>
          </a:xfrm>
          <a:prstGeom prst="rect">
            <a:avLst/>
          </a:prstGeom>
          <a:solidFill>
            <a:srgbClr val="2B2A26">
              <a:alpha val="10000"/>
            </a:srgbClr>
          </a:solidFill>
          <a:ln/>
        </p:spPr>
        <p:txBody>
          <a:bodyPr/>
          <a:lstStyle/>
          <a:p>
            <a:endParaRPr lang="de-DE"/>
          </a:p>
        </p:txBody>
      </p:sp>
      <p:sp>
        <p:nvSpPr>
          <p:cNvPr id="11" name="Shape 9"/>
          <p:cNvSpPr/>
          <p:nvPr/>
        </p:nvSpPr>
        <p:spPr>
          <a:xfrm>
            <a:off x="914400" y="2667000"/>
            <a:ext cx="5591870" cy="9525"/>
          </a:xfrm>
          <a:prstGeom prst="rect">
            <a:avLst/>
          </a:prstGeom>
          <a:solidFill>
            <a:srgbClr val="2B2A26">
              <a:alpha val="10000"/>
            </a:srgbClr>
          </a:solidFill>
          <a:ln/>
        </p:spPr>
        <p:txBody>
          <a:bodyPr/>
          <a:lstStyle/>
          <a:p>
            <a:endParaRPr lang="de-DE"/>
          </a:p>
        </p:txBody>
      </p:sp>
      <p:sp>
        <p:nvSpPr>
          <p:cNvPr id="12" name="Shape 10"/>
          <p:cNvSpPr/>
          <p:nvPr/>
        </p:nvSpPr>
        <p:spPr>
          <a:xfrm>
            <a:off x="914400" y="2667000"/>
            <a:ext cx="9525" cy="628650"/>
          </a:xfrm>
          <a:prstGeom prst="rect">
            <a:avLst/>
          </a:prstGeom>
          <a:solidFill>
            <a:srgbClr val="2B2A26">
              <a:alpha val="10000"/>
            </a:srgbClr>
          </a:solidFill>
          <a:ln/>
        </p:spPr>
        <p:txBody>
          <a:bodyPr/>
          <a:lstStyle/>
          <a:p>
            <a:endParaRPr lang="de-DE"/>
          </a:p>
        </p:txBody>
      </p:sp>
      <p:sp>
        <p:nvSpPr>
          <p:cNvPr id="13" name="Text 11"/>
          <p:cNvSpPr/>
          <p:nvPr/>
        </p:nvSpPr>
        <p:spPr>
          <a:xfrm>
            <a:off x="1092200" y="2844800"/>
            <a:ext cx="5410376" cy="311150"/>
          </a:xfrm>
          <a:prstGeom prst="rect">
            <a:avLst/>
          </a:prstGeom>
          <a:noFill/>
          <a:ln/>
        </p:spPr>
        <p:txBody>
          <a:bodyPr wrap="square" lIns="25400" tIns="25400" rIns="25400" bIns="25400" rtlCol="0" anchor="ctr">
            <a:normAutofit/>
          </a:bodyPr>
          <a:lstStyle/>
          <a:p>
            <a:pPr marL="0" indent="0" algn="l">
              <a:buNone/>
            </a:pPr>
            <a:r>
              <a:rPr lang="en-US" sz="1875" b="1" dirty="0">
                <a:solidFill>
                  <a:srgbClr val="2B2A26"/>
                </a:solidFill>
                <a:latin typeface="Arial" pitchFamily="34" charset="0"/>
                <a:ea typeface="Arial" pitchFamily="34" charset="-122"/>
                <a:cs typeface="Arial" pitchFamily="34" charset="-120"/>
              </a:rPr>
              <a:t>WHOOP · Oura · Garmin · Fitbit</a:t>
            </a:r>
            <a:endParaRPr lang="en-US" sz="1875" dirty="0"/>
          </a:p>
        </p:txBody>
      </p:sp>
      <p:sp>
        <p:nvSpPr>
          <p:cNvPr id="14" name="Shape 12"/>
          <p:cNvSpPr/>
          <p:nvPr/>
        </p:nvSpPr>
        <p:spPr>
          <a:xfrm>
            <a:off x="6506270" y="3289300"/>
            <a:ext cx="1098748" cy="9525"/>
          </a:xfrm>
          <a:prstGeom prst="rect">
            <a:avLst/>
          </a:prstGeom>
          <a:solidFill>
            <a:srgbClr val="2B2A26">
              <a:alpha val="10000"/>
            </a:srgbClr>
          </a:solidFill>
          <a:ln/>
        </p:spPr>
        <p:txBody>
          <a:bodyPr/>
          <a:lstStyle/>
          <a:p>
            <a:endParaRPr lang="de-DE"/>
          </a:p>
        </p:txBody>
      </p:sp>
      <p:sp>
        <p:nvSpPr>
          <p:cNvPr id="15" name="Shape 13"/>
          <p:cNvSpPr/>
          <p:nvPr/>
        </p:nvSpPr>
        <p:spPr>
          <a:xfrm>
            <a:off x="6506270" y="2667000"/>
            <a:ext cx="1098748" cy="9525"/>
          </a:xfrm>
          <a:prstGeom prst="rect">
            <a:avLst/>
          </a:prstGeom>
          <a:solidFill>
            <a:srgbClr val="2B2A26">
              <a:alpha val="10000"/>
            </a:srgbClr>
          </a:solidFill>
          <a:ln/>
        </p:spPr>
        <p:txBody>
          <a:bodyPr/>
          <a:lstStyle/>
          <a:p>
            <a:endParaRPr lang="de-DE"/>
          </a:p>
        </p:txBody>
      </p:sp>
      <p:sp>
        <p:nvSpPr>
          <p:cNvPr id="16" name="Text 14"/>
          <p:cNvSpPr/>
          <p:nvPr/>
        </p:nvSpPr>
        <p:spPr>
          <a:xfrm>
            <a:off x="6477695" y="2682875"/>
            <a:ext cx="1155898" cy="635000"/>
          </a:xfrm>
          <a:prstGeom prst="rect">
            <a:avLst/>
          </a:prstGeom>
          <a:noFill/>
          <a:ln/>
        </p:spPr>
        <p:txBody>
          <a:bodyPr wrap="square" lIns="25400" tIns="25400" rIns="25400" bIns="25400" rtlCol="0" anchor="ctr">
            <a:normAutofit/>
          </a:bodyPr>
          <a:lstStyle/>
          <a:p>
            <a:pPr marL="0" indent="0" algn="ctr">
              <a:buNone/>
            </a:pPr>
            <a:r>
              <a:rPr lang="en-US" sz="1875" b="1" dirty="0">
                <a:solidFill>
                  <a:srgbClr val="2F8F7F"/>
                </a:solidFill>
                <a:latin typeface="Arial" pitchFamily="34" charset="0"/>
                <a:ea typeface="Arial" pitchFamily="34" charset="-122"/>
                <a:cs typeface="Arial" pitchFamily="34" charset="-120"/>
              </a:rPr>
              <a:t>✓</a:t>
            </a:r>
            <a:endParaRPr lang="en-US" sz="1875" dirty="0"/>
          </a:p>
        </p:txBody>
      </p:sp>
      <p:sp>
        <p:nvSpPr>
          <p:cNvPr id="17" name="Shape 15"/>
          <p:cNvSpPr/>
          <p:nvPr/>
        </p:nvSpPr>
        <p:spPr>
          <a:xfrm>
            <a:off x="7605018" y="3289300"/>
            <a:ext cx="1733451" cy="9525"/>
          </a:xfrm>
          <a:prstGeom prst="rect">
            <a:avLst/>
          </a:prstGeom>
          <a:solidFill>
            <a:srgbClr val="2B2A26">
              <a:alpha val="10000"/>
            </a:srgbClr>
          </a:solidFill>
          <a:ln/>
        </p:spPr>
        <p:txBody>
          <a:bodyPr/>
          <a:lstStyle/>
          <a:p>
            <a:endParaRPr lang="de-DE"/>
          </a:p>
        </p:txBody>
      </p:sp>
      <p:sp>
        <p:nvSpPr>
          <p:cNvPr id="18" name="Shape 16"/>
          <p:cNvSpPr/>
          <p:nvPr/>
        </p:nvSpPr>
        <p:spPr>
          <a:xfrm>
            <a:off x="7605018" y="2667000"/>
            <a:ext cx="1733451" cy="9525"/>
          </a:xfrm>
          <a:prstGeom prst="rect">
            <a:avLst/>
          </a:prstGeom>
          <a:solidFill>
            <a:srgbClr val="2B2A26">
              <a:alpha val="10000"/>
            </a:srgbClr>
          </a:solidFill>
          <a:ln/>
        </p:spPr>
        <p:txBody>
          <a:bodyPr/>
          <a:lstStyle/>
          <a:p>
            <a:endParaRPr lang="de-DE"/>
          </a:p>
        </p:txBody>
      </p:sp>
      <p:sp>
        <p:nvSpPr>
          <p:cNvPr id="19" name="Text 17"/>
          <p:cNvSpPr/>
          <p:nvPr/>
        </p:nvSpPr>
        <p:spPr>
          <a:xfrm>
            <a:off x="7576443" y="2682875"/>
            <a:ext cx="1790601"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20" name="Shape 18"/>
          <p:cNvSpPr/>
          <p:nvPr/>
        </p:nvSpPr>
        <p:spPr>
          <a:xfrm>
            <a:off x="9338469" y="3289300"/>
            <a:ext cx="2327771" cy="9525"/>
          </a:xfrm>
          <a:prstGeom prst="rect">
            <a:avLst/>
          </a:prstGeom>
          <a:solidFill>
            <a:srgbClr val="2B2A26">
              <a:alpha val="10000"/>
            </a:srgbClr>
          </a:solidFill>
          <a:ln/>
        </p:spPr>
        <p:txBody>
          <a:bodyPr/>
          <a:lstStyle/>
          <a:p>
            <a:endParaRPr lang="de-DE"/>
          </a:p>
        </p:txBody>
      </p:sp>
      <p:sp>
        <p:nvSpPr>
          <p:cNvPr id="21" name="Shape 19"/>
          <p:cNvSpPr/>
          <p:nvPr/>
        </p:nvSpPr>
        <p:spPr>
          <a:xfrm>
            <a:off x="9338469" y="2667000"/>
            <a:ext cx="2327771" cy="9525"/>
          </a:xfrm>
          <a:prstGeom prst="rect">
            <a:avLst/>
          </a:prstGeom>
          <a:solidFill>
            <a:srgbClr val="2B2A26">
              <a:alpha val="10000"/>
            </a:srgbClr>
          </a:solidFill>
          <a:ln/>
        </p:spPr>
        <p:txBody>
          <a:bodyPr/>
          <a:lstStyle/>
          <a:p>
            <a:endParaRPr lang="de-DE"/>
          </a:p>
        </p:txBody>
      </p:sp>
      <p:sp>
        <p:nvSpPr>
          <p:cNvPr id="22" name="Text 20"/>
          <p:cNvSpPr/>
          <p:nvPr/>
        </p:nvSpPr>
        <p:spPr>
          <a:xfrm>
            <a:off x="9309894" y="2682875"/>
            <a:ext cx="2384921"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23" name="Shape 21"/>
          <p:cNvSpPr/>
          <p:nvPr/>
        </p:nvSpPr>
        <p:spPr>
          <a:xfrm>
            <a:off x="11666240" y="3289300"/>
            <a:ext cx="2605485" cy="9525"/>
          </a:xfrm>
          <a:prstGeom prst="rect">
            <a:avLst/>
          </a:prstGeom>
          <a:solidFill>
            <a:srgbClr val="2B2A26">
              <a:alpha val="10000"/>
            </a:srgbClr>
          </a:solidFill>
          <a:ln/>
        </p:spPr>
        <p:txBody>
          <a:bodyPr/>
          <a:lstStyle/>
          <a:p>
            <a:endParaRPr lang="de-DE"/>
          </a:p>
        </p:txBody>
      </p:sp>
      <p:sp>
        <p:nvSpPr>
          <p:cNvPr id="24" name="Shape 22"/>
          <p:cNvSpPr/>
          <p:nvPr/>
        </p:nvSpPr>
        <p:spPr>
          <a:xfrm>
            <a:off x="11666240" y="2667000"/>
            <a:ext cx="2605485" cy="9525"/>
          </a:xfrm>
          <a:prstGeom prst="rect">
            <a:avLst/>
          </a:prstGeom>
          <a:solidFill>
            <a:srgbClr val="2B2A26">
              <a:alpha val="10000"/>
            </a:srgbClr>
          </a:solidFill>
          <a:ln/>
        </p:spPr>
        <p:txBody>
          <a:bodyPr/>
          <a:lstStyle/>
          <a:p>
            <a:endParaRPr lang="de-DE"/>
          </a:p>
        </p:txBody>
      </p:sp>
      <p:sp>
        <p:nvSpPr>
          <p:cNvPr id="25" name="Text 23"/>
          <p:cNvSpPr/>
          <p:nvPr/>
        </p:nvSpPr>
        <p:spPr>
          <a:xfrm>
            <a:off x="11636683" y="2682875"/>
            <a:ext cx="2664599"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26" name="Shape 24"/>
          <p:cNvSpPr/>
          <p:nvPr/>
        </p:nvSpPr>
        <p:spPr>
          <a:xfrm>
            <a:off x="14271724" y="3289300"/>
            <a:ext cx="3101876" cy="9525"/>
          </a:xfrm>
          <a:prstGeom prst="rect">
            <a:avLst/>
          </a:prstGeom>
          <a:solidFill>
            <a:srgbClr val="2B2A26">
              <a:alpha val="10000"/>
            </a:srgbClr>
          </a:solidFill>
          <a:ln/>
        </p:spPr>
        <p:txBody>
          <a:bodyPr/>
          <a:lstStyle/>
          <a:p>
            <a:endParaRPr lang="de-DE"/>
          </a:p>
        </p:txBody>
      </p:sp>
      <p:sp>
        <p:nvSpPr>
          <p:cNvPr id="27" name="Shape 25"/>
          <p:cNvSpPr/>
          <p:nvPr/>
        </p:nvSpPr>
        <p:spPr>
          <a:xfrm>
            <a:off x="14271724" y="2667000"/>
            <a:ext cx="3101876" cy="9525"/>
          </a:xfrm>
          <a:prstGeom prst="rect">
            <a:avLst/>
          </a:prstGeom>
          <a:solidFill>
            <a:srgbClr val="2B2A26">
              <a:alpha val="10000"/>
            </a:srgbClr>
          </a:solidFill>
          <a:ln/>
        </p:spPr>
        <p:txBody>
          <a:bodyPr/>
          <a:lstStyle/>
          <a:p>
            <a:endParaRPr lang="de-DE"/>
          </a:p>
        </p:txBody>
      </p:sp>
      <p:sp>
        <p:nvSpPr>
          <p:cNvPr id="28" name="Shape 26"/>
          <p:cNvSpPr/>
          <p:nvPr/>
        </p:nvSpPr>
        <p:spPr>
          <a:xfrm>
            <a:off x="17367250" y="2667000"/>
            <a:ext cx="9525" cy="628650"/>
          </a:xfrm>
          <a:prstGeom prst="rect">
            <a:avLst/>
          </a:prstGeom>
          <a:solidFill>
            <a:srgbClr val="2B2A26">
              <a:alpha val="10000"/>
            </a:srgbClr>
          </a:solidFill>
          <a:ln/>
        </p:spPr>
        <p:txBody>
          <a:bodyPr/>
          <a:lstStyle/>
          <a:p>
            <a:endParaRPr lang="de-DE"/>
          </a:p>
        </p:txBody>
      </p:sp>
      <p:sp>
        <p:nvSpPr>
          <p:cNvPr id="29" name="Text 27"/>
          <p:cNvSpPr/>
          <p:nvPr/>
        </p:nvSpPr>
        <p:spPr>
          <a:xfrm>
            <a:off x="14234721" y="2682875"/>
            <a:ext cx="3169532"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30" name="Shape 28"/>
          <p:cNvSpPr/>
          <p:nvPr/>
        </p:nvSpPr>
        <p:spPr>
          <a:xfrm>
            <a:off x="914400" y="3390900"/>
            <a:ext cx="16459200" cy="628650"/>
          </a:xfrm>
          <a:prstGeom prst="rect">
            <a:avLst/>
          </a:prstGeom>
          <a:solidFill>
            <a:srgbClr val="FFFFFF"/>
          </a:solidFill>
          <a:ln/>
        </p:spPr>
        <p:txBody>
          <a:bodyPr/>
          <a:lstStyle/>
          <a:p>
            <a:endParaRPr lang="de-DE"/>
          </a:p>
        </p:txBody>
      </p:sp>
      <p:sp>
        <p:nvSpPr>
          <p:cNvPr id="31" name="Shape 29"/>
          <p:cNvSpPr/>
          <p:nvPr/>
        </p:nvSpPr>
        <p:spPr>
          <a:xfrm>
            <a:off x="914400" y="4013200"/>
            <a:ext cx="5591870" cy="9525"/>
          </a:xfrm>
          <a:prstGeom prst="rect">
            <a:avLst/>
          </a:prstGeom>
          <a:solidFill>
            <a:srgbClr val="2B2A26">
              <a:alpha val="10000"/>
            </a:srgbClr>
          </a:solidFill>
          <a:ln/>
        </p:spPr>
        <p:txBody>
          <a:bodyPr/>
          <a:lstStyle/>
          <a:p>
            <a:endParaRPr lang="de-DE"/>
          </a:p>
        </p:txBody>
      </p:sp>
      <p:sp>
        <p:nvSpPr>
          <p:cNvPr id="32" name="Shape 30"/>
          <p:cNvSpPr/>
          <p:nvPr/>
        </p:nvSpPr>
        <p:spPr>
          <a:xfrm>
            <a:off x="914400" y="3390900"/>
            <a:ext cx="5591870" cy="9525"/>
          </a:xfrm>
          <a:prstGeom prst="rect">
            <a:avLst/>
          </a:prstGeom>
          <a:solidFill>
            <a:srgbClr val="2B2A26">
              <a:alpha val="10000"/>
            </a:srgbClr>
          </a:solidFill>
          <a:ln/>
        </p:spPr>
        <p:txBody>
          <a:bodyPr/>
          <a:lstStyle/>
          <a:p>
            <a:endParaRPr lang="de-DE"/>
          </a:p>
        </p:txBody>
      </p:sp>
      <p:sp>
        <p:nvSpPr>
          <p:cNvPr id="33" name="Shape 31"/>
          <p:cNvSpPr/>
          <p:nvPr/>
        </p:nvSpPr>
        <p:spPr>
          <a:xfrm>
            <a:off x="914400" y="3390900"/>
            <a:ext cx="9525" cy="628650"/>
          </a:xfrm>
          <a:prstGeom prst="rect">
            <a:avLst/>
          </a:prstGeom>
          <a:solidFill>
            <a:srgbClr val="2B2A26">
              <a:alpha val="10000"/>
            </a:srgbClr>
          </a:solidFill>
          <a:ln/>
        </p:spPr>
        <p:txBody>
          <a:bodyPr/>
          <a:lstStyle/>
          <a:p>
            <a:endParaRPr lang="de-DE"/>
          </a:p>
        </p:txBody>
      </p:sp>
      <p:sp>
        <p:nvSpPr>
          <p:cNvPr id="34" name="Text 32"/>
          <p:cNvSpPr/>
          <p:nvPr/>
        </p:nvSpPr>
        <p:spPr>
          <a:xfrm>
            <a:off x="1092200" y="3568700"/>
            <a:ext cx="5410376" cy="311150"/>
          </a:xfrm>
          <a:prstGeom prst="rect">
            <a:avLst/>
          </a:prstGeom>
          <a:noFill/>
          <a:ln/>
        </p:spPr>
        <p:txBody>
          <a:bodyPr wrap="square" lIns="25400" tIns="25400" rIns="25400" bIns="25400" rtlCol="0" anchor="ctr">
            <a:normAutofit/>
          </a:bodyPr>
          <a:lstStyle/>
          <a:p>
            <a:pPr marL="0" indent="0" algn="l">
              <a:buNone/>
            </a:pPr>
            <a:r>
              <a:rPr lang="en-US" sz="1875" b="1" dirty="0">
                <a:solidFill>
                  <a:srgbClr val="2B2A26"/>
                </a:solidFill>
                <a:latin typeface="Arial" pitchFamily="34" charset="0"/>
                <a:ea typeface="Arial" pitchFamily="34" charset="-122"/>
                <a:cs typeface="Arial" pitchFamily="34" charset="-120"/>
              </a:rPr>
              <a:t>Clockwise · Reclaim</a:t>
            </a:r>
            <a:endParaRPr lang="en-US" sz="1875" dirty="0"/>
          </a:p>
        </p:txBody>
      </p:sp>
      <p:sp>
        <p:nvSpPr>
          <p:cNvPr id="35" name="Shape 33"/>
          <p:cNvSpPr/>
          <p:nvPr/>
        </p:nvSpPr>
        <p:spPr>
          <a:xfrm>
            <a:off x="6506270" y="4013200"/>
            <a:ext cx="1098748" cy="9525"/>
          </a:xfrm>
          <a:prstGeom prst="rect">
            <a:avLst/>
          </a:prstGeom>
          <a:solidFill>
            <a:srgbClr val="2B2A26">
              <a:alpha val="10000"/>
            </a:srgbClr>
          </a:solidFill>
          <a:ln/>
        </p:spPr>
        <p:txBody>
          <a:bodyPr/>
          <a:lstStyle/>
          <a:p>
            <a:endParaRPr lang="de-DE"/>
          </a:p>
        </p:txBody>
      </p:sp>
      <p:sp>
        <p:nvSpPr>
          <p:cNvPr id="36" name="Shape 34"/>
          <p:cNvSpPr/>
          <p:nvPr/>
        </p:nvSpPr>
        <p:spPr>
          <a:xfrm>
            <a:off x="6506270" y="3390900"/>
            <a:ext cx="1098748" cy="9525"/>
          </a:xfrm>
          <a:prstGeom prst="rect">
            <a:avLst/>
          </a:prstGeom>
          <a:solidFill>
            <a:srgbClr val="2B2A26">
              <a:alpha val="10000"/>
            </a:srgbClr>
          </a:solidFill>
          <a:ln/>
        </p:spPr>
        <p:txBody>
          <a:bodyPr/>
          <a:lstStyle/>
          <a:p>
            <a:endParaRPr lang="de-DE"/>
          </a:p>
        </p:txBody>
      </p:sp>
      <p:sp>
        <p:nvSpPr>
          <p:cNvPr id="37" name="Text 35"/>
          <p:cNvSpPr/>
          <p:nvPr/>
        </p:nvSpPr>
        <p:spPr>
          <a:xfrm>
            <a:off x="6477695" y="3406775"/>
            <a:ext cx="1155898"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38" name="Shape 36"/>
          <p:cNvSpPr/>
          <p:nvPr/>
        </p:nvSpPr>
        <p:spPr>
          <a:xfrm>
            <a:off x="7605018" y="4013200"/>
            <a:ext cx="1733451" cy="9525"/>
          </a:xfrm>
          <a:prstGeom prst="rect">
            <a:avLst/>
          </a:prstGeom>
          <a:solidFill>
            <a:srgbClr val="2B2A26">
              <a:alpha val="10000"/>
            </a:srgbClr>
          </a:solidFill>
          <a:ln/>
        </p:spPr>
        <p:txBody>
          <a:bodyPr/>
          <a:lstStyle/>
          <a:p>
            <a:endParaRPr lang="de-DE"/>
          </a:p>
        </p:txBody>
      </p:sp>
      <p:sp>
        <p:nvSpPr>
          <p:cNvPr id="39" name="Shape 37"/>
          <p:cNvSpPr/>
          <p:nvPr/>
        </p:nvSpPr>
        <p:spPr>
          <a:xfrm>
            <a:off x="7605018" y="3390900"/>
            <a:ext cx="1733451" cy="9525"/>
          </a:xfrm>
          <a:prstGeom prst="rect">
            <a:avLst/>
          </a:prstGeom>
          <a:solidFill>
            <a:srgbClr val="2B2A26">
              <a:alpha val="10000"/>
            </a:srgbClr>
          </a:solidFill>
          <a:ln/>
        </p:spPr>
        <p:txBody>
          <a:bodyPr/>
          <a:lstStyle/>
          <a:p>
            <a:endParaRPr lang="de-DE"/>
          </a:p>
        </p:txBody>
      </p:sp>
      <p:sp>
        <p:nvSpPr>
          <p:cNvPr id="40" name="Text 38"/>
          <p:cNvSpPr/>
          <p:nvPr/>
        </p:nvSpPr>
        <p:spPr>
          <a:xfrm>
            <a:off x="7576443" y="3406775"/>
            <a:ext cx="1790601" cy="635000"/>
          </a:xfrm>
          <a:prstGeom prst="rect">
            <a:avLst/>
          </a:prstGeom>
          <a:noFill/>
          <a:ln/>
        </p:spPr>
        <p:txBody>
          <a:bodyPr wrap="square" lIns="25400" tIns="25400" rIns="25400" bIns="25400" rtlCol="0" anchor="ctr">
            <a:normAutofit/>
          </a:bodyPr>
          <a:lstStyle/>
          <a:p>
            <a:pPr marL="0" indent="0" algn="ctr">
              <a:buNone/>
            </a:pPr>
            <a:r>
              <a:rPr lang="en-US" sz="1875" b="1" dirty="0">
                <a:solidFill>
                  <a:srgbClr val="2F8F7F"/>
                </a:solidFill>
                <a:latin typeface="Arial" pitchFamily="34" charset="0"/>
                <a:ea typeface="Arial" pitchFamily="34" charset="-122"/>
                <a:cs typeface="Arial" pitchFamily="34" charset="-120"/>
              </a:rPr>
              <a:t>✓</a:t>
            </a:r>
            <a:endParaRPr lang="en-US" sz="1875" dirty="0"/>
          </a:p>
        </p:txBody>
      </p:sp>
      <p:sp>
        <p:nvSpPr>
          <p:cNvPr id="41" name="Shape 39"/>
          <p:cNvSpPr/>
          <p:nvPr/>
        </p:nvSpPr>
        <p:spPr>
          <a:xfrm>
            <a:off x="9338469" y="4013200"/>
            <a:ext cx="2327771" cy="9525"/>
          </a:xfrm>
          <a:prstGeom prst="rect">
            <a:avLst/>
          </a:prstGeom>
          <a:solidFill>
            <a:srgbClr val="2B2A26">
              <a:alpha val="10000"/>
            </a:srgbClr>
          </a:solidFill>
          <a:ln/>
        </p:spPr>
        <p:txBody>
          <a:bodyPr/>
          <a:lstStyle/>
          <a:p>
            <a:endParaRPr lang="de-DE"/>
          </a:p>
        </p:txBody>
      </p:sp>
      <p:sp>
        <p:nvSpPr>
          <p:cNvPr id="42" name="Shape 40"/>
          <p:cNvSpPr/>
          <p:nvPr/>
        </p:nvSpPr>
        <p:spPr>
          <a:xfrm>
            <a:off x="9338469" y="3390900"/>
            <a:ext cx="2327771" cy="9525"/>
          </a:xfrm>
          <a:prstGeom prst="rect">
            <a:avLst/>
          </a:prstGeom>
          <a:solidFill>
            <a:srgbClr val="2B2A26">
              <a:alpha val="10000"/>
            </a:srgbClr>
          </a:solidFill>
          <a:ln/>
        </p:spPr>
        <p:txBody>
          <a:bodyPr/>
          <a:lstStyle/>
          <a:p>
            <a:endParaRPr lang="de-DE"/>
          </a:p>
        </p:txBody>
      </p:sp>
      <p:sp>
        <p:nvSpPr>
          <p:cNvPr id="43" name="Text 41"/>
          <p:cNvSpPr/>
          <p:nvPr/>
        </p:nvSpPr>
        <p:spPr>
          <a:xfrm>
            <a:off x="9309894" y="3406775"/>
            <a:ext cx="2384921" cy="635000"/>
          </a:xfrm>
          <a:prstGeom prst="rect">
            <a:avLst/>
          </a:prstGeom>
          <a:noFill/>
          <a:ln/>
        </p:spPr>
        <p:txBody>
          <a:bodyPr wrap="square" lIns="25400" tIns="25400" rIns="25400" bIns="25400" rtlCol="0" anchor="ctr">
            <a:normAutofit/>
          </a:bodyPr>
          <a:lstStyle/>
          <a:p>
            <a:pPr marL="0" indent="0" algn="ctr">
              <a:buNone/>
            </a:pPr>
            <a:r>
              <a:rPr lang="en-US" sz="1875" b="1" dirty="0">
                <a:solidFill>
                  <a:srgbClr val="2F8F7F"/>
                </a:solidFill>
                <a:latin typeface="Arial" pitchFamily="34" charset="0"/>
                <a:ea typeface="Arial" pitchFamily="34" charset="-122"/>
                <a:cs typeface="Arial" pitchFamily="34" charset="-120"/>
              </a:rPr>
              <a:t>✓</a:t>
            </a:r>
            <a:endParaRPr lang="en-US" sz="1875" dirty="0"/>
          </a:p>
        </p:txBody>
      </p:sp>
      <p:sp>
        <p:nvSpPr>
          <p:cNvPr id="44" name="Shape 42"/>
          <p:cNvSpPr/>
          <p:nvPr/>
        </p:nvSpPr>
        <p:spPr>
          <a:xfrm>
            <a:off x="11666240" y="4013200"/>
            <a:ext cx="2605485" cy="9525"/>
          </a:xfrm>
          <a:prstGeom prst="rect">
            <a:avLst/>
          </a:prstGeom>
          <a:solidFill>
            <a:srgbClr val="2B2A26">
              <a:alpha val="10000"/>
            </a:srgbClr>
          </a:solidFill>
          <a:ln/>
        </p:spPr>
        <p:txBody>
          <a:bodyPr/>
          <a:lstStyle/>
          <a:p>
            <a:endParaRPr lang="de-DE"/>
          </a:p>
        </p:txBody>
      </p:sp>
      <p:sp>
        <p:nvSpPr>
          <p:cNvPr id="45" name="Shape 43"/>
          <p:cNvSpPr/>
          <p:nvPr/>
        </p:nvSpPr>
        <p:spPr>
          <a:xfrm>
            <a:off x="11666240" y="3390900"/>
            <a:ext cx="2605485" cy="9525"/>
          </a:xfrm>
          <a:prstGeom prst="rect">
            <a:avLst/>
          </a:prstGeom>
          <a:solidFill>
            <a:srgbClr val="2B2A26">
              <a:alpha val="10000"/>
            </a:srgbClr>
          </a:solidFill>
          <a:ln/>
        </p:spPr>
        <p:txBody>
          <a:bodyPr/>
          <a:lstStyle/>
          <a:p>
            <a:endParaRPr lang="de-DE"/>
          </a:p>
        </p:txBody>
      </p:sp>
      <p:sp>
        <p:nvSpPr>
          <p:cNvPr id="46" name="Text 44"/>
          <p:cNvSpPr/>
          <p:nvPr/>
        </p:nvSpPr>
        <p:spPr>
          <a:xfrm>
            <a:off x="11636683" y="3406775"/>
            <a:ext cx="2664599"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47" name="Shape 45"/>
          <p:cNvSpPr/>
          <p:nvPr/>
        </p:nvSpPr>
        <p:spPr>
          <a:xfrm>
            <a:off x="14271724" y="4013200"/>
            <a:ext cx="3101876" cy="9525"/>
          </a:xfrm>
          <a:prstGeom prst="rect">
            <a:avLst/>
          </a:prstGeom>
          <a:solidFill>
            <a:srgbClr val="2B2A26">
              <a:alpha val="10000"/>
            </a:srgbClr>
          </a:solidFill>
          <a:ln/>
        </p:spPr>
        <p:txBody>
          <a:bodyPr/>
          <a:lstStyle/>
          <a:p>
            <a:endParaRPr lang="de-DE"/>
          </a:p>
        </p:txBody>
      </p:sp>
      <p:sp>
        <p:nvSpPr>
          <p:cNvPr id="48" name="Shape 46"/>
          <p:cNvSpPr/>
          <p:nvPr/>
        </p:nvSpPr>
        <p:spPr>
          <a:xfrm>
            <a:off x="14271724" y="3390900"/>
            <a:ext cx="3101876" cy="9525"/>
          </a:xfrm>
          <a:prstGeom prst="rect">
            <a:avLst/>
          </a:prstGeom>
          <a:solidFill>
            <a:srgbClr val="2B2A26">
              <a:alpha val="10000"/>
            </a:srgbClr>
          </a:solidFill>
          <a:ln/>
        </p:spPr>
        <p:txBody>
          <a:bodyPr/>
          <a:lstStyle/>
          <a:p>
            <a:endParaRPr lang="de-DE"/>
          </a:p>
        </p:txBody>
      </p:sp>
      <p:sp>
        <p:nvSpPr>
          <p:cNvPr id="49" name="Shape 47"/>
          <p:cNvSpPr/>
          <p:nvPr/>
        </p:nvSpPr>
        <p:spPr>
          <a:xfrm>
            <a:off x="17367250" y="3390900"/>
            <a:ext cx="9525" cy="628650"/>
          </a:xfrm>
          <a:prstGeom prst="rect">
            <a:avLst/>
          </a:prstGeom>
          <a:solidFill>
            <a:srgbClr val="2B2A26">
              <a:alpha val="10000"/>
            </a:srgbClr>
          </a:solidFill>
          <a:ln/>
        </p:spPr>
        <p:txBody>
          <a:bodyPr/>
          <a:lstStyle/>
          <a:p>
            <a:endParaRPr lang="de-DE"/>
          </a:p>
        </p:txBody>
      </p:sp>
      <p:sp>
        <p:nvSpPr>
          <p:cNvPr id="50" name="Text 48"/>
          <p:cNvSpPr/>
          <p:nvPr/>
        </p:nvSpPr>
        <p:spPr>
          <a:xfrm>
            <a:off x="14234721" y="3406775"/>
            <a:ext cx="3169532"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51" name="Shape 49"/>
          <p:cNvSpPr/>
          <p:nvPr/>
        </p:nvSpPr>
        <p:spPr>
          <a:xfrm>
            <a:off x="914400" y="4114800"/>
            <a:ext cx="16459200" cy="628650"/>
          </a:xfrm>
          <a:prstGeom prst="rect">
            <a:avLst/>
          </a:prstGeom>
          <a:solidFill>
            <a:srgbClr val="FFFFFF"/>
          </a:solidFill>
          <a:ln/>
        </p:spPr>
        <p:txBody>
          <a:bodyPr/>
          <a:lstStyle/>
          <a:p>
            <a:endParaRPr lang="de-DE"/>
          </a:p>
        </p:txBody>
      </p:sp>
      <p:sp>
        <p:nvSpPr>
          <p:cNvPr id="52" name="Shape 50"/>
          <p:cNvSpPr/>
          <p:nvPr/>
        </p:nvSpPr>
        <p:spPr>
          <a:xfrm>
            <a:off x="914400" y="4737100"/>
            <a:ext cx="5591870" cy="9525"/>
          </a:xfrm>
          <a:prstGeom prst="rect">
            <a:avLst/>
          </a:prstGeom>
          <a:solidFill>
            <a:srgbClr val="2B2A26">
              <a:alpha val="10000"/>
            </a:srgbClr>
          </a:solidFill>
          <a:ln/>
        </p:spPr>
        <p:txBody>
          <a:bodyPr/>
          <a:lstStyle/>
          <a:p>
            <a:endParaRPr lang="de-DE"/>
          </a:p>
        </p:txBody>
      </p:sp>
      <p:sp>
        <p:nvSpPr>
          <p:cNvPr id="53" name="Shape 51"/>
          <p:cNvSpPr/>
          <p:nvPr/>
        </p:nvSpPr>
        <p:spPr>
          <a:xfrm>
            <a:off x="914400" y="4114800"/>
            <a:ext cx="5591870" cy="9525"/>
          </a:xfrm>
          <a:prstGeom prst="rect">
            <a:avLst/>
          </a:prstGeom>
          <a:solidFill>
            <a:srgbClr val="2B2A26">
              <a:alpha val="10000"/>
            </a:srgbClr>
          </a:solidFill>
          <a:ln/>
        </p:spPr>
        <p:txBody>
          <a:bodyPr/>
          <a:lstStyle/>
          <a:p>
            <a:endParaRPr lang="de-DE"/>
          </a:p>
        </p:txBody>
      </p:sp>
      <p:sp>
        <p:nvSpPr>
          <p:cNvPr id="54" name="Shape 52"/>
          <p:cNvSpPr/>
          <p:nvPr/>
        </p:nvSpPr>
        <p:spPr>
          <a:xfrm>
            <a:off x="914400" y="4114800"/>
            <a:ext cx="9525" cy="628650"/>
          </a:xfrm>
          <a:prstGeom prst="rect">
            <a:avLst/>
          </a:prstGeom>
          <a:solidFill>
            <a:srgbClr val="2B2A26">
              <a:alpha val="10000"/>
            </a:srgbClr>
          </a:solidFill>
          <a:ln/>
        </p:spPr>
        <p:txBody>
          <a:bodyPr/>
          <a:lstStyle/>
          <a:p>
            <a:endParaRPr lang="de-DE"/>
          </a:p>
        </p:txBody>
      </p:sp>
      <p:sp>
        <p:nvSpPr>
          <p:cNvPr id="55" name="Text 53"/>
          <p:cNvSpPr/>
          <p:nvPr/>
        </p:nvSpPr>
        <p:spPr>
          <a:xfrm>
            <a:off x="1092200" y="4292600"/>
            <a:ext cx="5410376" cy="311150"/>
          </a:xfrm>
          <a:prstGeom prst="rect">
            <a:avLst/>
          </a:prstGeom>
          <a:noFill/>
          <a:ln/>
        </p:spPr>
        <p:txBody>
          <a:bodyPr wrap="square" lIns="25400" tIns="25400" rIns="25400" bIns="25400" rtlCol="0" anchor="ctr">
            <a:normAutofit/>
          </a:bodyPr>
          <a:lstStyle/>
          <a:p>
            <a:pPr marL="0" indent="0" algn="l">
              <a:buNone/>
            </a:pPr>
            <a:r>
              <a:rPr lang="en-US" sz="1875" b="1" dirty="0">
                <a:solidFill>
                  <a:srgbClr val="2B2A26"/>
                </a:solidFill>
                <a:latin typeface="Arial" pitchFamily="34" charset="0"/>
                <a:ea typeface="Arial" pitchFamily="34" charset="-122"/>
                <a:cs typeface="Arial" pitchFamily="34" charset="-120"/>
              </a:rPr>
              <a:t>Microsoft Viva Insights</a:t>
            </a:r>
            <a:endParaRPr lang="en-US" sz="1875" dirty="0"/>
          </a:p>
        </p:txBody>
      </p:sp>
      <p:sp>
        <p:nvSpPr>
          <p:cNvPr id="56" name="Shape 54"/>
          <p:cNvSpPr/>
          <p:nvPr/>
        </p:nvSpPr>
        <p:spPr>
          <a:xfrm>
            <a:off x="6506270" y="4737100"/>
            <a:ext cx="1098748" cy="9525"/>
          </a:xfrm>
          <a:prstGeom prst="rect">
            <a:avLst/>
          </a:prstGeom>
          <a:solidFill>
            <a:srgbClr val="2B2A26">
              <a:alpha val="10000"/>
            </a:srgbClr>
          </a:solidFill>
          <a:ln/>
        </p:spPr>
        <p:txBody>
          <a:bodyPr/>
          <a:lstStyle/>
          <a:p>
            <a:endParaRPr lang="de-DE"/>
          </a:p>
        </p:txBody>
      </p:sp>
      <p:sp>
        <p:nvSpPr>
          <p:cNvPr id="57" name="Shape 55"/>
          <p:cNvSpPr/>
          <p:nvPr/>
        </p:nvSpPr>
        <p:spPr>
          <a:xfrm>
            <a:off x="6506270" y="4114800"/>
            <a:ext cx="1098748" cy="9525"/>
          </a:xfrm>
          <a:prstGeom prst="rect">
            <a:avLst/>
          </a:prstGeom>
          <a:solidFill>
            <a:srgbClr val="2B2A26">
              <a:alpha val="10000"/>
            </a:srgbClr>
          </a:solidFill>
          <a:ln/>
        </p:spPr>
        <p:txBody>
          <a:bodyPr/>
          <a:lstStyle/>
          <a:p>
            <a:endParaRPr lang="de-DE"/>
          </a:p>
        </p:txBody>
      </p:sp>
      <p:sp>
        <p:nvSpPr>
          <p:cNvPr id="58" name="Text 56"/>
          <p:cNvSpPr/>
          <p:nvPr/>
        </p:nvSpPr>
        <p:spPr>
          <a:xfrm>
            <a:off x="6477695" y="4130675"/>
            <a:ext cx="1155898"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59" name="Shape 57"/>
          <p:cNvSpPr/>
          <p:nvPr/>
        </p:nvSpPr>
        <p:spPr>
          <a:xfrm>
            <a:off x="7605018" y="4737100"/>
            <a:ext cx="1733451" cy="9525"/>
          </a:xfrm>
          <a:prstGeom prst="rect">
            <a:avLst/>
          </a:prstGeom>
          <a:solidFill>
            <a:srgbClr val="2B2A26">
              <a:alpha val="10000"/>
            </a:srgbClr>
          </a:solidFill>
          <a:ln/>
        </p:spPr>
        <p:txBody>
          <a:bodyPr/>
          <a:lstStyle/>
          <a:p>
            <a:endParaRPr lang="de-DE"/>
          </a:p>
        </p:txBody>
      </p:sp>
      <p:sp>
        <p:nvSpPr>
          <p:cNvPr id="60" name="Shape 58"/>
          <p:cNvSpPr/>
          <p:nvPr/>
        </p:nvSpPr>
        <p:spPr>
          <a:xfrm>
            <a:off x="7605018" y="4114800"/>
            <a:ext cx="1733451" cy="9525"/>
          </a:xfrm>
          <a:prstGeom prst="rect">
            <a:avLst/>
          </a:prstGeom>
          <a:solidFill>
            <a:srgbClr val="2B2A26">
              <a:alpha val="10000"/>
            </a:srgbClr>
          </a:solidFill>
          <a:ln/>
        </p:spPr>
        <p:txBody>
          <a:bodyPr/>
          <a:lstStyle/>
          <a:p>
            <a:endParaRPr lang="de-DE"/>
          </a:p>
        </p:txBody>
      </p:sp>
      <p:sp>
        <p:nvSpPr>
          <p:cNvPr id="61" name="Text 59"/>
          <p:cNvSpPr/>
          <p:nvPr/>
        </p:nvSpPr>
        <p:spPr>
          <a:xfrm>
            <a:off x="7576443" y="4130675"/>
            <a:ext cx="1790601" cy="635000"/>
          </a:xfrm>
          <a:prstGeom prst="rect">
            <a:avLst/>
          </a:prstGeom>
          <a:noFill/>
          <a:ln/>
        </p:spPr>
        <p:txBody>
          <a:bodyPr wrap="square" lIns="25400" tIns="25400" rIns="25400" bIns="25400" rtlCol="0" anchor="ctr">
            <a:normAutofit/>
          </a:bodyPr>
          <a:lstStyle/>
          <a:p>
            <a:pPr marL="0" indent="0" algn="ctr">
              <a:buNone/>
            </a:pPr>
            <a:r>
              <a:rPr lang="en-US" sz="1875" b="1" dirty="0">
                <a:solidFill>
                  <a:srgbClr val="2F8F7F"/>
                </a:solidFill>
                <a:latin typeface="Arial" pitchFamily="34" charset="0"/>
                <a:ea typeface="Arial" pitchFamily="34" charset="-122"/>
                <a:cs typeface="Arial" pitchFamily="34" charset="-120"/>
              </a:rPr>
              <a:t>✓</a:t>
            </a:r>
            <a:endParaRPr lang="en-US" sz="1875" dirty="0"/>
          </a:p>
        </p:txBody>
      </p:sp>
      <p:sp>
        <p:nvSpPr>
          <p:cNvPr id="62" name="Shape 60"/>
          <p:cNvSpPr/>
          <p:nvPr/>
        </p:nvSpPr>
        <p:spPr>
          <a:xfrm>
            <a:off x="9338469" y="4737100"/>
            <a:ext cx="2327771" cy="9525"/>
          </a:xfrm>
          <a:prstGeom prst="rect">
            <a:avLst/>
          </a:prstGeom>
          <a:solidFill>
            <a:srgbClr val="2B2A26">
              <a:alpha val="10000"/>
            </a:srgbClr>
          </a:solidFill>
          <a:ln/>
        </p:spPr>
        <p:txBody>
          <a:bodyPr/>
          <a:lstStyle/>
          <a:p>
            <a:endParaRPr lang="de-DE"/>
          </a:p>
        </p:txBody>
      </p:sp>
      <p:sp>
        <p:nvSpPr>
          <p:cNvPr id="63" name="Shape 61"/>
          <p:cNvSpPr/>
          <p:nvPr/>
        </p:nvSpPr>
        <p:spPr>
          <a:xfrm>
            <a:off x="9338469" y="4114800"/>
            <a:ext cx="2327771" cy="9525"/>
          </a:xfrm>
          <a:prstGeom prst="rect">
            <a:avLst/>
          </a:prstGeom>
          <a:solidFill>
            <a:srgbClr val="2B2A26">
              <a:alpha val="10000"/>
            </a:srgbClr>
          </a:solidFill>
          <a:ln/>
        </p:spPr>
        <p:txBody>
          <a:bodyPr/>
          <a:lstStyle/>
          <a:p>
            <a:endParaRPr lang="de-DE"/>
          </a:p>
        </p:txBody>
      </p:sp>
      <p:sp>
        <p:nvSpPr>
          <p:cNvPr id="64" name="Text 62"/>
          <p:cNvSpPr/>
          <p:nvPr/>
        </p:nvSpPr>
        <p:spPr>
          <a:xfrm>
            <a:off x="9309894" y="4130675"/>
            <a:ext cx="2384921"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65" name="Shape 63"/>
          <p:cNvSpPr/>
          <p:nvPr/>
        </p:nvSpPr>
        <p:spPr>
          <a:xfrm>
            <a:off x="11666240" y="4737100"/>
            <a:ext cx="2605485" cy="9525"/>
          </a:xfrm>
          <a:prstGeom prst="rect">
            <a:avLst/>
          </a:prstGeom>
          <a:solidFill>
            <a:srgbClr val="2B2A26">
              <a:alpha val="10000"/>
            </a:srgbClr>
          </a:solidFill>
          <a:ln/>
        </p:spPr>
        <p:txBody>
          <a:bodyPr/>
          <a:lstStyle/>
          <a:p>
            <a:endParaRPr lang="de-DE"/>
          </a:p>
        </p:txBody>
      </p:sp>
      <p:sp>
        <p:nvSpPr>
          <p:cNvPr id="66" name="Shape 64"/>
          <p:cNvSpPr/>
          <p:nvPr/>
        </p:nvSpPr>
        <p:spPr>
          <a:xfrm>
            <a:off x="11666240" y="4114800"/>
            <a:ext cx="2605485" cy="9525"/>
          </a:xfrm>
          <a:prstGeom prst="rect">
            <a:avLst/>
          </a:prstGeom>
          <a:solidFill>
            <a:srgbClr val="2B2A26">
              <a:alpha val="10000"/>
            </a:srgbClr>
          </a:solidFill>
          <a:ln/>
        </p:spPr>
        <p:txBody>
          <a:bodyPr/>
          <a:lstStyle/>
          <a:p>
            <a:endParaRPr lang="de-DE"/>
          </a:p>
        </p:txBody>
      </p:sp>
      <p:sp>
        <p:nvSpPr>
          <p:cNvPr id="67" name="Text 65"/>
          <p:cNvSpPr/>
          <p:nvPr/>
        </p:nvSpPr>
        <p:spPr>
          <a:xfrm>
            <a:off x="11636683" y="4130675"/>
            <a:ext cx="2664599"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68" name="Shape 66"/>
          <p:cNvSpPr/>
          <p:nvPr/>
        </p:nvSpPr>
        <p:spPr>
          <a:xfrm>
            <a:off x="14271724" y="4737100"/>
            <a:ext cx="3101876" cy="9525"/>
          </a:xfrm>
          <a:prstGeom prst="rect">
            <a:avLst/>
          </a:prstGeom>
          <a:solidFill>
            <a:srgbClr val="2B2A26">
              <a:alpha val="10000"/>
            </a:srgbClr>
          </a:solidFill>
          <a:ln/>
        </p:spPr>
        <p:txBody>
          <a:bodyPr/>
          <a:lstStyle/>
          <a:p>
            <a:endParaRPr lang="de-DE"/>
          </a:p>
        </p:txBody>
      </p:sp>
      <p:sp>
        <p:nvSpPr>
          <p:cNvPr id="69" name="Shape 67"/>
          <p:cNvSpPr/>
          <p:nvPr/>
        </p:nvSpPr>
        <p:spPr>
          <a:xfrm>
            <a:off x="14271724" y="4114800"/>
            <a:ext cx="3101876" cy="9525"/>
          </a:xfrm>
          <a:prstGeom prst="rect">
            <a:avLst/>
          </a:prstGeom>
          <a:solidFill>
            <a:srgbClr val="2B2A26">
              <a:alpha val="10000"/>
            </a:srgbClr>
          </a:solidFill>
          <a:ln/>
        </p:spPr>
        <p:txBody>
          <a:bodyPr/>
          <a:lstStyle/>
          <a:p>
            <a:endParaRPr lang="de-DE"/>
          </a:p>
        </p:txBody>
      </p:sp>
      <p:sp>
        <p:nvSpPr>
          <p:cNvPr id="70" name="Shape 68"/>
          <p:cNvSpPr/>
          <p:nvPr/>
        </p:nvSpPr>
        <p:spPr>
          <a:xfrm>
            <a:off x="17367250" y="4114800"/>
            <a:ext cx="9525" cy="628650"/>
          </a:xfrm>
          <a:prstGeom prst="rect">
            <a:avLst/>
          </a:prstGeom>
          <a:solidFill>
            <a:srgbClr val="2B2A26">
              <a:alpha val="10000"/>
            </a:srgbClr>
          </a:solidFill>
          <a:ln/>
        </p:spPr>
        <p:txBody>
          <a:bodyPr/>
          <a:lstStyle/>
          <a:p>
            <a:endParaRPr lang="de-DE"/>
          </a:p>
        </p:txBody>
      </p:sp>
      <p:sp>
        <p:nvSpPr>
          <p:cNvPr id="71" name="Text 69"/>
          <p:cNvSpPr/>
          <p:nvPr/>
        </p:nvSpPr>
        <p:spPr>
          <a:xfrm>
            <a:off x="14234721" y="4130675"/>
            <a:ext cx="3169532"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72" name="Shape 70"/>
          <p:cNvSpPr/>
          <p:nvPr/>
        </p:nvSpPr>
        <p:spPr>
          <a:xfrm>
            <a:off x="914400" y="4838700"/>
            <a:ext cx="16459200" cy="628650"/>
          </a:xfrm>
          <a:prstGeom prst="rect">
            <a:avLst/>
          </a:prstGeom>
          <a:solidFill>
            <a:srgbClr val="FFFFFF"/>
          </a:solidFill>
          <a:ln/>
        </p:spPr>
        <p:txBody>
          <a:bodyPr/>
          <a:lstStyle/>
          <a:p>
            <a:endParaRPr lang="de-DE"/>
          </a:p>
        </p:txBody>
      </p:sp>
      <p:sp>
        <p:nvSpPr>
          <p:cNvPr id="73" name="Shape 71"/>
          <p:cNvSpPr/>
          <p:nvPr/>
        </p:nvSpPr>
        <p:spPr>
          <a:xfrm>
            <a:off x="914400" y="5461000"/>
            <a:ext cx="5591870" cy="9525"/>
          </a:xfrm>
          <a:prstGeom prst="rect">
            <a:avLst/>
          </a:prstGeom>
          <a:solidFill>
            <a:srgbClr val="2B2A26">
              <a:alpha val="10000"/>
            </a:srgbClr>
          </a:solidFill>
          <a:ln/>
        </p:spPr>
        <p:txBody>
          <a:bodyPr/>
          <a:lstStyle/>
          <a:p>
            <a:endParaRPr lang="de-DE"/>
          </a:p>
        </p:txBody>
      </p:sp>
      <p:sp>
        <p:nvSpPr>
          <p:cNvPr id="74" name="Shape 72"/>
          <p:cNvSpPr/>
          <p:nvPr/>
        </p:nvSpPr>
        <p:spPr>
          <a:xfrm>
            <a:off x="914400" y="4838700"/>
            <a:ext cx="5591870" cy="9525"/>
          </a:xfrm>
          <a:prstGeom prst="rect">
            <a:avLst/>
          </a:prstGeom>
          <a:solidFill>
            <a:srgbClr val="2B2A26">
              <a:alpha val="10000"/>
            </a:srgbClr>
          </a:solidFill>
          <a:ln/>
        </p:spPr>
        <p:txBody>
          <a:bodyPr/>
          <a:lstStyle/>
          <a:p>
            <a:endParaRPr lang="de-DE"/>
          </a:p>
        </p:txBody>
      </p:sp>
      <p:sp>
        <p:nvSpPr>
          <p:cNvPr id="75" name="Shape 73"/>
          <p:cNvSpPr/>
          <p:nvPr/>
        </p:nvSpPr>
        <p:spPr>
          <a:xfrm>
            <a:off x="914400" y="4838700"/>
            <a:ext cx="9525" cy="628650"/>
          </a:xfrm>
          <a:prstGeom prst="rect">
            <a:avLst/>
          </a:prstGeom>
          <a:solidFill>
            <a:srgbClr val="2B2A26">
              <a:alpha val="10000"/>
            </a:srgbClr>
          </a:solidFill>
          <a:ln/>
        </p:spPr>
        <p:txBody>
          <a:bodyPr/>
          <a:lstStyle/>
          <a:p>
            <a:endParaRPr lang="de-DE"/>
          </a:p>
        </p:txBody>
      </p:sp>
      <p:sp>
        <p:nvSpPr>
          <p:cNvPr id="76" name="Text 74"/>
          <p:cNvSpPr/>
          <p:nvPr/>
        </p:nvSpPr>
        <p:spPr>
          <a:xfrm>
            <a:off x="1092200" y="5016500"/>
            <a:ext cx="5410376" cy="311150"/>
          </a:xfrm>
          <a:prstGeom prst="rect">
            <a:avLst/>
          </a:prstGeom>
          <a:noFill/>
          <a:ln/>
        </p:spPr>
        <p:txBody>
          <a:bodyPr wrap="square" lIns="25400" tIns="25400" rIns="25400" bIns="25400" rtlCol="0" anchor="ctr">
            <a:normAutofit/>
          </a:bodyPr>
          <a:lstStyle/>
          <a:p>
            <a:pPr marL="0" indent="0" algn="l">
              <a:buNone/>
            </a:pPr>
            <a:r>
              <a:rPr lang="en-US" sz="1875" b="1" dirty="0">
                <a:solidFill>
                  <a:srgbClr val="2B2A26"/>
                </a:solidFill>
                <a:latin typeface="Arial" pitchFamily="34" charset="0"/>
                <a:ea typeface="Arial" pitchFamily="34" charset="-122"/>
                <a:cs typeface="Arial" pitchFamily="34" charset="-120"/>
              </a:rPr>
              <a:t>Headspace · Calm</a:t>
            </a:r>
            <a:endParaRPr lang="en-US" sz="1875" dirty="0"/>
          </a:p>
        </p:txBody>
      </p:sp>
      <p:sp>
        <p:nvSpPr>
          <p:cNvPr id="77" name="Shape 75"/>
          <p:cNvSpPr/>
          <p:nvPr/>
        </p:nvSpPr>
        <p:spPr>
          <a:xfrm>
            <a:off x="6506270" y="5461000"/>
            <a:ext cx="1098748" cy="9525"/>
          </a:xfrm>
          <a:prstGeom prst="rect">
            <a:avLst/>
          </a:prstGeom>
          <a:solidFill>
            <a:srgbClr val="2B2A26">
              <a:alpha val="10000"/>
            </a:srgbClr>
          </a:solidFill>
          <a:ln/>
        </p:spPr>
        <p:txBody>
          <a:bodyPr/>
          <a:lstStyle/>
          <a:p>
            <a:endParaRPr lang="de-DE"/>
          </a:p>
        </p:txBody>
      </p:sp>
      <p:sp>
        <p:nvSpPr>
          <p:cNvPr id="78" name="Shape 76"/>
          <p:cNvSpPr/>
          <p:nvPr/>
        </p:nvSpPr>
        <p:spPr>
          <a:xfrm>
            <a:off x="6506270" y="4838700"/>
            <a:ext cx="1098748" cy="9525"/>
          </a:xfrm>
          <a:prstGeom prst="rect">
            <a:avLst/>
          </a:prstGeom>
          <a:solidFill>
            <a:srgbClr val="2B2A26">
              <a:alpha val="10000"/>
            </a:srgbClr>
          </a:solidFill>
          <a:ln/>
        </p:spPr>
        <p:txBody>
          <a:bodyPr/>
          <a:lstStyle/>
          <a:p>
            <a:endParaRPr lang="de-DE"/>
          </a:p>
        </p:txBody>
      </p:sp>
      <p:sp>
        <p:nvSpPr>
          <p:cNvPr id="79" name="Text 77"/>
          <p:cNvSpPr/>
          <p:nvPr/>
        </p:nvSpPr>
        <p:spPr>
          <a:xfrm>
            <a:off x="6477695" y="4854575"/>
            <a:ext cx="1155898"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80" name="Shape 78"/>
          <p:cNvSpPr/>
          <p:nvPr/>
        </p:nvSpPr>
        <p:spPr>
          <a:xfrm>
            <a:off x="7605018" y="5461000"/>
            <a:ext cx="1733451" cy="9525"/>
          </a:xfrm>
          <a:prstGeom prst="rect">
            <a:avLst/>
          </a:prstGeom>
          <a:solidFill>
            <a:srgbClr val="2B2A26">
              <a:alpha val="10000"/>
            </a:srgbClr>
          </a:solidFill>
          <a:ln/>
        </p:spPr>
        <p:txBody>
          <a:bodyPr/>
          <a:lstStyle/>
          <a:p>
            <a:endParaRPr lang="de-DE"/>
          </a:p>
        </p:txBody>
      </p:sp>
      <p:sp>
        <p:nvSpPr>
          <p:cNvPr id="81" name="Shape 79"/>
          <p:cNvSpPr/>
          <p:nvPr/>
        </p:nvSpPr>
        <p:spPr>
          <a:xfrm>
            <a:off x="7605018" y="4838700"/>
            <a:ext cx="1733451" cy="9525"/>
          </a:xfrm>
          <a:prstGeom prst="rect">
            <a:avLst/>
          </a:prstGeom>
          <a:solidFill>
            <a:srgbClr val="2B2A26">
              <a:alpha val="10000"/>
            </a:srgbClr>
          </a:solidFill>
          <a:ln/>
        </p:spPr>
        <p:txBody>
          <a:bodyPr/>
          <a:lstStyle/>
          <a:p>
            <a:endParaRPr lang="de-DE"/>
          </a:p>
        </p:txBody>
      </p:sp>
      <p:sp>
        <p:nvSpPr>
          <p:cNvPr id="82" name="Text 80"/>
          <p:cNvSpPr/>
          <p:nvPr/>
        </p:nvSpPr>
        <p:spPr>
          <a:xfrm>
            <a:off x="7576443" y="4854575"/>
            <a:ext cx="1790601"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83" name="Shape 81"/>
          <p:cNvSpPr/>
          <p:nvPr/>
        </p:nvSpPr>
        <p:spPr>
          <a:xfrm>
            <a:off x="9338469" y="5461000"/>
            <a:ext cx="2327771" cy="9525"/>
          </a:xfrm>
          <a:prstGeom prst="rect">
            <a:avLst/>
          </a:prstGeom>
          <a:solidFill>
            <a:srgbClr val="2B2A26">
              <a:alpha val="10000"/>
            </a:srgbClr>
          </a:solidFill>
          <a:ln/>
        </p:spPr>
        <p:txBody>
          <a:bodyPr/>
          <a:lstStyle/>
          <a:p>
            <a:endParaRPr lang="de-DE"/>
          </a:p>
        </p:txBody>
      </p:sp>
      <p:sp>
        <p:nvSpPr>
          <p:cNvPr id="84" name="Shape 82"/>
          <p:cNvSpPr/>
          <p:nvPr/>
        </p:nvSpPr>
        <p:spPr>
          <a:xfrm>
            <a:off x="9338469" y="4838700"/>
            <a:ext cx="2327771" cy="9525"/>
          </a:xfrm>
          <a:prstGeom prst="rect">
            <a:avLst/>
          </a:prstGeom>
          <a:solidFill>
            <a:srgbClr val="2B2A26">
              <a:alpha val="10000"/>
            </a:srgbClr>
          </a:solidFill>
          <a:ln/>
        </p:spPr>
        <p:txBody>
          <a:bodyPr/>
          <a:lstStyle/>
          <a:p>
            <a:endParaRPr lang="de-DE"/>
          </a:p>
        </p:txBody>
      </p:sp>
      <p:sp>
        <p:nvSpPr>
          <p:cNvPr id="85" name="Text 83"/>
          <p:cNvSpPr/>
          <p:nvPr/>
        </p:nvSpPr>
        <p:spPr>
          <a:xfrm>
            <a:off x="9309894" y="4854575"/>
            <a:ext cx="2384921"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86" name="Shape 84"/>
          <p:cNvSpPr/>
          <p:nvPr/>
        </p:nvSpPr>
        <p:spPr>
          <a:xfrm>
            <a:off x="11666240" y="5461000"/>
            <a:ext cx="2605485" cy="9525"/>
          </a:xfrm>
          <a:prstGeom prst="rect">
            <a:avLst/>
          </a:prstGeom>
          <a:solidFill>
            <a:srgbClr val="2B2A26">
              <a:alpha val="10000"/>
            </a:srgbClr>
          </a:solidFill>
          <a:ln/>
        </p:spPr>
        <p:txBody>
          <a:bodyPr/>
          <a:lstStyle/>
          <a:p>
            <a:endParaRPr lang="de-DE"/>
          </a:p>
        </p:txBody>
      </p:sp>
      <p:sp>
        <p:nvSpPr>
          <p:cNvPr id="87" name="Shape 85"/>
          <p:cNvSpPr/>
          <p:nvPr/>
        </p:nvSpPr>
        <p:spPr>
          <a:xfrm>
            <a:off x="11666240" y="4838700"/>
            <a:ext cx="2605485" cy="9525"/>
          </a:xfrm>
          <a:prstGeom prst="rect">
            <a:avLst/>
          </a:prstGeom>
          <a:solidFill>
            <a:srgbClr val="2B2A26">
              <a:alpha val="10000"/>
            </a:srgbClr>
          </a:solidFill>
          <a:ln/>
        </p:spPr>
        <p:txBody>
          <a:bodyPr/>
          <a:lstStyle/>
          <a:p>
            <a:endParaRPr lang="de-DE"/>
          </a:p>
        </p:txBody>
      </p:sp>
      <p:sp>
        <p:nvSpPr>
          <p:cNvPr id="88" name="Text 86"/>
          <p:cNvSpPr/>
          <p:nvPr/>
        </p:nvSpPr>
        <p:spPr>
          <a:xfrm>
            <a:off x="11636683" y="4854575"/>
            <a:ext cx="2664599" cy="635000"/>
          </a:xfrm>
          <a:prstGeom prst="rect">
            <a:avLst/>
          </a:prstGeom>
          <a:noFill/>
          <a:ln/>
        </p:spPr>
        <p:txBody>
          <a:bodyPr wrap="square" lIns="25400" tIns="25400" rIns="25400" bIns="25400" rtlCol="0" anchor="ctr">
            <a:normAutofit/>
          </a:bodyPr>
          <a:lstStyle/>
          <a:p>
            <a:pPr marL="0" indent="0" algn="ctr">
              <a:buNone/>
            </a:pPr>
            <a:r>
              <a:rPr lang="en-US" sz="1875" b="1" dirty="0">
                <a:solidFill>
                  <a:srgbClr val="2F8F7F"/>
                </a:solidFill>
                <a:latin typeface="Arial" pitchFamily="34" charset="0"/>
                <a:ea typeface="Arial" pitchFamily="34" charset="-122"/>
                <a:cs typeface="Arial" pitchFamily="34" charset="-120"/>
              </a:rPr>
              <a:t>✓</a:t>
            </a:r>
            <a:endParaRPr lang="en-US" sz="1875" dirty="0"/>
          </a:p>
        </p:txBody>
      </p:sp>
      <p:sp>
        <p:nvSpPr>
          <p:cNvPr id="89" name="Shape 87"/>
          <p:cNvSpPr/>
          <p:nvPr/>
        </p:nvSpPr>
        <p:spPr>
          <a:xfrm>
            <a:off x="14271724" y="5461000"/>
            <a:ext cx="3101876" cy="9525"/>
          </a:xfrm>
          <a:prstGeom prst="rect">
            <a:avLst/>
          </a:prstGeom>
          <a:solidFill>
            <a:srgbClr val="2B2A26">
              <a:alpha val="10000"/>
            </a:srgbClr>
          </a:solidFill>
          <a:ln/>
        </p:spPr>
        <p:txBody>
          <a:bodyPr/>
          <a:lstStyle/>
          <a:p>
            <a:endParaRPr lang="de-DE"/>
          </a:p>
        </p:txBody>
      </p:sp>
      <p:sp>
        <p:nvSpPr>
          <p:cNvPr id="90" name="Shape 88"/>
          <p:cNvSpPr/>
          <p:nvPr/>
        </p:nvSpPr>
        <p:spPr>
          <a:xfrm>
            <a:off x="14271724" y="4838700"/>
            <a:ext cx="3101876" cy="9525"/>
          </a:xfrm>
          <a:prstGeom prst="rect">
            <a:avLst/>
          </a:prstGeom>
          <a:solidFill>
            <a:srgbClr val="2B2A26">
              <a:alpha val="10000"/>
            </a:srgbClr>
          </a:solidFill>
          <a:ln/>
        </p:spPr>
        <p:txBody>
          <a:bodyPr/>
          <a:lstStyle/>
          <a:p>
            <a:endParaRPr lang="de-DE"/>
          </a:p>
        </p:txBody>
      </p:sp>
      <p:sp>
        <p:nvSpPr>
          <p:cNvPr id="91" name="Shape 89"/>
          <p:cNvSpPr/>
          <p:nvPr/>
        </p:nvSpPr>
        <p:spPr>
          <a:xfrm>
            <a:off x="17367250" y="4838700"/>
            <a:ext cx="9525" cy="628650"/>
          </a:xfrm>
          <a:prstGeom prst="rect">
            <a:avLst/>
          </a:prstGeom>
          <a:solidFill>
            <a:srgbClr val="2B2A26">
              <a:alpha val="10000"/>
            </a:srgbClr>
          </a:solidFill>
          <a:ln/>
        </p:spPr>
        <p:txBody>
          <a:bodyPr/>
          <a:lstStyle/>
          <a:p>
            <a:endParaRPr lang="de-DE"/>
          </a:p>
        </p:txBody>
      </p:sp>
      <p:sp>
        <p:nvSpPr>
          <p:cNvPr id="92" name="Text 90"/>
          <p:cNvSpPr/>
          <p:nvPr/>
        </p:nvSpPr>
        <p:spPr>
          <a:xfrm>
            <a:off x="14234721" y="4854575"/>
            <a:ext cx="3169532" cy="635000"/>
          </a:xfrm>
          <a:prstGeom prst="rect">
            <a:avLst/>
          </a:prstGeom>
          <a:noFill/>
          <a:ln/>
        </p:spPr>
        <p:txBody>
          <a:bodyPr wrap="square" lIns="25400" tIns="25400" rIns="25400" bIns="25400" rtlCol="0" anchor="ctr">
            <a:normAutofit/>
          </a:bodyPr>
          <a:lstStyle/>
          <a:p>
            <a:pPr marL="0" indent="0" algn="ctr">
              <a:buNone/>
            </a:pPr>
            <a:r>
              <a:rPr lang="en-US" sz="1875" dirty="0">
                <a:solidFill>
                  <a:srgbClr val="2B2A26">
                    <a:alpha val="40000"/>
                  </a:srgbClr>
                </a:solidFill>
                <a:latin typeface="Arial" pitchFamily="34" charset="0"/>
                <a:ea typeface="Arial" pitchFamily="34" charset="-122"/>
                <a:cs typeface="Arial" pitchFamily="34" charset="-120"/>
              </a:rPr>
              <a:t>—</a:t>
            </a:r>
            <a:endParaRPr lang="en-US" sz="1875" dirty="0"/>
          </a:p>
        </p:txBody>
      </p:sp>
      <p:sp>
        <p:nvSpPr>
          <p:cNvPr id="93" name="Shape 91"/>
          <p:cNvSpPr/>
          <p:nvPr/>
        </p:nvSpPr>
        <p:spPr>
          <a:xfrm>
            <a:off x="914400" y="5562600"/>
            <a:ext cx="16459200" cy="692150"/>
          </a:xfrm>
          <a:prstGeom prst="rect">
            <a:avLst/>
          </a:prstGeom>
          <a:solidFill>
            <a:srgbClr val="246B5F"/>
          </a:solidFill>
          <a:ln/>
        </p:spPr>
        <p:txBody>
          <a:bodyPr/>
          <a:lstStyle/>
          <a:p>
            <a:endParaRPr lang="de-DE"/>
          </a:p>
        </p:txBody>
      </p:sp>
      <p:sp>
        <p:nvSpPr>
          <p:cNvPr id="94" name="Text 92"/>
          <p:cNvSpPr/>
          <p:nvPr/>
        </p:nvSpPr>
        <p:spPr>
          <a:xfrm>
            <a:off x="1085850" y="5753100"/>
            <a:ext cx="5416726" cy="349250"/>
          </a:xfrm>
          <a:prstGeom prst="rect">
            <a:avLst/>
          </a:prstGeom>
          <a:noFill/>
          <a:ln/>
        </p:spPr>
        <p:txBody>
          <a:bodyPr wrap="square" lIns="25400" tIns="25400" rIns="25400" bIns="25400" rtlCol="0" anchor="ctr">
            <a:normAutofit/>
          </a:bodyPr>
          <a:lstStyle/>
          <a:p>
            <a:pPr marL="0" indent="0" algn="l">
              <a:buNone/>
            </a:pPr>
            <a:r>
              <a:rPr lang="en-US" sz="1875" b="1" dirty="0">
                <a:solidFill>
                  <a:srgbClr val="FAF7F0"/>
                </a:solidFill>
                <a:latin typeface="Arial" pitchFamily="34" charset="0"/>
                <a:ea typeface="Arial" pitchFamily="34" charset="-122"/>
                <a:cs typeface="Arial" pitchFamily="34" charset="-120"/>
              </a:rPr>
              <a:t>🐼 Pawse</a:t>
            </a:r>
            <a:endParaRPr lang="en-US" sz="1875" dirty="0"/>
          </a:p>
        </p:txBody>
      </p:sp>
      <p:sp>
        <p:nvSpPr>
          <p:cNvPr id="95" name="Text 93"/>
          <p:cNvSpPr/>
          <p:nvPr/>
        </p:nvSpPr>
        <p:spPr>
          <a:xfrm>
            <a:off x="6477695" y="5572125"/>
            <a:ext cx="1155898" cy="7112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AF7F0"/>
                </a:solidFill>
                <a:latin typeface="Arial" pitchFamily="34" charset="0"/>
                <a:ea typeface="Arial" pitchFamily="34" charset="-122"/>
                <a:cs typeface="Arial" pitchFamily="34" charset="-120"/>
              </a:rPr>
              <a:t>✓</a:t>
            </a:r>
            <a:endParaRPr lang="en-US" sz="2100" dirty="0"/>
          </a:p>
        </p:txBody>
      </p:sp>
      <p:sp>
        <p:nvSpPr>
          <p:cNvPr id="96" name="Text 94"/>
          <p:cNvSpPr/>
          <p:nvPr/>
        </p:nvSpPr>
        <p:spPr>
          <a:xfrm>
            <a:off x="7576443" y="5572125"/>
            <a:ext cx="1790601" cy="7112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AF7F0"/>
                </a:solidFill>
                <a:latin typeface="Arial" pitchFamily="34" charset="0"/>
                <a:ea typeface="Arial" pitchFamily="34" charset="-122"/>
                <a:cs typeface="Arial" pitchFamily="34" charset="-120"/>
              </a:rPr>
              <a:t>✓</a:t>
            </a:r>
            <a:endParaRPr lang="en-US" sz="2100" dirty="0"/>
          </a:p>
        </p:txBody>
      </p:sp>
      <p:sp>
        <p:nvSpPr>
          <p:cNvPr id="97" name="Text 95"/>
          <p:cNvSpPr/>
          <p:nvPr/>
        </p:nvSpPr>
        <p:spPr>
          <a:xfrm>
            <a:off x="9309894" y="5572125"/>
            <a:ext cx="2384921" cy="7112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AF7F0"/>
                </a:solidFill>
                <a:latin typeface="Arial" pitchFamily="34" charset="0"/>
                <a:ea typeface="Arial" pitchFamily="34" charset="-122"/>
                <a:cs typeface="Arial" pitchFamily="34" charset="-120"/>
              </a:rPr>
              <a:t>✓</a:t>
            </a:r>
            <a:endParaRPr lang="en-US" sz="2100" dirty="0"/>
          </a:p>
        </p:txBody>
      </p:sp>
      <p:sp>
        <p:nvSpPr>
          <p:cNvPr id="98" name="Text 96"/>
          <p:cNvSpPr/>
          <p:nvPr/>
        </p:nvSpPr>
        <p:spPr>
          <a:xfrm>
            <a:off x="11636683" y="5572125"/>
            <a:ext cx="2664599" cy="7112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AF7F0"/>
                </a:solidFill>
                <a:latin typeface="Arial" pitchFamily="34" charset="0"/>
                <a:ea typeface="Arial" pitchFamily="34" charset="-122"/>
                <a:cs typeface="Arial" pitchFamily="34" charset="-120"/>
              </a:rPr>
              <a:t>✓</a:t>
            </a:r>
            <a:endParaRPr lang="en-US" sz="2100" dirty="0"/>
          </a:p>
        </p:txBody>
      </p:sp>
      <p:sp>
        <p:nvSpPr>
          <p:cNvPr id="99" name="Text 97"/>
          <p:cNvSpPr/>
          <p:nvPr/>
        </p:nvSpPr>
        <p:spPr>
          <a:xfrm>
            <a:off x="14234721" y="5572125"/>
            <a:ext cx="3175882" cy="7112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AF7F0"/>
                </a:solidFill>
                <a:latin typeface="Arial" pitchFamily="34" charset="0"/>
                <a:ea typeface="Arial" pitchFamily="34" charset="-122"/>
                <a:cs typeface="Arial" pitchFamily="34" charset="-120"/>
              </a:rPr>
              <a:t>✓</a:t>
            </a:r>
            <a:endParaRPr lang="en-US" sz="2100" dirty="0"/>
          </a:p>
        </p:txBody>
      </p:sp>
      <p:sp>
        <p:nvSpPr>
          <p:cNvPr id="100" name="Text 98"/>
          <p:cNvSpPr/>
          <p:nvPr/>
        </p:nvSpPr>
        <p:spPr>
          <a:xfrm>
            <a:off x="914400" y="6483350"/>
            <a:ext cx="18105120" cy="317500"/>
          </a:xfrm>
          <a:prstGeom prst="rect">
            <a:avLst/>
          </a:prstGeom>
          <a:noFill/>
          <a:ln/>
        </p:spPr>
        <p:txBody>
          <a:bodyPr wrap="square" lIns="25400" tIns="25400" rIns="25400" bIns="25400" rtlCol="0" anchor="t">
            <a:normAutofit/>
          </a:bodyPr>
          <a:lstStyle/>
          <a:p>
            <a:pPr marL="0" indent="0" algn="l">
              <a:buNone/>
            </a:pPr>
            <a:r>
              <a:rPr lang="en-US" sz="1800" dirty="0">
                <a:solidFill>
                  <a:srgbClr val="2B2A26">
                    <a:alpha val="40000"/>
                  </a:srgbClr>
                </a:solidFill>
                <a:latin typeface="Arial" pitchFamily="34" charset="0"/>
                <a:ea typeface="Arial" pitchFamily="34" charset="-122"/>
                <a:cs typeface="Arial" pitchFamily="34" charset="-120"/>
              </a:rPr>
              <a:t>Body × Calendar × Action — in the moment, personally.</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6B5F"/>
        </a:solidFill>
        <a:effectLst/>
      </p:bgPr>
    </p:bg>
    <p:spTree>
      <p:nvGrpSpPr>
        <p:cNvPr id="1" name=""/>
        <p:cNvGrpSpPr/>
        <p:nvPr/>
      </p:nvGrpSpPr>
      <p:grpSpPr>
        <a:xfrm>
          <a:off x="0" y="0"/>
          <a:ext cx="0" cy="0"/>
          <a:chOff x="0" y="0"/>
          <a:chExt cx="0" cy="0"/>
        </a:xfrm>
      </p:grpSpPr>
      <p:sp>
        <p:nvSpPr>
          <p:cNvPr id="2" name="Text 0"/>
          <p:cNvSpPr/>
          <p:nvPr/>
        </p:nvSpPr>
        <p:spPr>
          <a:xfrm>
            <a:off x="1047750" y="3179266"/>
            <a:ext cx="1781175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FFFFFF">
                    <a:alpha val="65000"/>
                  </a:srgbClr>
                </a:solidFill>
                <a:latin typeface="Arial" pitchFamily="34" charset="0"/>
                <a:ea typeface="Arial" pitchFamily="34" charset="-122"/>
                <a:cs typeface="Arial" pitchFamily="34" charset="-120"/>
              </a:rPr>
              <a:t>WHY NOW · WHY US</a:t>
            </a:r>
            <a:endParaRPr lang="en-US" sz="1800" dirty="0"/>
          </a:p>
        </p:txBody>
      </p:sp>
      <p:sp>
        <p:nvSpPr>
          <p:cNvPr id="3" name="Text 1"/>
          <p:cNvSpPr/>
          <p:nvPr/>
        </p:nvSpPr>
        <p:spPr>
          <a:xfrm>
            <a:off x="1047750" y="3598366"/>
            <a:ext cx="17811750" cy="838200"/>
          </a:xfrm>
          <a:prstGeom prst="rect">
            <a:avLst/>
          </a:prstGeom>
          <a:noFill/>
          <a:ln/>
        </p:spPr>
        <p:txBody>
          <a:bodyPr wrap="square" lIns="25400" tIns="25400" rIns="25400" bIns="25400" rtlCol="0" anchor="t">
            <a:normAutofit/>
          </a:bodyPr>
          <a:lstStyle/>
          <a:p>
            <a:pPr marL="0" indent="0" algn="l">
              <a:lnSpc>
                <a:spcPct val="105000"/>
              </a:lnSpc>
              <a:buNone/>
            </a:pPr>
            <a:r>
              <a:rPr lang="en-US" sz="6000" b="1" kern="0" spc="-150" dirty="0">
                <a:solidFill>
                  <a:srgbClr val="FAF7F0"/>
                </a:solidFill>
                <a:latin typeface="Arial" pitchFamily="34" charset="0"/>
                <a:ea typeface="Arial" pitchFamily="34" charset="-122"/>
                <a:cs typeface="Arial" pitchFamily="34" charset="-120"/>
              </a:rPr>
              <a:t>The pieces are on the table.</a:t>
            </a:r>
            <a:endParaRPr lang="en-US" sz="6000" dirty="0"/>
          </a:p>
        </p:txBody>
      </p:sp>
      <p:sp>
        <p:nvSpPr>
          <p:cNvPr id="4" name="Shape 2"/>
          <p:cNvSpPr/>
          <p:nvPr/>
        </p:nvSpPr>
        <p:spPr>
          <a:xfrm>
            <a:off x="1047750" y="4912816"/>
            <a:ext cx="5245100" cy="2194818"/>
          </a:xfrm>
          <a:prstGeom prst="roundRect">
            <a:avLst>
              <a:gd name="adj" fmla="val 11283"/>
            </a:avLst>
          </a:prstGeom>
          <a:solidFill>
            <a:srgbClr val="FFFFFF">
              <a:alpha val="8000"/>
            </a:srgbClr>
          </a:solidFill>
          <a:ln/>
        </p:spPr>
        <p:txBody>
          <a:bodyPr/>
          <a:lstStyle/>
          <a:p>
            <a:endParaRPr lang="de-DE"/>
          </a:p>
        </p:txBody>
      </p:sp>
      <p:sp>
        <p:nvSpPr>
          <p:cNvPr id="5" name="Text 3"/>
          <p:cNvSpPr/>
          <p:nvPr/>
        </p:nvSpPr>
        <p:spPr>
          <a:xfrm>
            <a:off x="1352550" y="5217616"/>
            <a:ext cx="509905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FAF7F0"/>
                </a:solidFill>
                <a:latin typeface="Arial" pitchFamily="34" charset="0"/>
                <a:ea typeface="Arial" pitchFamily="34" charset="-122"/>
                <a:cs typeface="Arial" pitchFamily="34" charset="-120"/>
              </a:rPr>
              <a:t>Stack is ready</a:t>
            </a:r>
            <a:endParaRPr lang="en-US" sz="2700" dirty="0"/>
          </a:p>
        </p:txBody>
      </p:sp>
      <p:sp>
        <p:nvSpPr>
          <p:cNvPr id="6" name="Text 4"/>
          <p:cNvSpPr/>
          <p:nvPr/>
        </p:nvSpPr>
        <p:spPr>
          <a:xfrm>
            <a:off x="1352550" y="5725617"/>
            <a:ext cx="4774565" cy="1115318"/>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FFFFFF">
                    <a:alpha val="72000"/>
                  </a:srgbClr>
                </a:solidFill>
                <a:latin typeface="Arial" pitchFamily="34" charset="0"/>
                <a:ea typeface="Arial" pitchFamily="34" charset="-122"/>
                <a:cs typeface="Arial" pitchFamily="34" charset="-120"/>
              </a:rPr>
              <a:t>Graph, Teams, Azure OpenAI and Managed Identity — keyless and Microsoft-native from day one.</a:t>
            </a:r>
            <a:endParaRPr lang="en-US" sz="1950" dirty="0"/>
          </a:p>
        </p:txBody>
      </p:sp>
      <p:sp>
        <p:nvSpPr>
          <p:cNvPr id="7" name="Shape 5"/>
          <p:cNvSpPr/>
          <p:nvPr/>
        </p:nvSpPr>
        <p:spPr>
          <a:xfrm>
            <a:off x="6521450" y="4912816"/>
            <a:ext cx="5245100" cy="2194818"/>
          </a:xfrm>
          <a:prstGeom prst="roundRect">
            <a:avLst>
              <a:gd name="adj" fmla="val 11283"/>
            </a:avLst>
          </a:prstGeom>
          <a:solidFill>
            <a:srgbClr val="FFFFFF">
              <a:alpha val="8000"/>
            </a:srgbClr>
          </a:solidFill>
          <a:ln/>
        </p:spPr>
        <p:txBody>
          <a:bodyPr/>
          <a:lstStyle/>
          <a:p>
            <a:endParaRPr lang="de-DE"/>
          </a:p>
        </p:txBody>
      </p:sp>
      <p:sp>
        <p:nvSpPr>
          <p:cNvPr id="8" name="Text 6"/>
          <p:cNvSpPr/>
          <p:nvPr/>
        </p:nvSpPr>
        <p:spPr>
          <a:xfrm>
            <a:off x="6826250" y="5217616"/>
            <a:ext cx="509905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FAF7F0"/>
                </a:solidFill>
                <a:latin typeface="Arial" pitchFamily="34" charset="0"/>
                <a:ea typeface="Arial" pitchFamily="34" charset="-122"/>
                <a:cs typeface="Arial" pitchFamily="34" charset="-120"/>
              </a:rPr>
              <a:t>The shift is here</a:t>
            </a:r>
            <a:endParaRPr lang="en-US" sz="2700" dirty="0"/>
          </a:p>
        </p:txBody>
      </p:sp>
      <p:sp>
        <p:nvSpPr>
          <p:cNvPr id="9" name="Text 7"/>
          <p:cNvSpPr/>
          <p:nvPr/>
        </p:nvSpPr>
        <p:spPr>
          <a:xfrm>
            <a:off x="6826250" y="5725617"/>
            <a:ext cx="4774565" cy="1115318"/>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FFFFFF">
                    <a:alpha val="72000"/>
                  </a:srgbClr>
                </a:solidFill>
                <a:latin typeface="Arial" pitchFamily="34" charset="0"/>
                <a:ea typeface="Arial" pitchFamily="34" charset="-122"/>
                <a:cs typeface="Arial" pitchFamily="34" charset="-120"/>
              </a:rPr>
              <a:t>“Manage energy, not time.” Time is managed to death; energy is the unsolved frontier.</a:t>
            </a:r>
            <a:endParaRPr lang="en-US" sz="1950" dirty="0"/>
          </a:p>
        </p:txBody>
      </p:sp>
      <p:sp>
        <p:nvSpPr>
          <p:cNvPr id="10" name="Shape 8"/>
          <p:cNvSpPr/>
          <p:nvPr/>
        </p:nvSpPr>
        <p:spPr>
          <a:xfrm>
            <a:off x="11995150" y="4912816"/>
            <a:ext cx="5245100" cy="2194818"/>
          </a:xfrm>
          <a:prstGeom prst="roundRect">
            <a:avLst>
              <a:gd name="adj" fmla="val 11283"/>
            </a:avLst>
          </a:prstGeom>
          <a:solidFill>
            <a:srgbClr val="FFFFFF">
              <a:alpha val="8000"/>
            </a:srgbClr>
          </a:solidFill>
          <a:ln/>
        </p:spPr>
        <p:txBody>
          <a:bodyPr/>
          <a:lstStyle/>
          <a:p>
            <a:endParaRPr lang="de-DE"/>
          </a:p>
        </p:txBody>
      </p:sp>
      <p:sp>
        <p:nvSpPr>
          <p:cNvPr id="11" name="Text 9"/>
          <p:cNvSpPr/>
          <p:nvPr/>
        </p:nvSpPr>
        <p:spPr>
          <a:xfrm>
            <a:off x="12299950" y="5217616"/>
            <a:ext cx="509905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FAF7F0"/>
                </a:solidFill>
                <a:latin typeface="Arial" pitchFamily="34" charset="0"/>
                <a:ea typeface="Arial" pitchFamily="34" charset="-122"/>
                <a:cs typeface="Arial" pitchFamily="34" charset="-120"/>
              </a:rPr>
              <a:t>The gap is open</a:t>
            </a:r>
            <a:endParaRPr lang="en-US" sz="2700" dirty="0"/>
          </a:p>
        </p:txBody>
      </p:sp>
      <p:sp>
        <p:nvSpPr>
          <p:cNvPr id="12" name="Text 10"/>
          <p:cNvSpPr/>
          <p:nvPr/>
        </p:nvSpPr>
        <p:spPr>
          <a:xfrm>
            <a:off x="12299950" y="5725617"/>
            <a:ext cx="4774565" cy="1115318"/>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FFFFFF">
                    <a:alpha val="72000"/>
                  </a:srgbClr>
                </a:solidFill>
                <a:latin typeface="Arial" pitchFamily="34" charset="0"/>
                <a:ea typeface="Arial" pitchFamily="34" charset="-122"/>
                <a:cs typeface="Arial" pitchFamily="34" charset="-120"/>
              </a:rPr>
              <a:t>“This belongs in Viva/Teams” — the missing piece in the Microsoft portfolio. A feature, not a bug.</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DE2"/>
        </a:solidFill>
        <a:effectLst/>
      </p:bgPr>
    </p:bg>
    <p:spTree>
      <p:nvGrpSpPr>
        <p:cNvPr id="1" name=""/>
        <p:cNvGrpSpPr/>
        <p:nvPr/>
      </p:nvGrpSpPr>
      <p:grpSpPr>
        <a:xfrm>
          <a:off x="0" y="0"/>
          <a:ext cx="0" cy="0"/>
          <a:chOff x="0" y="0"/>
          <a:chExt cx="0" cy="0"/>
        </a:xfrm>
      </p:grpSpPr>
      <p:sp>
        <p:nvSpPr>
          <p:cNvPr id="2" name="Text 0"/>
          <p:cNvSpPr/>
          <p:nvPr/>
        </p:nvSpPr>
        <p:spPr>
          <a:xfrm>
            <a:off x="914400" y="68580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DEMO STORY · THE COLLISION</a:t>
            </a:r>
            <a:endParaRPr lang="en-US" sz="1800" dirty="0"/>
          </a:p>
        </p:txBody>
      </p:sp>
      <p:sp>
        <p:nvSpPr>
          <p:cNvPr id="3" name="Text 1"/>
          <p:cNvSpPr/>
          <p:nvPr/>
        </p:nvSpPr>
        <p:spPr>
          <a:xfrm>
            <a:off x="914400" y="104775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Pawse acts before the crunch, not after.</a:t>
            </a:r>
            <a:endParaRPr lang="en-US" sz="4800" dirty="0"/>
          </a:p>
        </p:txBody>
      </p:sp>
      <p:sp>
        <p:nvSpPr>
          <p:cNvPr id="4" name="Shape 2"/>
          <p:cNvSpPr/>
          <p:nvPr/>
        </p:nvSpPr>
        <p:spPr>
          <a:xfrm>
            <a:off x="914400" y="2127250"/>
            <a:ext cx="2824262" cy="6985000"/>
          </a:xfrm>
          <a:prstGeom prst="roundRect">
            <a:avLst>
              <a:gd name="adj" fmla="val 6745"/>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5" name="Text 3"/>
          <p:cNvSpPr/>
          <p:nvPr/>
        </p:nvSpPr>
        <p:spPr>
          <a:xfrm>
            <a:off x="1168400" y="2381250"/>
            <a:ext cx="2547888" cy="387350"/>
          </a:xfrm>
          <a:prstGeom prst="rect">
            <a:avLst/>
          </a:prstGeom>
          <a:noFill/>
          <a:ln/>
        </p:spPr>
        <p:txBody>
          <a:bodyPr wrap="square" lIns="25400" tIns="25400" rIns="25400" bIns="25400" rtlCol="0" anchor="t">
            <a:normAutofit/>
          </a:bodyPr>
          <a:lstStyle/>
          <a:p>
            <a:pPr marL="0" indent="0" algn="l">
              <a:buNone/>
            </a:pPr>
            <a:r>
              <a:rPr lang="en-US" sz="2400" b="1" dirty="0">
                <a:solidFill>
                  <a:srgbClr val="2F8F7F"/>
                </a:solidFill>
                <a:latin typeface="Arial" pitchFamily="34" charset="0"/>
                <a:ea typeface="Arial" pitchFamily="34" charset="-122"/>
                <a:cs typeface="Arial" pitchFamily="34" charset="-120"/>
              </a:rPr>
              <a:t>1</a:t>
            </a:r>
            <a:endParaRPr lang="en-US" sz="2400" dirty="0"/>
          </a:p>
        </p:txBody>
      </p:sp>
      <p:sp>
        <p:nvSpPr>
          <p:cNvPr id="6" name="Text 4"/>
          <p:cNvSpPr/>
          <p:nvPr/>
        </p:nvSpPr>
        <p:spPr>
          <a:xfrm>
            <a:off x="1168400" y="2825750"/>
            <a:ext cx="2392462" cy="63242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2B2A26"/>
                </a:solidFill>
                <a:latin typeface="Arial" pitchFamily="34" charset="0"/>
                <a:ea typeface="Arial" pitchFamily="34" charset="-122"/>
                <a:cs typeface="Arial" pitchFamily="34" charset="-120"/>
              </a:rPr>
              <a:t>Body OK — calendar brutal</a:t>
            </a:r>
            <a:endParaRPr lang="en-US" sz="1800" dirty="0"/>
          </a:p>
        </p:txBody>
      </p:sp>
      <p:sp>
        <p:nvSpPr>
          <p:cNvPr id="7" name="Text 5"/>
          <p:cNvSpPr/>
          <p:nvPr/>
        </p:nvSpPr>
        <p:spPr>
          <a:xfrm>
            <a:off x="1168400" y="3496270"/>
            <a:ext cx="2392462"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Back-to-back, no break.</a:t>
            </a:r>
            <a:endParaRPr lang="en-US" sz="1800" dirty="0"/>
          </a:p>
        </p:txBody>
      </p:sp>
      <p:sp>
        <p:nvSpPr>
          <p:cNvPr id="8" name="Text 6"/>
          <p:cNvSpPr/>
          <p:nvPr/>
        </p:nvSpPr>
        <p:spPr>
          <a:xfrm>
            <a:off x="3872012" y="2127250"/>
            <a:ext cx="339229" cy="7023100"/>
          </a:xfrm>
          <a:prstGeom prst="rect">
            <a:avLst/>
          </a:prstGeom>
          <a:noFill/>
          <a:ln/>
        </p:spPr>
        <p:txBody>
          <a:bodyPr wrap="square" lIns="25400" tIns="25400" rIns="25400" bIns="25400" rtlCol="0" anchor="ctr">
            <a:normAutofit/>
          </a:bodyPr>
          <a:lstStyle/>
          <a:p>
            <a:pPr marL="0" indent="0" algn="l">
              <a:buNone/>
            </a:pPr>
            <a:r>
              <a:rPr lang="en-US" sz="2400" dirty="0">
                <a:solidFill>
                  <a:srgbClr val="2F8F7F"/>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4268391" y="2127250"/>
            <a:ext cx="2824262" cy="6985000"/>
          </a:xfrm>
          <a:prstGeom prst="roundRect">
            <a:avLst>
              <a:gd name="adj" fmla="val 6745"/>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0" name="Text 8"/>
          <p:cNvSpPr/>
          <p:nvPr/>
        </p:nvSpPr>
        <p:spPr>
          <a:xfrm>
            <a:off x="4522391" y="2381250"/>
            <a:ext cx="2547888" cy="387350"/>
          </a:xfrm>
          <a:prstGeom prst="rect">
            <a:avLst/>
          </a:prstGeom>
          <a:noFill/>
          <a:ln/>
        </p:spPr>
        <p:txBody>
          <a:bodyPr wrap="square" lIns="25400" tIns="25400" rIns="25400" bIns="25400" rtlCol="0" anchor="t">
            <a:normAutofit/>
          </a:bodyPr>
          <a:lstStyle/>
          <a:p>
            <a:pPr marL="0" indent="0" algn="l">
              <a:buNone/>
            </a:pPr>
            <a:r>
              <a:rPr lang="en-US" sz="2400" b="1" dirty="0">
                <a:solidFill>
                  <a:srgbClr val="2F8F7F"/>
                </a:solidFill>
                <a:latin typeface="Arial" pitchFamily="34" charset="0"/>
                <a:ea typeface="Arial" pitchFamily="34" charset="-122"/>
                <a:cs typeface="Arial" pitchFamily="34" charset="-120"/>
              </a:rPr>
              <a:t>2</a:t>
            </a:r>
            <a:endParaRPr lang="en-US" sz="2400" dirty="0"/>
          </a:p>
        </p:txBody>
      </p:sp>
      <p:sp>
        <p:nvSpPr>
          <p:cNvPr id="11" name="Text 9"/>
          <p:cNvSpPr/>
          <p:nvPr/>
        </p:nvSpPr>
        <p:spPr>
          <a:xfrm>
            <a:off x="4522391" y="2825750"/>
            <a:ext cx="2392462" cy="63242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2B2A26"/>
                </a:solidFill>
                <a:latin typeface="Arial" pitchFamily="34" charset="0"/>
                <a:ea typeface="Arial" pitchFamily="34" charset="-122"/>
                <a:cs typeface="Arial" pitchFamily="34" charset="-120"/>
              </a:rPr>
              <a:t>Pawse connects the two</a:t>
            </a:r>
            <a:endParaRPr lang="en-US" sz="1800" dirty="0"/>
          </a:p>
        </p:txBody>
      </p:sp>
      <p:sp>
        <p:nvSpPr>
          <p:cNvPr id="12" name="Text 10"/>
          <p:cNvSpPr/>
          <p:nvPr/>
        </p:nvSpPr>
        <p:spPr>
          <a:xfrm>
            <a:off x="4522391" y="3496270"/>
            <a:ext cx="2392462"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Body × calendar in one view.</a:t>
            </a:r>
            <a:endParaRPr lang="en-US" sz="1800" dirty="0"/>
          </a:p>
        </p:txBody>
      </p:sp>
      <p:sp>
        <p:nvSpPr>
          <p:cNvPr id="13" name="Text 11"/>
          <p:cNvSpPr/>
          <p:nvPr/>
        </p:nvSpPr>
        <p:spPr>
          <a:xfrm>
            <a:off x="7226003" y="2127250"/>
            <a:ext cx="339229" cy="7023100"/>
          </a:xfrm>
          <a:prstGeom prst="rect">
            <a:avLst/>
          </a:prstGeom>
          <a:noFill/>
          <a:ln/>
        </p:spPr>
        <p:txBody>
          <a:bodyPr wrap="square" lIns="25400" tIns="25400" rIns="25400" bIns="25400" rtlCol="0" anchor="ctr">
            <a:normAutofit/>
          </a:bodyPr>
          <a:lstStyle/>
          <a:p>
            <a:pPr marL="0" indent="0" algn="l">
              <a:buNone/>
            </a:pPr>
            <a:r>
              <a:rPr lang="en-US" sz="2400" dirty="0">
                <a:solidFill>
                  <a:srgbClr val="2F8F7F"/>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7622381" y="2127250"/>
            <a:ext cx="2824262" cy="6985000"/>
          </a:xfrm>
          <a:prstGeom prst="roundRect">
            <a:avLst>
              <a:gd name="adj" fmla="val 6745"/>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15" name="Text 13"/>
          <p:cNvSpPr/>
          <p:nvPr/>
        </p:nvSpPr>
        <p:spPr>
          <a:xfrm>
            <a:off x="7876381" y="2381250"/>
            <a:ext cx="2547888" cy="387350"/>
          </a:xfrm>
          <a:prstGeom prst="rect">
            <a:avLst/>
          </a:prstGeom>
          <a:noFill/>
          <a:ln/>
        </p:spPr>
        <p:txBody>
          <a:bodyPr wrap="square" lIns="25400" tIns="25400" rIns="25400" bIns="25400" rtlCol="0" anchor="t">
            <a:normAutofit/>
          </a:bodyPr>
          <a:lstStyle/>
          <a:p>
            <a:pPr marL="0" indent="0" algn="l">
              <a:buNone/>
            </a:pPr>
            <a:r>
              <a:rPr lang="en-US" sz="2400" b="1" dirty="0">
                <a:solidFill>
                  <a:srgbClr val="2F8F7F"/>
                </a:solidFill>
                <a:latin typeface="Arial" pitchFamily="34" charset="0"/>
                <a:ea typeface="Arial" pitchFamily="34" charset="-122"/>
                <a:cs typeface="Arial" pitchFamily="34" charset="-120"/>
              </a:rPr>
              <a:t>3</a:t>
            </a:r>
            <a:endParaRPr lang="en-US" sz="2400" dirty="0"/>
          </a:p>
        </p:txBody>
      </p:sp>
      <p:sp>
        <p:nvSpPr>
          <p:cNvPr id="16" name="Text 14"/>
          <p:cNvSpPr/>
          <p:nvPr/>
        </p:nvSpPr>
        <p:spPr>
          <a:xfrm>
            <a:off x="7876381" y="2825750"/>
            <a:ext cx="2392462" cy="63242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2B2A26"/>
                </a:solidFill>
                <a:latin typeface="Arial" pitchFamily="34" charset="0"/>
                <a:ea typeface="Arial" pitchFamily="34" charset="-122"/>
                <a:cs typeface="Arial" pitchFamily="34" charset="-120"/>
              </a:rPr>
              <a:t>Nudge before the crunch</a:t>
            </a:r>
            <a:endParaRPr lang="en-US" sz="1800" dirty="0"/>
          </a:p>
        </p:txBody>
      </p:sp>
      <p:sp>
        <p:nvSpPr>
          <p:cNvPr id="17" name="Text 15"/>
          <p:cNvSpPr/>
          <p:nvPr/>
        </p:nvSpPr>
        <p:spPr>
          <a:xfrm>
            <a:off x="7876381" y="3496270"/>
            <a:ext cx="2547888"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Right in Teams.</a:t>
            </a:r>
            <a:endParaRPr lang="en-US" sz="1800" dirty="0"/>
          </a:p>
        </p:txBody>
      </p:sp>
      <p:sp>
        <p:nvSpPr>
          <p:cNvPr id="18" name="Text 16"/>
          <p:cNvSpPr/>
          <p:nvPr/>
        </p:nvSpPr>
        <p:spPr>
          <a:xfrm>
            <a:off x="10579994" y="2127250"/>
            <a:ext cx="339229" cy="7023100"/>
          </a:xfrm>
          <a:prstGeom prst="rect">
            <a:avLst/>
          </a:prstGeom>
          <a:noFill/>
          <a:ln/>
        </p:spPr>
        <p:txBody>
          <a:bodyPr wrap="square" lIns="25400" tIns="25400" rIns="25400" bIns="25400" rtlCol="0" anchor="ctr">
            <a:normAutofit/>
          </a:bodyPr>
          <a:lstStyle/>
          <a:p>
            <a:pPr marL="0" indent="0" algn="l">
              <a:buNone/>
            </a:pPr>
            <a:r>
              <a:rPr lang="en-US" sz="2400" dirty="0">
                <a:solidFill>
                  <a:srgbClr val="2F8F7F"/>
                </a:solidFill>
                <a:latin typeface="Arial" pitchFamily="34" charset="0"/>
                <a:ea typeface="Arial" pitchFamily="34" charset="-122"/>
                <a:cs typeface="Arial" pitchFamily="34" charset="-120"/>
              </a:rPr>
              <a:t>→</a:t>
            </a:r>
            <a:endParaRPr lang="en-US" sz="2400" dirty="0"/>
          </a:p>
        </p:txBody>
      </p:sp>
      <p:sp>
        <p:nvSpPr>
          <p:cNvPr id="19" name="Shape 17"/>
          <p:cNvSpPr/>
          <p:nvPr/>
        </p:nvSpPr>
        <p:spPr>
          <a:xfrm>
            <a:off x="10976372" y="2127250"/>
            <a:ext cx="2824262" cy="6985000"/>
          </a:xfrm>
          <a:prstGeom prst="roundRect">
            <a:avLst>
              <a:gd name="adj" fmla="val 6745"/>
            </a:avLst>
          </a:prstGeom>
          <a:solidFill>
            <a:srgbClr val="FFFFFF"/>
          </a:solidFill>
          <a:ln w="6350">
            <a:solidFill>
              <a:srgbClr val="2B2A26">
                <a:alpha val="10000"/>
              </a:srgbClr>
            </a:solidFill>
            <a:prstDash val="solid"/>
          </a:ln>
          <a:effectLst>
            <a:outerShdw blurRad="285750" dist="57150" dir="5400000" algn="bl" rotWithShape="0">
              <a:srgbClr val="2B2A26">
                <a:alpha val="7000"/>
              </a:srgbClr>
            </a:outerShdw>
          </a:effectLst>
        </p:spPr>
        <p:txBody>
          <a:bodyPr/>
          <a:lstStyle/>
          <a:p>
            <a:endParaRPr lang="de-DE"/>
          </a:p>
        </p:txBody>
      </p:sp>
      <p:sp>
        <p:nvSpPr>
          <p:cNvPr id="20" name="Text 18"/>
          <p:cNvSpPr/>
          <p:nvPr/>
        </p:nvSpPr>
        <p:spPr>
          <a:xfrm>
            <a:off x="11230373" y="2381250"/>
            <a:ext cx="2547888" cy="387350"/>
          </a:xfrm>
          <a:prstGeom prst="rect">
            <a:avLst/>
          </a:prstGeom>
          <a:noFill/>
          <a:ln/>
        </p:spPr>
        <p:txBody>
          <a:bodyPr wrap="square" lIns="25400" tIns="25400" rIns="25400" bIns="25400" rtlCol="0" anchor="t">
            <a:normAutofit/>
          </a:bodyPr>
          <a:lstStyle/>
          <a:p>
            <a:pPr marL="0" indent="0" algn="l">
              <a:buNone/>
            </a:pPr>
            <a:r>
              <a:rPr lang="en-US" sz="2400" b="1" dirty="0">
                <a:solidFill>
                  <a:srgbClr val="2F8F7F"/>
                </a:solidFill>
                <a:latin typeface="Arial" pitchFamily="34" charset="0"/>
                <a:ea typeface="Arial" pitchFamily="34" charset="-122"/>
                <a:cs typeface="Arial" pitchFamily="34" charset="-120"/>
              </a:rPr>
              <a:t>4</a:t>
            </a:r>
            <a:endParaRPr lang="en-US" sz="2400" dirty="0"/>
          </a:p>
        </p:txBody>
      </p:sp>
      <p:sp>
        <p:nvSpPr>
          <p:cNvPr id="21" name="Text 19"/>
          <p:cNvSpPr/>
          <p:nvPr/>
        </p:nvSpPr>
        <p:spPr>
          <a:xfrm>
            <a:off x="11230373" y="2825750"/>
            <a:ext cx="2547888" cy="33526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2B2A26"/>
                </a:solidFill>
                <a:latin typeface="Arial" pitchFamily="34" charset="0"/>
                <a:ea typeface="Arial" pitchFamily="34" charset="-122"/>
                <a:cs typeface="Arial" pitchFamily="34" charset="-120"/>
              </a:rPr>
              <a:t>One-click action</a:t>
            </a:r>
            <a:endParaRPr lang="en-US" sz="1800" dirty="0"/>
          </a:p>
        </p:txBody>
      </p:sp>
      <p:sp>
        <p:nvSpPr>
          <p:cNvPr id="22" name="Text 20"/>
          <p:cNvSpPr/>
          <p:nvPr/>
        </p:nvSpPr>
        <p:spPr>
          <a:xfrm>
            <a:off x="11230373" y="3199110"/>
            <a:ext cx="2547888"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B2A26">
                    <a:alpha val="55000"/>
                  </a:srgbClr>
                </a:solidFill>
                <a:latin typeface="Arial" pitchFamily="34" charset="0"/>
                <a:ea typeface="Arial" pitchFamily="34" charset="-122"/>
                <a:cs typeface="Arial" pitchFamily="34" charset="-120"/>
              </a:rPr>
              <a:t>Buffer added. Done.</a:t>
            </a:r>
            <a:endParaRPr lang="en-US" sz="1800" dirty="0"/>
          </a:p>
        </p:txBody>
      </p:sp>
      <p:sp>
        <p:nvSpPr>
          <p:cNvPr id="23" name="Text 21"/>
          <p:cNvSpPr/>
          <p:nvPr/>
        </p:nvSpPr>
        <p:spPr>
          <a:xfrm>
            <a:off x="13933984" y="2127250"/>
            <a:ext cx="339229" cy="7023100"/>
          </a:xfrm>
          <a:prstGeom prst="rect">
            <a:avLst/>
          </a:prstGeom>
          <a:noFill/>
          <a:ln/>
        </p:spPr>
        <p:txBody>
          <a:bodyPr wrap="square" lIns="25400" tIns="25400" rIns="25400" bIns="25400" rtlCol="0" anchor="ctr">
            <a:normAutofit/>
          </a:bodyPr>
          <a:lstStyle/>
          <a:p>
            <a:pPr marL="0" indent="0" algn="l">
              <a:buNone/>
            </a:pPr>
            <a:r>
              <a:rPr lang="en-US" sz="2400" dirty="0">
                <a:solidFill>
                  <a:srgbClr val="2F8F7F"/>
                </a:solidFill>
                <a:latin typeface="Arial" pitchFamily="34" charset="0"/>
                <a:ea typeface="Arial" pitchFamily="34" charset="-122"/>
                <a:cs typeface="Arial" pitchFamily="34" charset="-120"/>
              </a:rPr>
              <a:t>→</a:t>
            </a:r>
            <a:endParaRPr lang="en-US" sz="2400" dirty="0"/>
          </a:p>
        </p:txBody>
      </p:sp>
      <p:sp>
        <p:nvSpPr>
          <p:cNvPr id="24" name="Shape 22"/>
          <p:cNvSpPr/>
          <p:nvPr/>
        </p:nvSpPr>
        <p:spPr>
          <a:xfrm>
            <a:off x="14330363" y="2127250"/>
            <a:ext cx="3043238" cy="6985000"/>
          </a:xfrm>
          <a:prstGeom prst="roundRect">
            <a:avLst>
              <a:gd name="adj" fmla="val 6260"/>
            </a:avLst>
          </a:prstGeom>
          <a:solidFill>
            <a:srgbClr val="246B5F"/>
          </a:solidFill>
          <a:ln/>
          <a:effectLst>
            <a:outerShdw blurRad="419100" dist="133350" dir="5400000" algn="bl" rotWithShape="0">
              <a:srgbClr val="2B2A26">
                <a:alpha val="12000"/>
              </a:srgbClr>
            </a:outerShdw>
          </a:effectLst>
        </p:spPr>
        <p:txBody>
          <a:bodyPr/>
          <a:lstStyle/>
          <a:p>
            <a:endParaRPr lang="de-DE"/>
          </a:p>
        </p:txBody>
      </p:sp>
      <p:sp>
        <p:nvSpPr>
          <p:cNvPr id="25" name="Text 23"/>
          <p:cNvSpPr/>
          <p:nvPr/>
        </p:nvSpPr>
        <p:spPr>
          <a:xfrm>
            <a:off x="14578013" y="2374900"/>
            <a:ext cx="2802731" cy="3873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26" name="Text 24"/>
          <p:cNvSpPr/>
          <p:nvPr/>
        </p:nvSpPr>
        <p:spPr>
          <a:xfrm>
            <a:off x="14578013" y="2819400"/>
            <a:ext cx="2624376" cy="632420"/>
          </a:xfrm>
          <a:prstGeom prst="rect">
            <a:avLst/>
          </a:prstGeom>
          <a:noFill/>
          <a:ln/>
        </p:spPr>
        <p:txBody>
          <a:bodyPr wrap="square" lIns="25400" tIns="25400" rIns="25400" bIns="25400" rtlCol="0" anchor="t">
            <a:normAutofit/>
          </a:bodyPr>
          <a:lstStyle/>
          <a:p>
            <a:pPr marL="0" indent="0" algn="l">
              <a:lnSpc>
                <a:spcPct val="130000"/>
              </a:lnSpc>
              <a:buNone/>
            </a:pPr>
            <a:r>
              <a:rPr lang="en-US" sz="1800" b="1" dirty="0">
                <a:solidFill>
                  <a:srgbClr val="FAF7F0"/>
                </a:solidFill>
                <a:latin typeface="Arial" pitchFamily="34" charset="0"/>
                <a:ea typeface="Arial" pitchFamily="34" charset="-122"/>
                <a:cs typeface="Arial" pitchFamily="34" charset="-120"/>
              </a:rPr>
              <a:t>Peak energy → Deep Work</a:t>
            </a:r>
            <a:endParaRPr lang="en-US" sz="1800" dirty="0"/>
          </a:p>
        </p:txBody>
      </p:sp>
      <p:sp>
        <p:nvSpPr>
          <p:cNvPr id="27" name="Text 25"/>
          <p:cNvSpPr/>
          <p:nvPr/>
        </p:nvSpPr>
        <p:spPr>
          <a:xfrm>
            <a:off x="14578013" y="3489920"/>
            <a:ext cx="2624376"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FFFFF">
                    <a:alpha val="78000"/>
                  </a:srgbClr>
                </a:solidFill>
                <a:latin typeface="Arial" pitchFamily="34" charset="0"/>
                <a:ea typeface="Arial" pitchFamily="34" charset="-122"/>
                <a:cs typeface="Arial" pitchFamily="34" charset="-120"/>
              </a:rPr>
              <a:t>Bidirectional. Empowerment, not brakes.</a:t>
            </a:r>
            <a:endParaRPr lang="en-US" sz="1800" dirty="0"/>
          </a:p>
        </p:txBody>
      </p:sp>
      <p:sp>
        <p:nvSpPr>
          <p:cNvPr id="28" name="Text 26"/>
          <p:cNvSpPr/>
          <p:nvPr/>
        </p:nvSpPr>
        <p:spPr>
          <a:xfrm>
            <a:off x="914400" y="9321800"/>
            <a:ext cx="18105120" cy="317500"/>
          </a:xfrm>
          <a:prstGeom prst="rect">
            <a:avLst/>
          </a:prstGeom>
          <a:noFill/>
          <a:ln/>
        </p:spPr>
        <p:txBody>
          <a:bodyPr wrap="square" lIns="25400" tIns="25400" rIns="25400" bIns="25400" rtlCol="0" anchor="t">
            <a:normAutofit/>
          </a:bodyPr>
          <a:lstStyle/>
          <a:p>
            <a:pPr marL="0" indent="0" algn="l">
              <a:buNone/>
            </a:pPr>
            <a:r>
              <a:rPr lang="en-US" sz="1800" dirty="0">
                <a:solidFill>
                  <a:srgbClr val="2B2A26">
                    <a:alpha val="40000"/>
                  </a:srgbClr>
                </a:solidFill>
                <a:latin typeface="Arial" pitchFamily="34" charset="0"/>
                <a:ea typeface="Arial" pitchFamily="34" charset="-122"/>
                <a:cs typeface="Arial" pitchFamily="34" charset="-120"/>
              </a:rPr>
              <a:t>The dashboard always explains the </a:t>
            </a:r>
            <a:r>
              <a:rPr lang="en-US" sz="1800" b="1" dirty="0">
                <a:solidFill>
                  <a:srgbClr val="2B2A26">
                    <a:alpha val="55000"/>
                  </a:srgbClr>
                </a:solidFill>
                <a:latin typeface="Arial" pitchFamily="34" charset="0"/>
                <a:ea typeface="Arial" pitchFamily="34" charset="-122"/>
                <a:cs typeface="Arial" pitchFamily="34" charset="-120"/>
              </a:rPr>
              <a:t>why </a:t>
            </a:r>
            <a:r>
              <a:rPr lang="en-US" sz="1800" dirty="0">
                <a:solidFill>
                  <a:srgbClr val="2B2A26">
                    <a:alpha val="40000"/>
                  </a:srgbClr>
                </a:solidFill>
                <a:latin typeface="Arial" pitchFamily="34" charset="0"/>
                <a:ea typeface="Arial" pitchFamily="34" charset="-122"/>
                <a:cs typeface="Arial" pitchFamily="34" charset="-120"/>
              </a:rPr>
              <a:t>behind every move.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914400" y="74295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ROADMAP · VISION</a:t>
            </a:r>
            <a:endParaRPr lang="en-US" sz="1800" dirty="0"/>
          </a:p>
        </p:txBody>
      </p:sp>
      <p:sp>
        <p:nvSpPr>
          <p:cNvPr id="3" name="Text 1"/>
          <p:cNvSpPr/>
          <p:nvPr/>
        </p:nvSpPr>
        <p:spPr>
          <a:xfrm>
            <a:off x="914400" y="110490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From companion to background system.</a:t>
            </a:r>
            <a:endParaRPr lang="en-US" sz="4800" dirty="0"/>
          </a:p>
        </p:txBody>
      </p:sp>
      <p:sp>
        <p:nvSpPr>
          <p:cNvPr id="4" name="Shape 2"/>
          <p:cNvSpPr/>
          <p:nvPr/>
        </p:nvSpPr>
        <p:spPr>
          <a:xfrm>
            <a:off x="914400" y="2222500"/>
            <a:ext cx="5334000" cy="7321550"/>
          </a:xfrm>
          <a:prstGeom prst="roundRect">
            <a:avLst>
              <a:gd name="adj" fmla="val 4643"/>
            </a:avLst>
          </a:prstGeom>
          <a:solidFill>
            <a:srgbClr val="FFFFFF"/>
          </a:solidFill>
          <a:ln/>
          <a:effectLst>
            <a:outerShdw blurRad="285750" dist="57150" dir="5400000" algn="bl" rotWithShape="0">
              <a:srgbClr val="2B2A26">
                <a:alpha val="7000"/>
              </a:srgbClr>
            </a:outerShdw>
          </a:effectLst>
        </p:spPr>
        <p:txBody>
          <a:bodyPr/>
          <a:lstStyle/>
          <a:p>
            <a:endParaRPr lang="de-DE"/>
          </a:p>
        </p:txBody>
      </p:sp>
      <p:sp>
        <p:nvSpPr>
          <p:cNvPr id="5" name="Shape 3"/>
          <p:cNvSpPr/>
          <p:nvPr/>
        </p:nvSpPr>
        <p:spPr>
          <a:xfrm>
            <a:off x="914400" y="9537700"/>
            <a:ext cx="5334000" cy="9525"/>
          </a:xfrm>
          <a:prstGeom prst="rect">
            <a:avLst/>
          </a:prstGeom>
          <a:solidFill>
            <a:srgbClr val="2B2A26">
              <a:alpha val="10000"/>
            </a:srgbClr>
          </a:solidFill>
          <a:ln/>
        </p:spPr>
        <p:txBody>
          <a:bodyPr/>
          <a:lstStyle/>
          <a:p>
            <a:endParaRPr lang="de-DE"/>
          </a:p>
        </p:txBody>
      </p:sp>
      <p:sp>
        <p:nvSpPr>
          <p:cNvPr id="6" name="Shape 4"/>
          <p:cNvSpPr/>
          <p:nvPr/>
        </p:nvSpPr>
        <p:spPr>
          <a:xfrm>
            <a:off x="914400" y="2222500"/>
            <a:ext cx="5334000" cy="44450"/>
          </a:xfrm>
          <a:prstGeom prst="rect">
            <a:avLst/>
          </a:prstGeom>
          <a:solidFill>
            <a:srgbClr val="2F8F7F"/>
          </a:solidFill>
          <a:ln/>
        </p:spPr>
        <p:txBody>
          <a:bodyPr/>
          <a:lstStyle/>
          <a:p>
            <a:endParaRPr lang="de-DE"/>
          </a:p>
        </p:txBody>
      </p:sp>
      <p:sp>
        <p:nvSpPr>
          <p:cNvPr id="7" name="Shape 5"/>
          <p:cNvSpPr/>
          <p:nvPr/>
        </p:nvSpPr>
        <p:spPr>
          <a:xfrm>
            <a:off x="914400" y="2222500"/>
            <a:ext cx="9525" cy="7321550"/>
          </a:xfrm>
          <a:prstGeom prst="rect">
            <a:avLst/>
          </a:prstGeom>
          <a:solidFill>
            <a:srgbClr val="2B2A26">
              <a:alpha val="10000"/>
            </a:srgbClr>
          </a:solidFill>
          <a:ln/>
        </p:spPr>
        <p:txBody>
          <a:bodyPr/>
          <a:lstStyle/>
          <a:p>
            <a:endParaRPr lang="de-DE"/>
          </a:p>
        </p:txBody>
      </p:sp>
      <p:sp>
        <p:nvSpPr>
          <p:cNvPr id="8" name="Shape 6"/>
          <p:cNvSpPr/>
          <p:nvPr/>
        </p:nvSpPr>
        <p:spPr>
          <a:xfrm>
            <a:off x="6242050" y="2222500"/>
            <a:ext cx="9525" cy="7321550"/>
          </a:xfrm>
          <a:prstGeom prst="rect">
            <a:avLst/>
          </a:prstGeom>
          <a:solidFill>
            <a:srgbClr val="2B2A26">
              <a:alpha val="10000"/>
            </a:srgbClr>
          </a:solidFill>
          <a:ln/>
        </p:spPr>
        <p:txBody>
          <a:bodyPr/>
          <a:lstStyle/>
          <a:p>
            <a:endParaRPr lang="de-DE"/>
          </a:p>
        </p:txBody>
      </p:sp>
      <p:sp>
        <p:nvSpPr>
          <p:cNvPr id="9" name="Text 7"/>
          <p:cNvSpPr/>
          <p:nvPr/>
        </p:nvSpPr>
        <p:spPr>
          <a:xfrm>
            <a:off x="1225550" y="2571750"/>
            <a:ext cx="5182870" cy="3048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246B5F"/>
                </a:solidFill>
                <a:latin typeface="Arial" pitchFamily="34" charset="0"/>
                <a:ea typeface="Arial" pitchFamily="34" charset="-122"/>
                <a:cs typeface="Arial" pitchFamily="34" charset="-120"/>
              </a:rPr>
              <a:t>NOW</a:t>
            </a:r>
            <a:endParaRPr lang="en-US" sz="1800" dirty="0"/>
          </a:p>
        </p:txBody>
      </p:sp>
      <p:sp>
        <p:nvSpPr>
          <p:cNvPr id="10" name="Text 8"/>
          <p:cNvSpPr/>
          <p:nvPr/>
        </p:nvSpPr>
        <p:spPr>
          <a:xfrm>
            <a:off x="1225550" y="3048000"/>
            <a:ext cx="225822" cy="73144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2F8F7F"/>
                </a:solidFill>
                <a:latin typeface="Arial" pitchFamily="34" charset="0"/>
                <a:ea typeface="Arial" pitchFamily="34" charset="-122"/>
                <a:cs typeface="Arial" pitchFamily="34" charset="-120"/>
              </a:rPr>
              <a:t>●</a:t>
            </a:r>
            <a:endParaRPr lang="en-US" sz="1950" dirty="0"/>
          </a:p>
        </p:txBody>
      </p:sp>
      <p:sp>
        <p:nvSpPr>
          <p:cNvPr id="11" name="Text 9"/>
          <p:cNvSpPr/>
          <p:nvPr/>
        </p:nvSpPr>
        <p:spPr>
          <a:xfrm>
            <a:off x="1489472" y="3067050"/>
            <a:ext cx="4463585" cy="683221"/>
          </a:xfrm>
          <a:prstGeom prst="rect">
            <a:avLst/>
          </a:prstGeom>
          <a:noFill/>
          <a:ln/>
        </p:spPr>
        <p:txBody>
          <a:bodyPr wrap="square" lIns="0" tIns="0" rIns="0" bIns="0" rtlCol="0" anchor="t">
            <a:normAutofit/>
          </a:bodyPr>
          <a:lstStyle/>
          <a:p>
            <a:pPr marL="0" indent="0" algn="l">
              <a:lnSpc>
                <a:spcPct val="140000"/>
              </a:lnSpc>
              <a:buNone/>
            </a:pPr>
            <a:r>
              <a:rPr lang="en-US" sz="1950" dirty="0">
                <a:solidFill>
                  <a:srgbClr val="2B2A26"/>
                </a:solidFill>
                <a:latin typeface="Arial" pitchFamily="34" charset="0"/>
                <a:ea typeface="Arial" pitchFamily="34" charset="-122"/>
                <a:cs typeface="Arial" pitchFamily="34" charset="-120"/>
              </a:rPr>
              <a:t>1-tap ground-truth feedback loop — heals the science gap &amp; personalises</a:t>
            </a:r>
            <a:endParaRPr lang="en-US" sz="1950" dirty="0"/>
          </a:p>
        </p:txBody>
      </p:sp>
      <p:sp>
        <p:nvSpPr>
          <p:cNvPr id="12" name="Text 10"/>
          <p:cNvSpPr/>
          <p:nvPr/>
        </p:nvSpPr>
        <p:spPr>
          <a:xfrm>
            <a:off x="1225550" y="3912791"/>
            <a:ext cx="225822" cy="73144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2F8F7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89472" y="3931841"/>
            <a:ext cx="4036510" cy="683220"/>
          </a:xfrm>
          <a:prstGeom prst="rect">
            <a:avLst/>
          </a:prstGeom>
          <a:noFill/>
          <a:ln/>
        </p:spPr>
        <p:txBody>
          <a:bodyPr wrap="square" lIns="0" tIns="0" rIns="0" bIns="0" rtlCol="0" anchor="t">
            <a:normAutofit/>
          </a:bodyPr>
          <a:lstStyle/>
          <a:p>
            <a:pPr marL="0" indent="0" algn="l">
              <a:lnSpc>
                <a:spcPct val="140000"/>
              </a:lnSpc>
              <a:buNone/>
            </a:pPr>
            <a:r>
              <a:rPr lang="en-US" sz="1950" dirty="0">
                <a:solidFill>
                  <a:srgbClr val="2B2A26"/>
                </a:solidFill>
                <a:latin typeface="Arial" pitchFamily="34" charset="0"/>
                <a:ea typeface="Arial" pitchFamily="34" charset="-122"/>
                <a:cs typeface="Arial" pitchFamily="34" charset="-120"/>
              </a:rPr>
              <a:t>Set-and-forget auto-protect rules running in the background</a:t>
            </a:r>
            <a:endParaRPr lang="en-US" sz="1950" dirty="0"/>
          </a:p>
        </p:txBody>
      </p:sp>
      <p:sp>
        <p:nvSpPr>
          <p:cNvPr id="14" name="Shape 12"/>
          <p:cNvSpPr/>
          <p:nvPr/>
        </p:nvSpPr>
        <p:spPr>
          <a:xfrm>
            <a:off x="6477000" y="2222500"/>
            <a:ext cx="5334000" cy="7321550"/>
          </a:xfrm>
          <a:prstGeom prst="roundRect">
            <a:avLst>
              <a:gd name="adj" fmla="val 4643"/>
            </a:avLst>
          </a:prstGeom>
          <a:solidFill>
            <a:srgbClr val="FFFFFF"/>
          </a:solidFill>
          <a:ln/>
          <a:effectLst>
            <a:outerShdw blurRad="285750" dist="57150" dir="5400000" algn="bl" rotWithShape="0">
              <a:srgbClr val="2B2A26">
                <a:alpha val="7000"/>
              </a:srgbClr>
            </a:outerShdw>
          </a:effectLst>
        </p:spPr>
        <p:txBody>
          <a:bodyPr/>
          <a:lstStyle/>
          <a:p>
            <a:endParaRPr lang="de-DE"/>
          </a:p>
        </p:txBody>
      </p:sp>
      <p:sp>
        <p:nvSpPr>
          <p:cNvPr id="15" name="Shape 13"/>
          <p:cNvSpPr/>
          <p:nvPr/>
        </p:nvSpPr>
        <p:spPr>
          <a:xfrm>
            <a:off x="6477000" y="9537700"/>
            <a:ext cx="5334000" cy="9525"/>
          </a:xfrm>
          <a:prstGeom prst="rect">
            <a:avLst/>
          </a:prstGeom>
          <a:solidFill>
            <a:srgbClr val="2B2A26">
              <a:alpha val="10000"/>
            </a:srgbClr>
          </a:solidFill>
          <a:ln/>
        </p:spPr>
        <p:txBody>
          <a:bodyPr/>
          <a:lstStyle/>
          <a:p>
            <a:endParaRPr lang="de-DE"/>
          </a:p>
        </p:txBody>
      </p:sp>
      <p:sp>
        <p:nvSpPr>
          <p:cNvPr id="16" name="Shape 14"/>
          <p:cNvSpPr/>
          <p:nvPr/>
        </p:nvSpPr>
        <p:spPr>
          <a:xfrm>
            <a:off x="6477000" y="2222500"/>
            <a:ext cx="5334000" cy="44450"/>
          </a:xfrm>
          <a:prstGeom prst="rect">
            <a:avLst/>
          </a:prstGeom>
          <a:solidFill>
            <a:srgbClr val="5E86A8"/>
          </a:solidFill>
          <a:ln/>
        </p:spPr>
        <p:txBody>
          <a:bodyPr/>
          <a:lstStyle/>
          <a:p>
            <a:endParaRPr lang="de-DE"/>
          </a:p>
        </p:txBody>
      </p:sp>
      <p:sp>
        <p:nvSpPr>
          <p:cNvPr id="17" name="Shape 15"/>
          <p:cNvSpPr/>
          <p:nvPr/>
        </p:nvSpPr>
        <p:spPr>
          <a:xfrm>
            <a:off x="6477000" y="2222500"/>
            <a:ext cx="9525" cy="7321550"/>
          </a:xfrm>
          <a:prstGeom prst="rect">
            <a:avLst/>
          </a:prstGeom>
          <a:solidFill>
            <a:srgbClr val="2B2A26">
              <a:alpha val="10000"/>
            </a:srgbClr>
          </a:solidFill>
          <a:ln/>
        </p:spPr>
        <p:txBody>
          <a:bodyPr/>
          <a:lstStyle/>
          <a:p>
            <a:endParaRPr lang="de-DE"/>
          </a:p>
        </p:txBody>
      </p:sp>
      <p:sp>
        <p:nvSpPr>
          <p:cNvPr id="18" name="Shape 16"/>
          <p:cNvSpPr/>
          <p:nvPr/>
        </p:nvSpPr>
        <p:spPr>
          <a:xfrm>
            <a:off x="11804650" y="2222500"/>
            <a:ext cx="9525" cy="7321550"/>
          </a:xfrm>
          <a:prstGeom prst="rect">
            <a:avLst/>
          </a:prstGeom>
          <a:solidFill>
            <a:srgbClr val="2B2A26">
              <a:alpha val="10000"/>
            </a:srgbClr>
          </a:solidFill>
          <a:ln/>
        </p:spPr>
        <p:txBody>
          <a:bodyPr/>
          <a:lstStyle/>
          <a:p>
            <a:endParaRPr lang="de-DE"/>
          </a:p>
        </p:txBody>
      </p:sp>
      <p:sp>
        <p:nvSpPr>
          <p:cNvPr id="19" name="Text 17"/>
          <p:cNvSpPr/>
          <p:nvPr/>
        </p:nvSpPr>
        <p:spPr>
          <a:xfrm>
            <a:off x="6788150" y="2571750"/>
            <a:ext cx="5182870" cy="3048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41637E"/>
                </a:solidFill>
                <a:latin typeface="Arial" pitchFamily="34" charset="0"/>
                <a:ea typeface="Arial" pitchFamily="34" charset="-122"/>
                <a:cs typeface="Arial" pitchFamily="34" charset="-120"/>
              </a:rPr>
              <a:t>NEXT</a:t>
            </a:r>
            <a:endParaRPr lang="en-US" sz="1800" dirty="0"/>
          </a:p>
        </p:txBody>
      </p:sp>
      <p:sp>
        <p:nvSpPr>
          <p:cNvPr id="20" name="Text 18"/>
          <p:cNvSpPr/>
          <p:nvPr/>
        </p:nvSpPr>
        <p:spPr>
          <a:xfrm>
            <a:off x="6788150" y="3048000"/>
            <a:ext cx="225822" cy="38477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E86A8"/>
                </a:solidFill>
                <a:latin typeface="Arial" pitchFamily="34" charset="0"/>
                <a:ea typeface="Arial" pitchFamily="34" charset="-122"/>
                <a:cs typeface="Arial" pitchFamily="34" charset="-120"/>
              </a:rPr>
              <a:t>●</a:t>
            </a:r>
            <a:endParaRPr lang="en-US" sz="1950" dirty="0"/>
          </a:p>
        </p:txBody>
      </p:sp>
      <p:sp>
        <p:nvSpPr>
          <p:cNvPr id="21" name="Text 19"/>
          <p:cNvSpPr/>
          <p:nvPr/>
        </p:nvSpPr>
        <p:spPr>
          <a:xfrm>
            <a:off x="7052072" y="3067050"/>
            <a:ext cx="4095682" cy="336550"/>
          </a:xfrm>
          <a:prstGeom prst="rect">
            <a:avLst/>
          </a:prstGeom>
          <a:noFill/>
          <a:ln/>
        </p:spPr>
        <p:txBody>
          <a:bodyPr wrap="square" lIns="0" tIns="0" rIns="0" bIns="0" rtlCol="0" anchor="t">
            <a:normAutofit/>
          </a:bodyPr>
          <a:lstStyle/>
          <a:p>
            <a:pPr marL="0" indent="0" algn="l">
              <a:lnSpc>
                <a:spcPct val="140000"/>
              </a:lnSpc>
              <a:buNone/>
            </a:pPr>
            <a:r>
              <a:rPr lang="en-US" sz="1950" dirty="0">
                <a:solidFill>
                  <a:srgbClr val="2B2A26"/>
                </a:solidFill>
                <a:latin typeface="Arial" pitchFamily="34" charset="0"/>
                <a:ea typeface="Arial" pitchFamily="34" charset="-122"/>
                <a:cs typeface="Arial" pitchFamily="34" charset="-120"/>
              </a:rPr>
              <a:t>Energy forecast for the day ahead</a:t>
            </a:r>
            <a:endParaRPr lang="en-US" sz="1950" dirty="0"/>
          </a:p>
        </p:txBody>
      </p:sp>
      <p:sp>
        <p:nvSpPr>
          <p:cNvPr id="22" name="Text 20"/>
          <p:cNvSpPr/>
          <p:nvPr/>
        </p:nvSpPr>
        <p:spPr>
          <a:xfrm>
            <a:off x="6788150" y="3566120"/>
            <a:ext cx="225822" cy="73144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E86A8"/>
                </a:solidFill>
                <a:latin typeface="Arial" pitchFamily="34" charset="0"/>
                <a:ea typeface="Arial" pitchFamily="34" charset="-122"/>
                <a:cs typeface="Arial" pitchFamily="34" charset="-120"/>
              </a:rPr>
              <a:t>●</a:t>
            </a:r>
            <a:endParaRPr lang="en-US" sz="1950" dirty="0"/>
          </a:p>
        </p:txBody>
      </p:sp>
      <p:sp>
        <p:nvSpPr>
          <p:cNvPr id="23" name="Text 21"/>
          <p:cNvSpPr/>
          <p:nvPr/>
        </p:nvSpPr>
        <p:spPr>
          <a:xfrm>
            <a:off x="7052072" y="3585170"/>
            <a:ext cx="4576511" cy="683220"/>
          </a:xfrm>
          <a:prstGeom prst="rect">
            <a:avLst/>
          </a:prstGeom>
          <a:noFill/>
          <a:ln/>
        </p:spPr>
        <p:txBody>
          <a:bodyPr wrap="square" lIns="0" tIns="0" rIns="0" bIns="0" rtlCol="0" anchor="t">
            <a:normAutofit/>
          </a:bodyPr>
          <a:lstStyle/>
          <a:p>
            <a:pPr marL="0" indent="0" algn="l">
              <a:lnSpc>
                <a:spcPct val="140000"/>
              </a:lnSpc>
              <a:buNone/>
            </a:pPr>
            <a:r>
              <a:rPr lang="en-US" sz="1950" dirty="0">
                <a:solidFill>
                  <a:srgbClr val="2B2A26"/>
                </a:solidFill>
                <a:latin typeface="Arial" pitchFamily="34" charset="0"/>
                <a:ea typeface="Arial" pitchFamily="34" charset="-122"/>
                <a:cs typeface="Arial" pitchFamily="34" charset="-120"/>
              </a:rPr>
              <a:t>Meeting pre-mortem before you over-commit</a:t>
            </a:r>
            <a:endParaRPr lang="en-US" sz="1950" dirty="0"/>
          </a:p>
        </p:txBody>
      </p:sp>
      <p:sp>
        <p:nvSpPr>
          <p:cNvPr id="24" name="Shape 22"/>
          <p:cNvSpPr/>
          <p:nvPr/>
        </p:nvSpPr>
        <p:spPr>
          <a:xfrm>
            <a:off x="12039600" y="2222500"/>
            <a:ext cx="5334000" cy="7321550"/>
          </a:xfrm>
          <a:prstGeom prst="roundRect">
            <a:avLst>
              <a:gd name="adj" fmla="val 4643"/>
            </a:avLst>
          </a:prstGeom>
          <a:solidFill>
            <a:srgbClr val="FFFFFF"/>
          </a:solidFill>
          <a:ln/>
          <a:effectLst>
            <a:outerShdw blurRad="285750" dist="57150" dir="5400000" algn="bl" rotWithShape="0">
              <a:srgbClr val="2B2A26">
                <a:alpha val="7000"/>
              </a:srgbClr>
            </a:outerShdw>
          </a:effectLst>
        </p:spPr>
        <p:txBody>
          <a:bodyPr/>
          <a:lstStyle/>
          <a:p>
            <a:endParaRPr lang="de-DE"/>
          </a:p>
        </p:txBody>
      </p:sp>
      <p:sp>
        <p:nvSpPr>
          <p:cNvPr id="25" name="Shape 23"/>
          <p:cNvSpPr/>
          <p:nvPr/>
        </p:nvSpPr>
        <p:spPr>
          <a:xfrm>
            <a:off x="12039600" y="9537700"/>
            <a:ext cx="5334000" cy="9525"/>
          </a:xfrm>
          <a:prstGeom prst="rect">
            <a:avLst/>
          </a:prstGeom>
          <a:solidFill>
            <a:srgbClr val="2B2A26">
              <a:alpha val="10000"/>
            </a:srgbClr>
          </a:solidFill>
          <a:ln/>
        </p:spPr>
        <p:txBody>
          <a:bodyPr/>
          <a:lstStyle/>
          <a:p>
            <a:endParaRPr lang="de-DE"/>
          </a:p>
        </p:txBody>
      </p:sp>
      <p:sp>
        <p:nvSpPr>
          <p:cNvPr id="26" name="Shape 24"/>
          <p:cNvSpPr/>
          <p:nvPr/>
        </p:nvSpPr>
        <p:spPr>
          <a:xfrm>
            <a:off x="12039600" y="2222500"/>
            <a:ext cx="5334000" cy="44450"/>
          </a:xfrm>
          <a:prstGeom prst="rect">
            <a:avLst/>
          </a:prstGeom>
          <a:solidFill>
            <a:srgbClr val="2B2A26">
              <a:alpha val="40000"/>
            </a:srgbClr>
          </a:solidFill>
          <a:ln/>
        </p:spPr>
        <p:txBody>
          <a:bodyPr/>
          <a:lstStyle/>
          <a:p>
            <a:endParaRPr lang="de-DE"/>
          </a:p>
        </p:txBody>
      </p:sp>
      <p:sp>
        <p:nvSpPr>
          <p:cNvPr id="27" name="Shape 25"/>
          <p:cNvSpPr/>
          <p:nvPr/>
        </p:nvSpPr>
        <p:spPr>
          <a:xfrm>
            <a:off x="12039600" y="2222500"/>
            <a:ext cx="9525" cy="7321550"/>
          </a:xfrm>
          <a:prstGeom prst="rect">
            <a:avLst/>
          </a:prstGeom>
          <a:solidFill>
            <a:srgbClr val="2B2A26">
              <a:alpha val="10000"/>
            </a:srgbClr>
          </a:solidFill>
          <a:ln/>
        </p:spPr>
        <p:txBody>
          <a:bodyPr/>
          <a:lstStyle/>
          <a:p>
            <a:endParaRPr lang="de-DE"/>
          </a:p>
        </p:txBody>
      </p:sp>
      <p:sp>
        <p:nvSpPr>
          <p:cNvPr id="28" name="Shape 26"/>
          <p:cNvSpPr/>
          <p:nvPr/>
        </p:nvSpPr>
        <p:spPr>
          <a:xfrm>
            <a:off x="17367250" y="2222500"/>
            <a:ext cx="9525" cy="7321550"/>
          </a:xfrm>
          <a:prstGeom prst="rect">
            <a:avLst/>
          </a:prstGeom>
          <a:solidFill>
            <a:srgbClr val="2B2A26">
              <a:alpha val="10000"/>
            </a:srgbClr>
          </a:solidFill>
          <a:ln/>
        </p:spPr>
        <p:txBody>
          <a:bodyPr/>
          <a:lstStyle/>
          <a:p>
            <a:endParaRPr lang="de-DE"/>
          </a:p>
        </p:txBody>
      </p:sp>
      <p:sp>
        <p:nvSpPr>
          <p:cNvPr id="29" name="Text 27"/>
          <p:cNvSpPr/>
          <p:nvPr/>
        </p:nvSpPr>
        <p:spPr>
          <a:xfrm>
            <a:off x="12350751" y="2571750"/>
            <a:ext cx="5182870" cy="3048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2B2A26">
                    <a:alpha val="55000"/>
                  </a:srgbClr>
                </a:solidFill>
                <a:latin typeface="Arial" pitchFamily="34" charset="0"/>
                <a:ea typeface="Arial" pitchFamily="34" charset="-122"/>
                <a:cs typeface="Arial" pitchFamily="34" charset="-120"/>
              </a:rPr>
              <a:t>LATER</a:t>
            </a:r>
            <a:endParaRPr lang="en-US" sz="1800" dirty="0"/>
          </a:p>
        </p:txBody>
      </p:sp>
      <p:sp>
        <p:nvSpPr>
          <p:cNvPr id="30" name="Text 28"/>
          <p:cNvSpPr/>
          <p:nvPr/>
        </p:nvSpPr>
        <p:spPr>
          <a:xfrm>
            <a:off x="12350751" y="3048000"/>
            <a:ext cx="225822" cy="38477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2B2A26">
                    <a:alpha val="40000"/>
                  </a:srgbClr>
                </a:solidFill>
                <a:latin typeface="Arial" pitchFamily="34" charset="0"/>
                <a:ea typeface="Arial" pitchFamily="34" charset="-122"/>
                <a:cs typeface="Arial" pitchFamily="34" charset="-120"/>
              </a:rPr>
              <a:t>●</a:t>
            </a:r>
            <a:endParaRPr lang="en-US" sz="1950" dirty="0"/>
          </a:p>
        </p:txBody>
      </p:sp>
      <p:sp>
        <p:nvSpPr>
          <p:cNvPr id="31" name="Text 29"/>
          <p:cNvSpPr/>
          <p:nvPr/>
        </p:nvSpPr>
        <p:spPr>
          <a:xfrm>
            <a:off x="12614672" y="3067050"/>
            <a:ext cx="3467487" cy="336550"/>
          </a:xfrm>
          <a:prstGeom prst="rect">
            <a:avLst/>
          </a:prstGeom>
          <a:noFill/>
          <a:ln/>
        </p:spPr>
        <p:txBody>
          <a:bodyPr wrap="square" lIns="0" tIns="0" rIns="0" bIns="0" rtlCol="0" anchor="t">
            <a:normAutofit/>
          </a:bodyPr>
          <a:lstStyle/>
          <a:p>
            <a:pPr marL="0" indent="0" algn="l">
              <a:lnSpc>
                <a:spcPct val="140000"/>
              </a:lnSpc>
              <a:buNone/>
            </a:pPr>
            <a:r>
              <a:rPr lang="en-US" sz="1950" dirty="0">
                <a:solidFill>
                  <a:srgbClr val="2B2A26"/>
                </a:solidFill>
                <a:latin typeface="Arial" pitchFamily="34" charset="0"/>
                <a:ea typeface="Arial" pitchFamily="34" charset="-122"/>
                <a:cs typeface="Arial" pitchFamily="34" charset="-120"/>
              </a:rPr>
              <a:t>Copilot agent · Teams-native</a:t>
            </a:r>
            <a:endParaRPr lang="en-US" sz="1950" dirty="0"/>
          </a:p>
        </p:txBody>
      </p:sp>
      <p:sp>
        <p:nvSpPr>
          <p:cNvPr id="32" name="Text 30"/>
          <p:cNvSpPr/>
          <p:nvPr/>
        </p:nvSpPr>
        <p:spPr>
          <a:xfrm>
            <a:off x="12350751" y="3566120"/>
            <a:ext cx="225822" cy="73144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2B2A26">
                    <a:alpha val="40000"/>
                  </a:srgbClr>
                </a:solidFill>
                <a:latin typeface="Arial" pitchFamily="34" charset="0"/>
                <a:ea typeface="Arial" pitchFamily="34" charset="-122"/>
                <a:cs typeface="Arial" pitchFamily="34" charset="-120"/>
              </a:rPr>
              <a:t>●</a:t>
            </a:r>
            <a:endParaRPr lang="en-US" sz="1950" dirty="0"/>
          </a:p>
        </p:txBody>
      </p:sp>
      <p:sp>
        <p:nvSpPr>
          <p:cNvPr id="33" name="Text 31"/>
          <p:cNvSpPr/>
          <p:nvPr/>
        </p:nvSpPr>
        <p:spPr>
          <a:xfrm>
            <a:off x="12614672" y="3585170"/>
            <a:ext cx="4285561" cy="683220"/>
          </a:xfrm>
          <a:prstGeom prst="rect">
            <a:avLst/>
          </a:prstGeom>
          <a:noFill/>
          <a:ln/>
        </p:spPr>
        <p:txBody>
          <a:bodyPr wrap="square" lIns="0" tIns="0" rIns="0" bIns="0" rtlCol="0" anchor="t">
            <a:normAutofit/>
          </a:bodyPr>
          <a:lstStyle/>
          <a:p>
            <a:pPr marL="0" indent="0" algn="l">
              <a:lnSpc>
                <a:spcPct val="140000"/>
              </a:lnSpc>
              <a:buNone/>
            </a:pPr>
            <a:r>
              <a:rPr lang="en-US" sz="1950" dirty="0">
                <a:solidFill>
                  <a:srgbClr val="2B2A26"/>
                </a:solidFill>
                <a:latin typeface="Arial" pitchFamily="34" charset="0"/>
                <a:ea typeface="Arial" pitchFamily="34" charset="-122"/>
                <a:cs typeface="Arial" pitchFamily="34" charset="-120"/>
              </a:rPr>
              <a:t>More integrations — To Do/Planner, Presence, Apple Health, Oura</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EDE2"/>
        </a:solidFill>
        <a:effectLst/>
      </p:bgPr>
    </p:bg>
    <p:spTree>
      <p:nvGrpSpPr>
        <p:cNvPr id="1" name=""/>
        <p:cNvGrpSpPr/>
        <p:nvPr/>
      </p:nvGrpSpPr>
      <p:grpSpPr>
        <a:xfrm>
          <a:off x="0" y="0"/>
          <a:ext cx="0" cy="0"/>
          <a:chOff x="0" y="0"/>
          <a:chExt cx="0" cy="0"/>
        </a:xfrm>
      </p:grpSpPr>
      <p:sp>
        <p:nvSpPr>
          <p:cNvPr id="2" name="Text 0"/>
          <p:cNvSpPr/>
          <p:nvPr/>
        </p:nvSpPr>
        <p:spPr>
          <a:xfrm>
            <a:off x="914400" y="704850"/>
            <a:ext cx="18105120" cy="30480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2F8F7F"/>
                </a:solidFill>
                <a:latin typeface="Arial" pitchFamily="34" charset="0"/>
                <a:ea typeface="Arial" pitchFamily="34" charset="-122"/>
                <a:cs typeface="Arial" pitchFamily="34" charset="-120"/>
              </a:rPr>
              <a:t>WHAT'S NEXT · WHAT WE'RE HONEST ABOUT</a:t>
            </a:r>
            <a:endParaRPr lang="en-US" sz="1800" dirty="0"/>
          </a:p>
        </p:txBody>
      </p:sp>
      <p:sp>
        <p:nvSpPr>
          <p:cNvPr id="3" name="Text 1"/>
          <p:cNvSpPr/>
          <p:nvPr/>
        </p:nvSpPr>
        <p:spPr>
          <a:xfrm>
            <a:off x="914400" y="1066800"/>
            <a:ext cx="18105120" cy="736600"/>
          </a:xfrm>
          <a:prstGeom prst="rect">
            <a:avLst/>
          </a:prstGeom>
          <a:noFill/>
          <a:ln/>
        </p:spPr>
        <p:txBody>
          <a:bodyPr wrap="square" lIns="25400" tIns="25400" rIns="25400" bIns="25400" rtlCol="0" anchor="t">
            <a:normAutofit/>
          </a:bodyPr>
          <a:lstStyle/>
          <a:p>
            <a:pPr marL="0" indent="0" algn="l">
              <a:buNone/>
            </a:pPr>
            <a:r>
              <a:rPr lang="en-US" sz="4800" b="1" kern="0" spc="-75" dirty="0">
                <a:solidFill>
                  <a:srgbClr val="2B2A26"/>
                </a:solidFill>
                <a:latin typeface="Arial" pitchFamily="34" charset="0"/>
                <a:ea typeface="Arial" pitchFamily="34" charset="-122"/>
                <a:cs typeface="Arial" pitchFamily="34" charset="-120"/>
              </a:rPr>
              <a:t>Building forward — humble about today.</a:t>
            </a:r>
            <a:endParaRPr lang="en-US" sz="4800" dirty="0"/>
          </a:p>
        </p:txBody>
      </p:sp>
      <p:sp>
        <p:nvSpPr>
          <p:cNvPr id="4" name="Shape 2"/>
          <p:cNvSpPr/>
          <p:nvPr/>
        </p:nvSpPr>
        <p:spPr>
          <a:xfrm>
            <a:off x="914400" y="2146300"/>
            <a:ext cx="8115300" cy="7435850"/>
          </a:xfrm>
          <a:prstGeom prst="roundRect">
            <a:avLst>
              <a:gd name="adj" fmla="val 3330"/>
            </a:avLst>
          </a:prstGeom>
          <a:solidFill>
            <a:srgbClr val="FFFFFF"/>
          </a:solidFill>
          <a:ln/>
          <a:effectLst>
            <a:outerShdw blurRad="285750" dist="57150" dir="5400000" algn="bl" rotWithShape="0">
              <a:srgbClr val="2B2A26">
                <a:alpha val="7000"/>
              </a:srgbClr>
            </a:outerShdw>
          </a:effectLst>
        </p:spPr>
        <p:txBody>
          <a:bodyPr/>
          <a:lstStyle/>
          <a:p>
            <a:endParaRPr lang="de-DE"/>
          </a:p>
        </p:txBody>
      </p:sp>
      <p:sp>
        <p:nvSpPr>
          <p:cNvPr id="5" name="Shape 3"/>
          <p:cNvSpPr/>
          <p:nvPr/>
        </p:nvSpPr>
        <p:spPr>
          <a:xfrm>
            <a:off x="914400" y="9575800"/>
            <a:ext cx="8115300" cy="9525"/>
          </a:xfrm>
          <a:prstGeom prst="rect">
            <a:avLst/>
          </a:prstGeom>
          <a:solidFill>
            <a:srgbClr val="2B2A26">
              <a:alpha val="10000"/>
            </a:srgbClr>
          </a:solidFill>
          <a:ln/>
        </p:spPr>
        <p:txBody>
          <a:bodyPr/>
          <a:lstStyle/>
          <a:p>
            <a:endParaRPr lang="de-DE"/>
          </a:p>
        </p:txBody>
      </p:sp>
      <p:sp>
        <p:nvSpPr>
          <p:cNvPr id="6" name="Shape 4"/>
          <p:cNvSpPr/>
          <p:nvPr/>
        </p:nvSpPr>
        <p:spPr>
          <a:xfrm>
            <a:off x="914400" y="2146300"/>
            <a:ext cx="8115300" cy="44450"/>
          </a:xfrm>
          <a:prstGeom prst="rect">
            <a:avLst/>
          </a:prstGeom>
          <a:solidFill>
            <a:srgbClr val="2F8F7F"/>
          </a:solidFill>
          <a:ln/>
        </p:spPr>
        <p:txBody>
          <a:bodyPr/>
          <a:lstStyle/>
          <a:p>
            <a:endParaRPr lang="de-DE"/>
          </a:p>
        </p:txBody>
      </p:sp>
      <p:sp>
        <p:nvSpPr>
          <p:cNvPr id="7" name="Shape 5"/>
          <p:cNvSpPr/>
          <p:nvPr/>
        </p:nvSpPr>
        <p:spPr>
          <a:xfrm>
            <a:off x="914400" y="2146300"/>
            <a:ext cx="9525" cy="7435850"/>
          </a:xfrm>
          <a:prstGeom prst="rect">
            <a:avLst/>
          </a:prstGeom>
          <a:solidFill>
            <a:srgbClr val="2B2A26">
              <a:alpha val="10000"/>
            </a:srgbClr>
          </a:solidFill>
          <a:ln/>
        </p:spPr>
        <p:txBody>
          <a:bodyPr/>
          <a:lstStyle/>
          <a:p>
            <a:endParaRPr lang="de-DE"/>
          </a:p>
        </p:txBody>
      </p:sp>
      <p:sp>
        <p:nvSpPr>
          <p:cNvPr id="8" name="Shape 6"/>
          <p:cNvSpPr/>
          <p:nvPr/>
        </p:nvSpPr>
        <p:spPr>
          <a:xfrm>
            <a:off x="9023350" y="2146300"/>
            <a:ext cx="9525" cy="7435850"/>
          </a:xfrm>
          <a:prstGeom prst="rect">
            <a:avLst/>
          </a:prstGeom>
          <a:solidFill>
            <a:srgbClr val="2B2A26">
              <a:alpha val="10000"/>
            </a:srgbClr>
          </a:solidFill>
          <a:ln/>
        </p:spPr>
        <p:txBody>
          <a:bodyPr/>
          <a:lstStyle/>
          <a:p>
            <a:endParaRPr lang="de-DE"/>
          </a:p>
        </p:txBody>
      </p:sp>
      <p:sp>
        <p:nvSpPr>
          <p:cNvPr id="9" name="Text 7"/>
          <p:cNvSpPr/>
          <p:nvPr/>
        </p:nvSpPr>
        <p:spPr>
          <a:xfrm>
            <a:off x="1244600" y="2514600"/>
            <a:ext cx="820039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246B5F"/>
                </a:solidFill>
                <a:latin typeface="Arial" pitchFamily="34" charset="0"/>
                <a:ea typeface="Arial" pitchFamily="34" charset="-122"/>
                <a:cs typeface="Arial" pitchFamily="34" charset="-120"/>
              </a:rPr>
              <a:t>Where we're headed</a:t>
            </a:r>
            <a:endParaRPr lang="en-US" sz="2700" dirty="0"/>
          </a:p>
        </p:txBody>
      </p:sp>
      <p:sp>
        <p:nvSpPr>
          <p:cNvPr id="10" name="Text 8"/>
          <p:cNvSpPr/>
          <p:nvPr/>
        </p:nvSpPr>
        <p:spPr>
          <a:xfrm>
            <a:off x="1244600" y="3155950"/>
            <a:ext cx="289917"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F8F7F"/>
                </a:solidFill>
                <a:latin typeface="Arial" pitchFamily="34" charset="0"/>
                <a:ea typeface="Arial" pitchFamily="34" charset="-122"/>
                <a:cs typeface="Arial" pitchFamily="34" charset="-120"/>
              </a:rPr>
              <a:t>→</a:t>
            </a:r>
            <a:endParaRPr lang="en-US" sz="1950" dirty="0"/>
          </a:p>
        </p:txBody>
      </p:sp>
      <p:sp>
        <p:nvSpPr>
          <p:cNvPr id="11" name="Text 9"/>
          <p:cNvSpPr/>
          <p:nvPr/>
        </p:nvSpPr>
        <p:spPr>
          <a:xfrm>
            <a:off x="1591667" y="3155950"/>
            <a:ext cx="7321068"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Tier 2 Graph automation — Pawse protects &amp; rebooks right in Outlook, on your rules.</a:t>
            </a:r>
            <a:endParaRPr lang="en-US" sz="1950" dirty="0"/>
          </a:p>
        </p:txBody>
      </p:sp>
      <p:sp>
        <p:nvSpPr>
          <p:cNvPr id="12" name="Text 10"/>
          <p:cNvSpPr/>
          <p:nvPr/>
        </p:nvSpPr>
        <p:spPr>
          <a:xfrm>
            <a:off x="1244600" y="4064596"/>
            <a:ext cx="289917" cy="39717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F8F7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591667" y="4064596"/>
            <a:ext cx="3705106" cy="39717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Copilot agent, Teams-native.</a:t>
            </a:r>
            <a:endParaRPr lang="en-US" sz="1950" dirty="0"/>
          </a:p>
        </p:txBody>
      </p:sp>
      <p:sp>
        <p:nvSpPr>
          <p:cNvPr id="14" name="Text 12"/>
          <p:cNvSpPr/>
          <p:nvPr/>
        </p:nvSpPr>
        <p:spPr>
          <a:xfrm>
            <a:off x="1244600" y="4614168"/>
            <a:ext cx="289917"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F8F7F"/>
                </a:solidFill>
                <a:latin typeface="Arial" pitchFamily="34" charset="0"/>
                <a:ea typeface="Arial" pitchFamily="34" charset="-122"/>
                <a:cs typeface="Arial" pitchFamily="34" charset="-120"/>
              </a:rPr>
              <a:t>→</a:t>
            </a:r>
            <a:endParaRPr lang="en-US" sz="1950" dirty="0"/>
          </a:p>
        </p:txBody>
      </p:sp>
      <p:sp>
        <p:nvSpPr>
          <p:cNvPr id="15" name="Text 13"/>
          <p:cNvSpPr/>
          <p:nvPr/>
        </p:nvSpPr>
        <p:spPr>
          <a:xfrm>
            <a:off x="1591667" y="4614168"/>
            <a:ext cx="7321068"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More signals &amp; integrations — To Do/Planner, Presence, Apple Health, Oura.</a:t>
            </a:r>
            <a:endParaRPr lang="en-US" sz="1950" dirty="0"/>
          </a:p>
        </p:txBody>
      </p:sp>
      <p:sp>
        <p:nvSpPr>
          <p:cNvPr id="16" name="Shape 14"/>
          <p:cNvSpPr/>
          <p:nvPr/>
        </p:nvSpPr>
        <p:spPr>
          <a:xfrm>
            <a:off x="9258300" y="2146300"/>
            <a:ext cx="8115300" cy="7435850"/>
          </a:xfrm>
          <a:prstGeom prst="roundRect">
            <a:avLst>
              <a:gd name="adj" fmla="val 3330"/>
            </a:avLst>
          </a:prstGeom>
          <a:solidFill>
            <a:srgbClr val="FFFFFF"/>
          </a:solidFill>
          <a:ln/>
          <a:effectLst>
            <a:outerShdw blurRad="285750" dist="57150" dir="5400000" algn="bl" rotWithShape="0">
              <a:srgbClr val="2B2A26">
                <a:alpha val="7000"/>
              </a:srgbClr>
            </a:outerShdw>
          </a:effectLst>
        </p:spPr>
        <p:txBody>
          <a:bodyPr/>
          <a:lstStyle/>
          <a:p>
            <a:endParaRPr lang="de-DE"/>
          </a:p>
        </p:txBody>
      </p:sp>
      <p:sp>
        <p:nvSpPr>
          <p:cNvPr id="17" name="Shape 15"/>
          <p:cNvSpPr/>
          <p:nvPr/>
        </p:nvSpPr>
        <p:spPr>
          <a:xfrm>
            <a:off x="9258300" y="9575800"/>
            <a:ext cx="8115300" cy="9525"/>
          </a:xfrm>
          <a:prstGeom prst="rect">
            <a:avLst/>
          </a:prstGeom>
          <a:solidFill>
            <a:srgbClr val="2B2A26">
              <a:alpha val="10000"/>
            </a:srgbClr>
          </a:solidFill>
          <a:ln/>
        </p:spPr>
        <p:txBody>
          <a:bodyPr/>
          <a:lstStyle/>
          <a:p>
            <a:endParaRPr lang="de-DE"/>
          </a:p>
        </p:txBody>
      </p:sp>
      <p:sp>
        <p:nvSpPr>
          <p:cNvPr id="18" name="Shape 16"/>
          <p:cNvSpPr/>
          <p:nvPr/>
        </p:nvSpPr>
        <p:spPr>
          <a:xfrm>
            <a:off x="9258300" y="2146300"/>
            <a:ext cx="8115300" cy="44450"/>
          </a:xfrm>
          <a:prstGeom prst="rect">
            <a:avLst/>
          </a:prstGeom>
          <a:solidFill>
            <a:srgbClr val="5E86A8"/>
          </a:solidFill>
          <a:ln/>
        </p:spPr>
        <p:txBody>
          <a:bodyPr/>
          <a:lstStyle/>
          <a:p>
            <a:endParaRPr lang="de-DE"/>
          </a:p>
        </p:txBody>
      </p:sp>
      <p:sp>
        <p:nvSpPr>
          <p:cNvPr id="19" name="Shape 17"/>
          <p:cNvSpPr/>
          <p:nvPr/>
        </p:nvSpPr>
        <p:spPr>
          <a:xfrm>
            <a:off x="9258300" y="2146300"/>
            <a:ext cx="9525" cy="7435850"/>
          </a:xfrm>
          <a:prstGeom prst="rect">
            <a:avLst/>
          </a:prstGeom>
          <a:solidFill>
            <a:srgbClr val="2B2A26">
              <a:alpha val="10000"/>
            </a:srgbClr>
          </a:solidFill>
          <a:ln/>
        </p:spPr>
        <p:txBody>
          <a:bodyPr/>
          <a:lstStyle/>
          <a:p>
            <a:endParaRPr lang="de-DE"/>
          </a:p>
        </p:txBody>
      </p:sp>
      <p:sp>
        <p:nvSpPr>
          <p:cNvPr id="20" name="Shape 18"/>
          <p:cNvSpPr/>
          <p:nvPr/>
        </p:nvSpPr>
        <p:spPr>
          <a:xfrm>
            <a:off x="17367250" y="2146300"/>
            <a:ext cx="9525" cy="7435850"/>
          </a:xfrm>
          <a:prstGeom prst="rect">
            <a:avLst/>
          </a:prstGeom>
          <a:solidFill>
            <a:srgbClr val="2B2A26">
              <a:alpha val="10000"/>
            </a:srgbClr>
          </a:solidFill>
          <a:ln/>
        </p:spPr>
        <p:txBody>
          <a:bodyPr/>
          <a:lstStyle/>
          <a:p>
            <a:endParaRPr lang="de-DE"/>
          </a:p>
        </p:txBody>
      </p:sp>
      <p:sp>
        <p:nvSpPr>
          <p:cNvPr id="21" name="Text 19"/>
          <p:cNvSpPr/>
          <p:nvPr/>
        </p:nvSpPr>
        <p:spPr>
          <a:xfrm>
            <a:off x="9588500" y="2514600"/>
            <a:ext cx="8200390" cy="431800"/>
          </a:xfrm>
          <a:prstGeom prst="rect">
            <a:avLst/>
          </a:prstGeom>
          <a:noFill/>
          <a:ln/>
        </p:spPr>
        <p:txBody>
          <a:bodyPr wrap="square" lIns="25400" tIns="25400" rIns="25400" bIns="25400" rtlCol="0" anchor="t">
            <a:normAutofit/>
          </a:bodyPr>
          <a:lstStyle/>
          <a:p>
            <a:pPr marL="0" indent="0" algn="l">
              <a:buNone/>
            </a:pPr>
            <a:r>
              <a:rPr lang="en-US" sz="2700" b="1" dirty="0">
                <a:solidFill>
                  <a:srgbClr val="41637E"/>
                </a:solidFill>
                <a:latin typeface="Arial" pitchFamily="34" charset="0"/>
                <a:ea typeface="Arial" pitchFamily="34" charset="-122"/>
                <a:cs typeface="Arial" pitchFamily="34" charset="-120"/>
              </a:rPr>
              <a:t>What we're honest about</a:t>
            </a:r>
            <a:endParaRPr lang="en-US" sz="2700" dirty="0"/>
          </a:p>
        </p:txBody>
      </p:sp>
      <p:sp>
        <p:nvSpPr>
          <p:cNvPr id="22" name="Text 20"/>
          <p:cNvSpPr/>
          <p:nvPr/>
        </p:nvSpPr>
        <p:spPr>
          <a:xfrm>
            <a:off x="9588500" y="3155950"/>
            <a:ext cx="147637" cy="40352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5E86A8"/>
                </a:solidFill>
                <a:latin typeface="Arial" pitchFamily="34" charset="0"/>
                <a:ea typeface="Arial" pitchFamily="34" charset="-122"/>
                <a:cs typeface="Arial" pitchFamily="34" charset="-120"/>
              </a:rPr>
              <a:t>·</a:t>
            </a:r>
            <a:endParaRPr lang="en-US" sz="1950" dirty="0"/>
          </a:p>
        </p:txBody>
      </p:sp>
      <p:sp>
        <p:nvSpPr>
          <p:cNvPr id="23" name="Text 21"/>
          <p:cNvSpPr/>
          <p:nvPr/>
        </p:nvSpPr>
        <p:spPr>
          <a:xfrm>
            <a:off x="9793288" y="3155950"/>
            <a:ext cx="7551222" cy="40352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Prototype scoring is explainable — </a:t>
            </a:r>
            <a:r>
              <a:rPr lang="en-US" sz="1950" b="1" dirty="0">
                <a:solidFill>
                  <a:srgbClr val="2B2A26"/>
                </a:solidFill>
                <a:latin typeface="Arial" pitchFamily="34" charset="0"/>
                <a:ea typeface="Arial" pitchFamily="34" charset="-122"/>
                <a:cs typeface="Arial" pitchFamily="34" charset="-120"/>
              </a:rPr>
              <a:t>not </a:t>
            </a:r>
            <a:r>
              <a:rPr lang="en-US" sz="1950" dirty="0">
                <a:solidFill>
                  <a:srgbClr val="2B2A26"/>
                </a:solidFill>
                <a:latin typeface="Arial" pitchFamily="34" charset="0"/>
                <a:ea typeface="Arial" pitchFamily="34" charset="-122"/>
                <a:cs typeface="Arial" pitchFamily="34" charset="-120"/>
              </a:rPr>
              <a:t>medically validated.</a:t>
            </a:r>
            <a:endParaRPr lang="en-US" sz="1950" dirty="0"/>
          </a:p>
        </p:txBody>
      </p:sp>
      <p:sp>
        <p:nvSpPr>
          <p:cNvPr id="24" name="Text 22"/>
          <p:cNvSpPr/>
          <p:nvPr/>
        </p:nvSpPr>
        <p:spPr>
          <a:xfrm>
            <a:off x="9588500" y="3711873"/>
            <a:ext cx="147637"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5E86A8"/>
                </a:solidFill>
                <a:latin typeface="Arial" pitchFamily="34" charset="0"/>
                <a:ea typeface="Arial" pitchFamily="34" charset="-122"/>
                <a:cs typeface="Arial" pitchFamily="34" charset="-120"/>
              </a:rPr>
              <a:t>·</a:t>
            </a:r>
            <a:endParaRPr lang="en-US" sz="1950" dirty="0"/>
          </a:p>
        </p:txBody>
      </p:sp>
      <p:sp>
        <p:nvSpPr>
          <p:cNvPr id="25" name="Text 23"/>
          <p:cNvSpPr/>
          <p:nvPr/>
        </p:nvSpPr>
        <p:spPr>
          <a:xfrm>
            <a:off x="9793288" y="3711873"/>
            <a:ext cx="7467616"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Voice &amp; face stay experimental, optional, on-device — never a diagnosis.</a:t>
            </a:r>
            <a:endParaRPr lang="en-US" sz="1950" dirty="0"/>
          </a:p>
        </p:txBody>
      </p:sp>
      <p:sp>
        <p:nvSpPr>
          <p:cNvPr id="26" name="Text 24"/>
          <p:cNvSpPr/>
          <p:nvPr/>
        </p:nvSpPr>
        <p:spPr>
          <a:xfrm>
            <a:off x="9588500" y="4620518"/>
            <a:ext cx="147637" cy="39717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5E86A8"/>
                </a:solidFill>
                <a:latin typeface="Arial" pitchFamily="34" charset="0"/>
                <a:ea typeface="Arial" pitchFamily="34" charset="-122"/>
                <a:cs typeface="Arial" pitchFamily="34" charset="-120"/>
              </a:rPr>
              <a:t>·</a:t>
            </a:r>
            <a:endParaRPr lang="en-US" sz="1950" dirty="0"/>
          </a:p>
        </p:txBody>
      </p:sp>
      <p:sp>
        <p:nvSpPr>
          <p:cNvPr id="27" name="Text 25"/>
          <p:cNvSpPr/>
          <p:nvPr/>
        </p:nvSpPr>
        <p:spPr>
          <a:xfrm>
            <a:off x="9793288" y="4620518"/>
            <a:ext cx="6256923" cy="39717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Your baseline needs a few weeks to personalise.</a:t>
            </a:r>
            <a:endParaRPr lang="en-US" sz="1950" dirty="0"/>
          </a:p>
        </p:txBody>
      </p:sp>
      <p:sp>
        <p:nvSpPr>
          <p:cNvPr id="28" name="Text 26"/>
          <p:cNvSpPr/>
          <p:nvPr/>
        </p:nvSpPr>
        <p:spPr>
          <a:xfrm>
            <a:off x="9588500" y="5170091"/>
            <a:ext cx="147637"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5E86A8"/>
                </a:solidFill>
                <a:latin typeface="Arial" pitchFamily="34" charset="0"/>
                <a:ea typeface="Arial" pitchFamily="34" charset="-122"/>
                <a:cs typeface="Arial" pitchFamily="34" charset="-120"/>
              </a:rPr>
              <a:t>·</a:t>
            </a:r>
            <a:endParaRPr lang="en-US" sz="1950" dirty="0"/>
          </a:p>
        </p:txBody>
      </p:sp>
      <p:sp>
        <p:nvSpPr>
          <p:cNvPr id="29" name="Text 27"/>
          <p:cNvSpPr/>
          <p:nvPr/>
        </p:nvSpPr>
        <p:spPr>
          <a:xfrm>
            <a:off x="9793288" y="5170091"/>
            <a:ext cx="7467616" cy="75624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2B2A26"/>
                </a:solidFill>
                <a:latin typeface="Arial" pitchFamily="34" charset="0"/>
                <a:ea typeface="Arial" pitchFamily="34" charset="-122"/>
                <a:cs typeface="Arial" pitchFamily="34" charset="-120"/>
              </a:rPr>
              <a:t>Anything that touches others' calendars needs your confirmation.</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46B5F"/>
        </a:solidFill>
        <a:effectLst/>
      </p:bgPr>
    </p:bg>
    <p:spTree>
      <p:nvGrpSpPr>
        <p:cNvPr id="1" name=""/>
        <p:cNvGrpSpPr/>
        <p:nvPr/>
      </p:nvGrpSpPr>
      <p:grpSpPr>
        <a:xfrm>
          <a:off x="0" y="0"/>
          <a:ext cx="0" cy="0"/>
          <a:chOff x="0" y="0"/>
          <a:chExt cx="0" cy="0"/>
        </a:xfrm>
      </p:grpSpPr>
      <p:sp>
        <p:nvSpPr>
          <p:cNvPr id="2" name="Shape 0"/>
          <p:cNvSpPr/>
          <p:nvPr/>
        </p:nvSpPr>
        <p:spPr>
          <a:xfrm>
            <a:off x="8429625" y="2032583"/>
            <a:ext cx="1428750" cy="1428750"/>
          </a:xfrm>
          <a:prstGeom prst="ellipse">
            <a:avLst/>
          </a:prstGeom>
          <a:solidFill>
            <a:srgbClr val="FFFFFF">
              <a:alpha val="12000"/>
            </a:srgbClr>
          </a:solidFill>
          <a:ln/>
        </p:spPr>
        <p:txBody>
          <a:bodyPr/>
          <a:lstStyle/>
          <a:p>
            <a:endParaRPr lang="de-DE"/>
          </a:p>
        </p:txBody>
      </p:sp>
      <p:sp>
        <p:nvSpPr>
          <p:cNvPr id="3" name="Text 1"/>
          <p:cNvSpPr/>
          <p:nvPr/>
        </p:nvSpPr>
        <p:spPr>
          <a:xfrm>
            <a:off x="8391525" y="2032583"/>
            <a:ext cx="1504950" cy="1466850"/>
          </a:xfrm>
          <a:prstGeom prst="rect">
            <a:avLst/>
          </a:prstGeom>
          <a:noFill/>
          <a:ln/>
        </p:spPr>
        <p:txBody>
          <a:bodyPr wrap="square" lIns="25400" tIns="25400" rIns="25400" bIns="25400" rtlCol="0" anchor="ctr">
            <a:normAutofit/>
          </a:bodyPr>
          <a:lstStyle/>
          <a:p>
            <a:pPr marL="0" indent="0" algn="ctr">
              <a:buNone/>
            </a:pPr>
            <a:r>
              <a:rPr lang="en-US" sz="6300" dirty="0">
                <a:solidFill>
                  <a:srgbClr val="FAF7F0"/>
                </a:solidFill>
                <a:latin typeface="Arial" pitchFamily="34" charset="0"/>
                <a:ea typeface="Arial" pitchFamily="34" charset="-122"/>
                <a:cs typeface="Arial" pitchFamily="34" charset="-120"/>
              </a:rPr>
              <a:t>🐼</a:t>
            </a:r>
            <a:endParaRPr lang="en-US" sz="6300" dirty="0"/>
          </a:p>
        </p:txBody>
      </p:sp>
      <p:sp>
        <p:nvSpPr>
          <p:cNvPr id="4" name="Text 2"/>
          <p:cNvSpPr/>
          <p:nvPr/>
        </p:nvSpPr>
        <p:spPr>
          <a:xfrm>
            <a:off x="5912892" y="3890367"/>
            <a:ext cx="6462117" cy="1939925"/>
          </a:xfrm>
          <a:prstGeom prst="rect">
            <a:avLst/>
          </a:prstGeom>
          <a:noFill/>
          <a:ln/>
        </p:spPr>
        <p:txBody>
          <a:bodyPr wrap="square" lIns="25400" tIns="25400" rIns="25400" bIns="25400" rtlCol="0" anchor="t">
            <a:normAutofit/>
          </a:bodyPr>
          <a:lstStyle/>
          <a:p>
            <a:pPr marL="0" indent="0" algn="ctr">
              <a:lnSpc>
                <a:spcPct val="104000"/>
              </a:lnSpc>
              <a:buNone/>
            </a:pPr>
            <a:r>
              <a:rPr lang="en-US" sz="7200" b="1" kern="0" spc="-150" dirty="0">
                <a:solidFill>
                  <a:srgbClr val="FAF7F0"/>
                </a:solidFill>
                <a:latin typeface="Arial" pitchFamily="34" charset="0"/>
                <a:ea typeface="Arial" pitchFamily="34" charset="-122"/>
                <a:cs typeface="Arial" pitchFamily="34" charset="-120"/>
              </a:rPr>
              <a:t>Manage energy, not time.</a:t>
            </a:r>
            <a:endParaRPr lang="en-US" sz="7200" dirty="0"/>
          </a:p>
        </p:txBody>
      </p:sp>
      <p:sp>
        <p:nvSpPr>
          <p:cNvPr id="5" name="Text 3"/>
          <p:cNvSpPr/>
          <p:nvPr/>
        </p:nvSpPr>
        <p:spPr>
          <a:xfrm>
            <a:off x="3257550" y="6077942"/>
            <a:ext cx="11772900" cy="998141"/>
          </a:xfrm>
          <a:prstGeom prst="rect">
            <a:avLst/>
          </a:prstGeom>
          <a:noFill/>
          <a:ln/>
        </p:spPr>
        <p:txBody>
          <a:bodyPr wrap="square" lIns="25400" tIns="25400" rIns="25400" bIns="25400" rtlCol="0" anchor="t">
            <a:normAutofit/>
          </a:bodyPr>
          <a:lstStyle/>
          <a:p>
            <a:pPr marL="0" indent="0" algn="ctr">
              <a:lnSpc>
                <a:spcPct val="140000"/>
              </a:lnSpc>
              <a:buNone/>
            </a:pPr>
            <a:r>
              <a:rPr lang="en-US" sz="2700" dirty="0">
                <a:solidFill>
                  <a:srgbClr val="FFFFFF">
                    <a:alpha val="82000"/>
                  </a:srgbClr>
                </a:solidFill>
                <a:latin typeface="Arial" pitchFamily="34" charset="0"/>
                <a:ea typeface="Arial" pitchFamily="34" charset="-122"/>
                <a:cs typeface="Arial" pitchFamily="34" charset="-120"/>
              </a:rPr>
              <a:t>Pawse turns your body's recovery signals into the right work action — in the moment, personally.</a:t>
            </a:r>
            <a:endParaRPr lang="en-US" sz="2700" dirty="0"/>
          </a:p>
        </p:txBody>
      </p:sp>
      <p:sp>
        <p:nvSpPr>
          <p:cNvPr id="6" name="Shape 4"/>
          <p:cNvSpPr/>
          <p:nvPr/>
        </p:nvSpPr>
        <p:spPr>
          <a:xfrm>
            <a:off x="6765925" y="7495183"/>
            <a:ext cx="4756150" cy="673100"/>
          </a:xfrm>
          <a:prstGeom prst="roundRect">
            <a:avLst>
              <a:gd name="adj" fmla="val 50000"/>
            </a:avLst>
          </a:prstGeom>
          <a:solidFill>
            <a:srgbClr val="FFFFFF"/>
          </a:solidFill>
          <a:ln/>
          <a:effectLst>
            <a:outerShdw blurRad="419100" dist="133350" dir="5400000" algn="bl" rotWithShape="0">
              <a:srgbClr val="2B2A26">
                <a:alpha val="12000"/>
              </a:srgbClr>
            </a:outerShdw>
          </a:effectLst>
        </p:spPr>
        <p:txBody>
          <a:bodyPr/>
          <a:lstStyle/>
          <a:p>
            <a:endParaRPr lang="de-DE"/>
          </a:p>
        </p:txBody>
      </p:sp>
      <p:sp>
        <p:nvSpPr>
          <p:cNvPr id="7" name="Text 5"/>
          <p:cNvSpPr/>
          <p:nvPr/>
        </p:nvSpPr>
        <p:spPr>
          <a:xfrm>
            <a:off x="7075583" y="7666633"/>
            <a:ext cx="4136835" cy="368300"/>
          </a:xfrm>
          <a:prstGeom prst="rect">
            <a:avLst/>
          </a:prstGeom>
          <a:noFill/>
          <a:ln/>
        </p:spPr>
        <p:txBody>
          <a:bodyPr wrap="square" lIns="25400" tIns="25400" rIns="25400" bIns="25400" rtlCol="0" anchor="t">
            <a:normAutofit/>
          </a:bodyPr>
          <a:lstStyle/>
          <a:p>
            <a:pPr marL="0" indent="0" algn="ctr">
              <a:buNone/>
            </a:pPr>
            <a:r>
              <a:rPr lang="en-US" sz="2250" b="1" dirty="0">
                <a:solidFill>
                  <a:srgbClr val="246B5F"/>
                </a:solidFill>
                <a:latin typeface="Arial" pitchFamily="34" charset="0"/>
                <a:ea typeface="Arial" pitchFamily="34" charset="-122"/>
                <a:cs typeface="Arial" pitchFamily="34" charset="-120"/>
              </a:rPr>
              <a:t>Let's close the loop — together.</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2341</Words>
  <Application>Microsoft Office PowerPoint</Application>
  <PresentationFormat>Benutzerdefiniert</PresentationFormat>
  <Paragraphs>322</Paragraphs>
  <Slides>18</Slides>
  <Notes>18</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18</vt:i4>
      </vt:variant>
    </vt:vector>
  </HeadingPairs>
  <TitlesOfParts>
    <vt:vector size="20" baseType="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Jenny Merkin</cp:lastModifiedBy>
  <cp:revision>1</cp:revision>
  <dcterms:created xsi:type="dcterms:W3CDTF">2026-06-25T16:13:29Z</dcterms:created>
  <dcterms:modified xsi:type="dcterms:W3CDTF">2026-06-25T16:13:56Z</dcterms:modified>
</cp:coreProperties>
</file>